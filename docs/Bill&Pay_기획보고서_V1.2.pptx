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9" r:id="rId2"/>
    <p:sldMasterId id="2147483662" r:id="rId3"/>
  </p:sldMasterIdLst>
  <p:notesMasterIdLst>
    <p:notesMasterId r:id="rId63"/>
  </p:notesMasterIdLst>
  <p:handoutMasterIdLst>
    <p:handoutMasterId r:id="rId64"/>
  </p:handoutMasterIdLst>
  <p:sldIdLst>
    <p:sldId id="266" r:id="rId4"/>
    <p:sldId id="761" r:id="rId5"/>
    <p:sldId id="762" r:id="rId6"/>
    <p:sldId id="786" r:id="rId7"/>
    <p:sldId id="787" r:id="rId8"/>
    <p:sldId id="788" r:id="rId9"/>
    <p:sldId id="734" r:id="rId10"/>
    <p:sldId id="710" r:id="rId11"/>
    <p:sldId id="757" r:id="rId12"/>
    <p:sldId id="712" r:id="rId13"/>
    <p:sldId id="758" r:id="rId14"/>
    <p:sldId id="759" r:id="rId15"/>
    <p:sldId id="715" r:id="rId16"/>
    <p:sldId id="716" r:id="rId17"/>
    <p:sldId id="717" r:id="rId18"/>
    <p:sldId id="718" r:id="rId19"/>
    <p:sldId id="720" r:id="rId20"/>
    <p:sldId id="713" r:id="rId21"/>
    <p:sldId id="760" r:id="rId22"/>
    <p:sldId id="721" r:id="rId23"/>
    <p:sldId id="722" r:id="rId24"/>
    <p:sldId id="724" r:id="rId25"/>
    <p:sldId id="764" r:id="rId26"/>
    <p:sldId id="725" r:id="rId27"/>
    <p:sldId id="763" r:id="rId28"/>
    <p:sldId id="727" r:id="rId29"/>
    <p:sldId id="726" r:id="rId30"/>
    <p:sldId id="728" r:id="rId31"/>
    <p:sldId id="729" r:id="rId32"/>
    <p:sldId id="730" r:id="rId33"/>
    <p:sldId id="731" r:id="rId34"/>
    <p:sldId id="732" r:id="rId35"/>
    <p:sldId id="733" r:id="rId36"/>
    <p:sldId id="735" r:id="rId37"/>
    <p:sldId id="749" r:id="rId38"/>
    <p:sldId id="750" r:id="rId39"/>
    <p:sldId id="736" r:id="rId40"/>
    <p:sldId id="738" r:id="rId41"/>
    <p:sldId id="752" r:id="rId42"/>
    <p:sldId id="744" r:id="rId43"/>
    <p:sldId id="766" r:id="rId44"/>
    <p:sldId id="745" r:id="rId45"/>
    <p:sldId id="746" r:id="rId46"/>
    <p:sldId id="753" r:id="rId47"/>
    <p:sldId id="768" r:id="rId48"/>
    <p:sldId id="769" r:id="rId49"/>
    <p:sldId id="770" r:id="rId50"/>
    <p:sldId id="771" r:id="rId51"/>
    <p:sldId id="772" r:id="rId52"/>
    <p:sldId id="773" r:id="rId53"/>
    <p:sldId id="774" r:id="rId54"/>
    <p:sldId id="775" r:id="rId55"/>
    <p:sldId id="755" r:id="rId56"/>
    <p:sldId id="776" r:id="rId57"/>
    <p:sldId id="777" r:id="rId58"/>
    <p:sldId id="779" r:id="rId59"/>
    <p:sldId id="783" r:id="rId60"/>
    <p:sldId id="784" r:id="rId61"/>
    <p:sldId id="785" r:id="rId62"/>
  </p:sldIdLst>
  <p:sldSz cx="12192000" cy="6858000"/>
  <p:notesSz cx="6797675" cy="9926638"/>
  <p:defaultTextStyle>
    <a:defPPr>
      <a:defRPr lang="ja-JP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1797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1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FF"/>
    <a:srgbClr val="CCECFF"/>
    <a:srgbClr val="996600"/>
    <a:srgbClr val="0A843B"/>
    <a:srgbClr val="8585FF"/>
    <a:srgbClr val="ECC784"/>
    <a:srgbClr val="3399FF"/>
    <a:srgbClr val="FF9900"/>
    <a:srgbClr val="6699FF"/>
    <a:srgbClr val="FFCA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9272" autoAdjust="0"/>
  </p:normalViewPr>
  <p:slideViewPr>
    <p:cSldViewPr showGuides="1">
      <p:cViewPr varScale="1">
        <p:scale>
          <a:sx n="110" d="100"/>
          <a:sy n="110" d="100"/>
        </p:scale>
        <p:origin x="576" y="114"/>
      </p:cViewPr>
      <p:guideLst>
        <p:guide orient="horz" pos="618"/>
        <p:guide orient="horz" pos="3974"/>
        <p:guide orient="horz" pos="754"/>
        <p:guide orient="horz" pos="2160"/>
        <p:guide orient="horz" pos="1797"/>
        <p:guide pos="3840"/>
        <p:guide pos="7105"/>
        <p:guide pos="121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1" d="100"/>
          <a:sy n="51" d="100"/>
        </p:scale>
        <p:origin x="-2754" y="-108"/>
      </p:cViewPr>
      <p:guideLst>
        <p:guide orient="horz" pos="3125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t" anchorCtr="0" compatLnSpc="1">
            <a:prstTxWarp prst="textNoShape">
              <a:avLst/>
            </a:prstTxWarp>
          </a:bodyPr>
          <a:lstStyle>
            <a:lvl1pPr algn="l" defTabSz="930896" latinLnBrk="0">
              <a:spcBef>
                <a:spcPct val="0"/>
              </a:spcBef>
              <a:defRPr sz="1200">
                <a:latin typeface="Verdana" pitchFamily="34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7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t" anchorCtr="0" compatLnSpc="1">
            <a:prstTxWarp prst="textNoShape">
              <a:avLst/>
            </a:prstTxWarp>
          </a:bodyPr>
          <a:lstStyle>
            <a:lvl1pPr algn="r" defTabSz="930896" latinLnBrk="0">
              <a:spcBef>
                <a:spcPct val="0"/>
              </a:spcBef>
              <a:defRPr sz="1200">
                <a:latin typeface="Verdana" pitchFamily="34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9430306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b" anchorCtr="0" compatLnSpc="1">
            <a:prstTxWarp prst="textNoShape">
              <a:avLst/>
            </a:prstTxWarp>
          </a:bodyPr>
          <a:lstStyle>
            <a:lvl1pPr algn="l" defTabSz="930896" latinLnBrk="0">
              <a:spcBef>
                <a:spcPct val="0"/>
              </a:spcBef>
              <a:defRPr sz="1200">
                <a:latin typeface="Verdana" pitchFamily="34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7" y="9430306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b" anchorCtr="0" compatLnSpc="1">
            <a:prstTxWarp prst="textNoShape">
              <a:avLst/>
            </a:prstTxWarp>
          </a:bodyPr>
          <a:lstStyle>
            <a:lvl1pPr algn="r" defTabSz="930896" latinLnBrk="0">
              <a:spcBef>
                <a:spcPct val="0"/>
              </a:spcBef>
              <a:defRPr sz="1200">
                <a:latin typeface="Verdana" pitchFamily="34" charset="0"/>
                <a:ea typeface="굴림" charset="-127"/>
              </a:defRPr>
            </a:lvl1pPr>
          </a:lstStyle>
          <a:p>
            <a:pPr>
              <a:defRPr/>
            </a:pPr>
            <a:fld id="{6C14F9E6-D368-4D5A-91D8-074F944990D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7566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2:59:2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1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5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5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2:59:2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1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5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1:5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6:16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7:3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7:36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8:1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9:0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9:0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9:1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9:17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3:59:2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0:0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0:0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0:4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0:5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1:1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4:0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4:0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4:0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4:0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4:0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7:2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7:2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7:2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7:2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7:2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9:5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09:5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13:1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13:1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14:15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14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1:5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1:5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2:3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3:2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3:2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24575,'121'0'-8191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4:53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4:5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5:3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5:3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6:2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26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t" anchorCtr="0" compatLnSpc="1">
            <a:prstTxWarp prst="textNoShape">
              <a:avLst/>
            </a:prstTxWarp>
          </a:bodyPr>
          <a:lstStyle>
            <a:lvl1pPr algn="l" defTabSz="930896" latinLnBrk="0">
              <a:spcBef>
                <a:spcPct val="0"/>
              </a:spcBef>
              <a:defRPr sz="1200">
                <a:latin typeface="Verdana" pitchFamily="34" charset="0"/>
                <a:ea typeface="한강체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7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t" anchorCtr="0" compatLnSpc="1">
            <a:prstTxWarp prst="textNoShape">
              <a:avLst/>
            </a:prstTxWarp>
          </a:bodyPr>
          <a:lstStyle>
            <a:lvl1pPr algn="r" defTabSz="930896" latinLnBrk="0">
              <a:spcBef>
                <a:spcPct val="0"/>
              </a:spcBef>
              <a:defRPr sz="1200">
                <a:latin typeface="Verdana" pitchFamily="34" charset="0"/>
                <a:ea typeface="한강체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6" y="4714355"/>
            <a:ext cx="4984750" cy="446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30306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b" anchorCtr="0" compatLnSpc="1">
            <a:prstTxWarp prst="textNoShape">
              <a:avLst/>
            </a:prstTxWarp>
          </a:bodyPr>
          <a:lstStyle>
            <a:lvl1pPr algn="l" defTabSz="930896" latinLnBrk="0">
              <a:spcBef>
                <a:spcPct val="0"/>
              </a:spcBef>
              <a:defRPr sz="1200">
                <a:latin typeface="Verdana" pitchFamily="34" charset="0"/>
                <a:ea typeface="한강체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7" y="9430306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02" tIns="46552" rIns="93102" bIns="46552" numCol="1" anchor="b" anchorCtr="0" compatLnSpc="1">
            <a:prstTxWarp prst="textNoShape">
              <a:avLst/>
            </a:prstTxWarp>
          </a:bodyPr>
          <a:lstStyle>
            <a:lvl1pPr algn="r" defTabSz="930896" latinLnBrk="0">
              <a:spcBef>
                <a:spcPct val="0"/>
              </a:spcBef>
              <a:defRPr sz="1200">
                <a:latin typeface="Verdana" pitchFamily="34" charset="0"/>
                <a:ea typeface="한강체" charset="-127"/>
              </a:defRPr>
            </a:lvl1pPr>
          </a:lstStyle>
          <a:p>
            <a:pPr>
              <a:defRPr/>
            </a:pPr>
            <a:fld id="{35DF3AE8-4616-4B4E-A877-C50AEB3B16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5195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AppleMyungjo" charset="-127"/>
        <a:cs typeface="AppleMyungjo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AppleMyungjo" charset="-127"/>
        <a:cs typeface="AppleMyungjo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AppleMyungjo" charset="-127"/>
        <a:cs typeface="AppleMyungjo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AppleMyungjo" charset="-127"/>
        <a:cs typeface="AppleMyungjo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AppleMyungjo" charset="-127"/>
        <a:cs typeface="AppleMyungjo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12C2BA-C392-478C-99CF-FCF499F92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908720"/>
            <a:ext cx="2650936" cy="56227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EB80D701-3852-45C9-BFEC-5782BC41F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9" y="61241"/>
            <a:ext cx="2057383" cy="126291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1B977AE9-BEF4-47FD-836D-36B91FB345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416" y="260648"/>
            <a:ext cx="11305256" cy="65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3708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EB80D701-3852-45C9-BFEC-5782BC41F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9" y="61241"/>
            <a:ext cx="2057383" cy="126291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1B977AE9-BEF4-47FD-836D-36B91FB345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416" y="260648"/>
            <a:ext cx="11305256" cy="65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5434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1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86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04146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1983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0698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1B977AE9-BEF4-47FD-836D-36B91FB34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416" y="260648"/>
            <a:ext cx="11305256" cy="65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9168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649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069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06600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420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4445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11430000" y="-3175"/>
            <a:ext cx="762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800" b="1" u="sng">
                <a:solidFill>
                  <a:srgbClr val="000066"/>
                </a:solidFill>
                <a:latin typeface="Lucida Sans" pitchFamily="34" charset="0"/>
                <a:ea typeface="굴림" charset="-127"/>
              </a:rPr>
              <a:t>Page</a:t>
            </a:r>
            <a:endParaRPr lang="en-US" altLang="ko-KR" sz="900" b="1" u="sng">
              <a:solidFill>
                <a:srgbClr val="000066"/>
              </a:solidFill>
              <a:latin typeface="Lucida Sans" pitchFamily="34" charset="0"/>
              <a:ea typeface="굴림" charset="-127"/>
            </a:endParaRPr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6819985"/>
            <a:ext cx="121920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2400">
              <a:latin typeface="Verdana" pitchFamily="34" charset="0"/>
              <a:ea typeface="한강체" charset="-127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49844" y="460071"/>
            <a:ext cx="12086202" cy="6306491"/>
          </a:xfrm>
          <a:prstGeom prst="rect">
            <a:avLst/>
          </a:prstGeom>
          <a:noFill/>
          <a:ln w="9525">
            <a:solidFill>
              <a:schemeClr val="bg2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endParaRPr lang="ko-KR" altLang="en-US" sz="900">
              <a:latin typeface="굴림" charset="-127"/>
              <a:ea typeface="굴림" charset="-127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endParaRPr lang="ko-KR" altLang="en-US" sz="900">
              <a:latin typeface="굴림" charset="-127"/>
              <a:ea typeface="굴림" charset="-127"/>
            </a:endParaRPr>
          </a:p>
        </p:txBody>
      </p:sp>
      <p:sp>
        <p:nvSpPr>
          <p:cNvPr id="1077" name="Rectangle 53"/>
          <p:cNvSpPr>
            <a:spLocks noChangeArrowheads="1"/>
          </p:cNvSpPr>
          <p:nvPr/>
        </p:nvSpPr>
        <p:spPr bwMode="auto">
          <a:xfrm>
            <a:off x="0" y="2584"/>
            <a:ext cx="12192000" cy="40466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2400">
              <a:latin typeface="Verdana" pitchFamily="34" charset="0"/>
              <a:ea typeface="한강체" charset="-127"/>
            </a:endParaRP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10953302" y="6562848"/>
            <a:ext cx="122766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fld id="{7658BCB3-1564-4ED4-B6C7-F8D73A1EF722}" type="slidenum">
              <a:rPr lang="en-US" altLang="ko-KR" sz="9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en-US" altLang="ko-KR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223DA3-2289-41BD-844C-EC29A626CE0D}"/>
              </a:ext>
            </a:extLst>
          </p:cNvPr>
          <p:cNvSpPr/>
          <p:nvPr userDrawn="1"/>
        </p:nvSpPr>
        <p:spPr bwMode="auto">
          <a:xfrm>
            <a:off x="7935015" y="574087"/>
            <a:ext cx="4137649" cy="35488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Description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DEB570-8ADD-4556-9B82-D6761AF8B14A}"/>
              </a:ext>
            </a:extLst>
          </p:cNvPr>
          <p:cNvSpPr/>
          <p:nvPr userDrawn="1"/>
        </p:nvSpPr>
        <p:spPr bwMode="auto">
          <a:xfrm>
            <a:off x="119336" y="574087"/>
            <a:ext cx="7776864" cy="614675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76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AppleMyungjo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AppleMyungjo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  <a:cs typeface="AppleMyungjo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  <a:cs typeface="AppleMyungjo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27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AppleMyungjo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AppleMyungjo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  <a:cs typeface="AppleMyungjo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  <a:cs typeface="AppleMyungjo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E86E0B07-3A07-44CF-AEC6-54FC3FB6860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9" y="61241"/>
            <a:ext cx="2057383" cy="126291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6A8A284D-1017-4C39-945F-F12F0470E06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9416" y="260648"/>
            <a:ext cx="11305256" cy="65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9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AppleMyungjo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  <a:cs typeface="AppleMyungjo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" pitchFamily="18" charset="0"/>
          <a:ea typeface="AppleMyungjo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AppleMyungjo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AppleMyungjo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  <a:cs typeface="AppleMyungjo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  <a:cs typeface="AppleMyungjo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.xml"/><Relationship Id="rId18" Type="http://schemas.openxmlformats.org/officeDocument/2006/relationships/customXml" Target="../ink/ink20.xml"/><Relationship Id="rId26" Type="http://schemas.openxmlformats.org/officeDocument/2006/relationships/customXml" Target="../ink/ink28.xml"/><Relationship Id="rId39" Type="http://schemas.openxmlformats.org/officeDocument/2006/relationships/customXml" Target="../ink/ink41.xml"/><Relationship Id="rId21" Type="http://schemas.openxmlformats.org/officeDocument/2006/relationships/customXml" Target="../ink/ink23.xml"/><Relationship Id="rId34" Type="http://schemas.openxmlformats.org/officeDocument/2006/relationships/customXml" Target="../ink/ink36.xml"/><Relationship Id="rId42" Type="http://schemas.openxmlformats.org/officeDocument/2006/relationships/customXml" Target="../ink/ink44.xml"/><Relationship Id="rId47" Type="http://schemas.openxmlformats.org/officeDocument/2006/relationships/customXml" Target="../ink/ink49.xml"/><Relationship Id="rId7" Type="http://schemas.openxmlformats.org/officeDocument/2006/relationships/customXml" Target="../ink/ink9.xml"/><Relationship Id="rId2" Type="http://schemas.openxmlformats.org/officeDocument/2006/relationships/customXml" Target="../ink/ink5.xml"/><Relationship Id="rId16" Type="http://schemas.openxmlformats.org/officeDocument/2006/relationships/customXml" Target="../ink/ink18.xml"/><Relationship Id="rId29" Type="http://schemas.openxmlformats.org/officeDocument/2006/relationships/customXml" Target="../ink/ink31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8.xml"/><Relationship Id="rId11" Type="http://schemas.openxmlformats.org/officeDocument/2006/relationships/customXml" Target="../ink/ink13.xml"/><Relationship Id="rId24" Type="http://schemas.openxmlformats.org/officeDocument/2006/relationships/customXml" Target="../ink/ink26.xml"/><Relationship Id="rId32" Type="http://schemas.openxmlformats.org/officeDocument/2006/relationships/customXml" Target="../ink/ink34.xml"/><Relationship Id="rId37" Type="http://schemas.openxmlformats.org/officeDocument/2006/relationships/customXml" Target="../ink/ink39.xml"/><Relationship Id="rId40" Type="http://schemas.openxmlformats.org/officeDocument/2006/relationships/customXml" Target="../ink/ink42.xml"/><Relationship Id="rId45" Type="http://schemas.openxmlformats.org/officeDocument/2006/relationships/customXml" Target="../ink/ink47.xml"/><Relationship Id="rId5" Type="http://schemas.openxmlformats.org/officeDocument/2006/relationships/customXml" Target="../ink/ink7.xml"/><Relationship Id="rId15" Type="http://schemas.openxmlformats.org/officeDocument/2006/relationships/customXml" Target="../ink/ink17.xml"/><Relationship Id="rId23" Type="http://schemas.openxmlformats.org/officeDocument/2006/relationships/customXml" Target="../ink/ink25.xml"/><Relationship Id="rId28" Type="http://schemas.openxmlformats.org/officeDocument/2006/relationships/customXml" Target="../ink/ink30.xml"/><Relationship Id="rId36" Type="http://schemas.openxmlformats.org/officeDocument/2006/relationships/customXml" Target="../ink/ink38.xml"/><Relationship Id="rId10" Type="http://schemas.openxmlformats.org/officeDocument/2006/relationships/customXml" Target="../ink/ink12.xml"/><Relationship Id="rId19" Type="http://schemas.openxmlformats.org/officeDocument/2006/relationships/customXml" Target="../ink/ink21.xml"/><Relationship Id="rId31" Type="http://schemas.openxmlformats.org/officeDocument/2006/relationships/customXml" Target="../ink/ink33.xml"/><Relationship Id="rId44" Type="http://schemas.openxmlformats.org/officeDocument/2006/relationships/customXml" Target="../ink/ink46.xml"/><Relationship Id="rId4" Type="http://schemas.openxmlformats.org/officeDocument/2006/relationships/customXml" Target="../ink/ink6.xml"/><Relationship Id="rId9" Type="http://schemas.openxmlformats.org/officeDocument/2006/relationships/customXml" Target="../ink/ink11.xml"/><Relationship Id="rId14" Type="http://schemas.openxmlformats.org/officeDocument/2006/relationships/customXml" Target="../ink/ink16.xml"/><Relationship Id="rId22" Type="http://schemas.openxmlformats.org/officeDocument/2006/relationships/customXml" Target="../ink/ink24.xml"/><Relationship Id="rId27" Type="http://schemas.openxmlformats.org/officeDocument/2006/relationships/customXml" Target="../ink/ink29.xml"/><Relationship Id="rId30" Type="http://schemas.openxmlformats.org/officeDocument/2006/relationships/customXml" Target="../ink/ink32.xml"/><Relationship Id="rId35" Type="http://schemas.openxmlformats.org/officeDocument/2006/relationships/customXml" Target="../ink/ink37.xml"/><Relationship Id="rId43" Type="http://schemas.openxmlformats.org/officeDocument/2006/relationships/customXml" Target="../ink/ink45.xml"/><Relationship Id="rId8" Type="http://schemas.openxmlformats.org/officeDocument/2006/relationships/customXml" Target="../ink/ink10.xml"/><Relationship Id="rId3" Type="http://schemas.openxmlformats.org/officeDocument/2006/relationships/image" Target="../media/image6.png"/><Relationship Id="rId12" Type="http://schemas.openxmlformats.org/officeDocument/2006/relationships/customXml" Target="../ink/ink14.xml"/><Relationship Id="rId17" Type="http://schemas.openxmlformats.org/officeDocument/2006/relationships/customXml" Target="../ink/ink19.xml"/><Relationship Id="rId25" Type="http://schemas.openxmlformats.org/officeDocument/2006/relationships/customXml" Target="../ink/ink27.xml"/><Relationship Id="rId33" Type="http://schemas.openxmlformats.org/officeDocument/2006/relationships/customXml" Target="../ink/ink35.xml"/><Relationship Id="rId38" Type="http://schemas.openxmlformats.org/officeDocument/2006/relationships/customXml" Target="../ink/ink40.xml"/><Relationship Id="rId46" Type="http://schemas.openxmlformats.org/officeDocument/2006/relationships/customXml" Target="../ink/ink48.xml"/><Relationship Id="rId20" Type="http://schemas.openxmlformats.org/officeDocument/2006/relationships/customXml" Target="../ink/ink22.xml"/><Relationship Id="rId41" Type="http://schemas.openxmlformats.org/officeDocument/2006/relationships/customXml" Target="../ink/ink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27445" y="4581128"/>
            <a:ext cx="24384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latinLnBrk="0">
              <a:spcBef>
                <a:spcPct val="20000"/>
              </a:spcBef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2026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23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일</a:t>
            </a:r>
            <a:endParaRPr lang="en-US" altLang="ko-KR" sz="1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599" name="Text Box 47"/>
          <p:cNvSpPr txBox="1">
            <a:spLocks noChangeArrowheads="1"/>
          </p:cNvSpPr>
          <p:nvPr/>
        </p:nvSpPr>
        <p:spPr bwMode="auto">
          <a:xfrm>
            <a:off x="3359696" y="2132856"/>
            <a:ext cx="4773899" cy="8162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Bef>
                <a:spcPct val="50000"/>
              </a:spcBef>
              <a:defRPr/>
            </a:pPr>
            <a:r>
              <a:rPr lang="ko-KR" altLang="en-US" sz="3600" b="1" dirty="0" err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빌앤페이</a:t>
            </a:r>
            <a:r>
              <a:rPr lang="en-US" altLang="ko-KR" sz="3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36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기획보고서</a:t>
            </a:r>
            <a:endParaRPr lang="en-US" altLang="ko-KR" sz="3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F567787D-CCA1-4F32-A37A-DED28AFBF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776" y="6021288"/>
            <a:ext cx="668687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latinLnBrk="0">
              <a:spcBef>
                <a:spcPct val="20000"/>
              </a:spcBef>
              <a:defRPr/>
            </a:pP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🏢 결제사업본부 채널사업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팀    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l   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🧑‍💼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신경준 주임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3949F1-CDB9-DEDA-7C0E-B3A1F132A77A}"/>
              </a:ext>
            </a:extLst>
          </p:cNvPr>
          <p:cNvSpPr txBox="1">
            <a:spLocks/>
          </p:cNvSpPr>
          <p:nvPr/>
        </p:nvSpPr>
        <p:spPr>
          <a:xfrm>
            <a:off x="479376" y="620688"/>
            <a:ext cx="11425269" cy="576064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AppleMyungjo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9pPr>
          </a:lstStyle>
          <a:p>
            <a:pPr algn="l" latinLnBrk="0"/>
            <a:r>
              <a:rPr lang="en-US" altLang="ko-KR" kern="0" dirty="0">
                <a:solidFill>
                  <a:schemeClr val="tx1"/>
                </a:solidFill>
              </a:rPr>
              <a:t>History</a:t>
            </a:r>
            <a:endParaRPr lang="ko-KR" alt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906EB76-3FA0-6A14-1396-88620FC02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65415"/>
              </p:ext>
            </p:extLst>
          </p:nvPr>
        </p:nvGraphicFramePr>
        <p:xfrm>
          <a:off x="1197870" y="1700808"/>
          <a:ext cx="9796260" cy="2913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1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76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Page.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v0.0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2025/12/02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</a:rPr>
                        <a:t>Bill&amp;Pay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Kickoff meeting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신경준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2026/01/06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Bill&amp;Pay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 1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차 점검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신경준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2026/01/21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Bill&amp;Pay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 2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차 점검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신경준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2026/01/23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Bill&amp;Pay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 3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HG꼬딕씨 20g"/>
                          <a:cs typeface="+mn-cs"/>
                        </a:rPr>
                        <a:t>차 점검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신경준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44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2040C5-35A5-61E4-FC0B-FBB3B30F4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94124"/>
              </p:ext>
            </p:extLst>
          </p:nvPr>
        </p:nvGraphicFramePr>
        <p:xfrm>
          <a:off x="323527" y="918621"/>
          <a:ext cx="11276687" cy="459144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3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개발기간</a:t>
                      </a:r>
                      <a:endParaRPr kumimoji="0" lang="en-US" sz="9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9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2026.02.01 ~ 2026.06.30 (5</a:t>
                      </a:r>
                      <a:r>
                        <a:rPr lang="ko-KR" altLang="en-US" sz="9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9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HY중고딕" panose="02030600000101010101" pitchFamily="18" charset="-127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7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주요기능</a:t>
                      </a:r>
                      <a:endParaRPr kumimoji="0" lang="en-US" sz="9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제휴채널관리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영업점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가맹점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정산관리</a:t>
                      </a:r>
                      <a:endParaRPr lang="en-US" altLang="ko-KR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지급대행서비스</a:t>
                      </a:r>
                      <a:endParaRPr lang="en-US" altLang="ko-KR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우대사업자 조회</a:t>
                      </a: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HY중고딕" panose="02030600000101010101" pitchFamily="18" charset="-127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9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개발범위</a:t>
                      </a:r>
                      <a:endParaRPr kumimoji="0" lang="en-US" sz="9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제휴채널관리</a:t>
                      </a:r>
                      <a:endParaRPr lang="en-US" altLang="ko-KR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영업점 등록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대리점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에이전시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딜러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셀러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벤더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영업점 목록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가맹점 등록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가맹점 등록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알림 서비스 관리 등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marR="0" lvl="0" indent="-7200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0" lang="en-US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32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정산관리</a:t>
                      </a:r>
                      <a:endParaRPr lang="en-US" altLang="ko-KR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영업점 정산내역 관리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각 영업점 구분하여 안내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가맹점 정산내역 관리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marR="0" lvl="0" indent="-7200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0" lang="en-US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32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지급대행서비스</a:t>
                      </a:r>
                      <a:endParaRPr lang="en-US" altLang="ko-KR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계좌인증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송금요청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단건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대량건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송금결과 조회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지급거래 현황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지급상세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현황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marR="0" lvl="0" indent="-7200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0" lang="en-US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2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0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우대사업자 조회</a:t>
                      </a:r>
                    </a:p>
                  </a:txBody>
                  <a:tcPr marT="108000" marB="10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사업자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영중소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등급 조회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사업자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영중소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구간 변경 조회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전년도 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하반기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marR="0" lvl="0" indent="-7200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0" lang="en-US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기타 특이사항</a:t>
                      </a:r>
                      <a:endParaRPr kumimoji="0" lang="en-US" sz="900" b="1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MID &lt;-&gt; TID  1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대 多 매칭</a:t>
                      </a:r>
                      <a:endParaRPr kumimoji="0" lang="en-US" sz="9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marR="0" lvl="0" indent="-7200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0" lang="en-US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F182EE8B-6D98-DB35-AD5B-6B6E3093E483}"/>
              </a:ext>
            </a:extLst>
          </p:cNvPr>
          <p:cNvSpPr txBox="1">
            <a:spLocks/>
          </p:cNvSpPr>
          <p:nvPr/>
        </p:nvSpPr>
        <p:spPr>
          <a:xfrm>
            <a:off x="249235" y="328763"/>
            <a:ext cx="11425269" cy="57606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AppleMyungjo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9pPr>
          </a:lstStyle>
          <a:p>
            <a:pPr algn="l" latinLnBrk="0"/>
            <a:r>
              <a:rPr lang="ko-KR" altLang="en-US" sz="2400" kern="0" dirty="0">
                <a:solidFill>
                  <a:schemeClr val="tx1"/>
                </a:solidFill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349563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74A7-E73B-8495-C26C-7BF90ABB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E4A4E4-6BC5-F538-09B1-B00EBADC26B2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3E4638F0-68A9-7106-6A8F-F2B7951921F6}"/>
              </a:ext>
            </a:extLst>
          </p:cNvPr>
          <p:cNvSpPr txBox="1">
            <a:spLocks/>
          </p:cNvSpPr>
          <p:nvPr/>
        </p:nvSpPr>
        <p:spPr>
          <a:xfrm>
            <a:off x="3791744" y="2780928"/>
            <a:ext cx="4896544" cy="1296144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AppleMyungjo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  <a:cs typeface="AppleMyungjo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" pitchFamily="18" charset="0"/>
                <a:ea typeface="AppleMyungjo" charset="-127"/>
              </a:defRPr>
            </a:lvl9pPr>
          </a:lstStyle>
          <a:p>
            <a:pPr algn="l" latinLnBrk="0"/>
            <a:r>
              <a:rPr lang="en-US" altLang="ko-KR" sz="7000" kern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SITE MAP</a:t>
            </a:r>
            <a:endParaRPr lang="ko-KR" altLang="en-US" sz="7000" kern="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96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4CAA-2F48-F304-AE5A-CDF2525E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47A04D2-D0C2-B081-01C6-F8B54FA1D622}"/>
              </a:ext>
            </a:extLst>
          </p:cNvPr>
          <p:cNvSpPr/>
          <p:nvPr/>
        </p:nvSpPr>
        <p:spPr bwMode="auto">
          <a:xfrm>
            <a:off x="335360" y="332656"/>
            <a:ext cx="864096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START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0D6DAE8-C74F-D431-8D85-CFDCC47DA966}"/>
              </a:ext>
            </a:extLst>
          </p:cNvPr>
          <p:cNvSpPr/>
          <p:nvPr/>
        </p:nvSpPr>
        <p:spPr bwMode="auto">
          <a:xfrm>
            <a:off x="335360" y="908720"/>
            <a:ext cx="864096" cy="288032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D7226D6-B11C-D4E0-0A24-882FD65BEBBF}"/>
              </a:ext>
            </a:extLst>
          </p:cNvPr>
          <p:cNvSpPr/>
          <p:nvPr/>
        </p:nvSpPr>
        <p:spPr bwMode="auto">
          <a:xfrm>
            <a:off x="335360" y="1487218"/>
            <a:ext cx="864096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A5FCC9D-77AB-5A9C-2E96-B3FC1BE1F546}"/>
              </a:ext>
            </a:extLst>
          </p:cNvPr>
          <p:cNvSpPr/>
          <p:nvPr/>
        </p:nvSpPr>
        <p:spPr bwMode="auto">
          <a:xfrm>
            <a:off x="119336" y="2065716"/>
            <a:ext cx="1296144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우대사업자 조회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A0991F5-FA32-2BBB-9071-C71379F7DBC3}"/>
              </a:ext>
            </a:extLst>
          </p:cNvPr>
          <p:cNvSpPr/>
          <p:nvPr/>
        </p:nvSpPr>
        <p:spPr bwMode="auto">
          <a:xfrm>
            <a:off x="1996143" y="2065716"/>
            <a:ext cx="1084851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영업점 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B49DF9D-AFBB-59F0-051D-E27BDD91B676}"/>
              </a:ext>
            </a:extLst>
          </p:cNvPr>
          <p:cNvSpPr/>
          <p:nvPr/>
        </p:nvSpPr>
        <p:spPr bwMode="auto">
          <a:xfrm>
            <a:off x="3694449" y="2065716"/>
            <a:ext cx="1084850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가맹점 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C96EA3-2955-D485-B3E6-10791AABDEC1}"/>
              </a:ext>
            </a:extLst>
          </p:cNvPr>
          <p:cNvSpPr/>
          <p:nvPr/>
        </p:nvSpPr>
        <p:spPr bwMode="auto">
          <a:xfrm>
            <a:off x="5351645" y="2065716"/>
            <a:ext cx="1295607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정산관리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2EF5E03-B8BF-8F24-55F6-E72E44372B84}"/>
              </a:ext>
            </a:extLst>
          </p:cNvPr>
          <p:cNvSpPr/>
          <p:nvPr/>
        </p:nvSpPr>
        <p:spPr bwMode="auto">
          <a:xfrm>
            <a:off x="7176120" y="2068150"/>
            <a:ext cx="1123394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A95E44D-963F-F220-6341-E12DA453FF5C}"/>
              </a:ext>
            </a:extLst>
          </p:cNvPr>
          <p:cNvSpPr/>
          <p:nvPr/>
        </p:nvSpPr>
        <p:spPr bwMode="auto">
          <a:xfrm>
            <a:off x="10821106" y="2065716"/>
            <a:ext cx="1035533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6D7965-7ADB-FE86-7AB0-0F0CDF72C8B3}"/>
              </a:ext>
            </a:extLst>
          </p:cNvPr>
          <p:cNvSpPr/>
          <p:nvPr/>
        </p:nvSpPr>
        <p:spPr bwMode="auto">
          <a:xfrm>
            <a:off x="191344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4BCC0-0E4B-B187-94D8-525DC72AF866}"/>
              </a:ext>
            </a:extLst>
          </p:cNvPr>
          <p:cNvSpPr txBox="1"/>
          <p:nvPr/>
        </p:nvSpPr>
        <p:spPr>
          <a:xfrm>
            <a:off x="296144" y="2514465"/>
            <a:ext cx="1051923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조회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5F5EA9-43E9-4055-699C-3ECECA48763B}"/>
              </a:ext>
            </a:extLst>
          </p:cNvPr>
          <p:cNvSpPr/>
          <p:nvPr/>
        </p:nvSpPr>
        <p:spPr bwMode="auto">
          <a:xfrm>
            <a:off x="2044890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A7680-0387-FF99-D8AD-66058D866919}"/>
              </a:ext>
            </a:extLst>
          </p:cNvPr>
          <p:cNvSpPr txBox="1"/>
          <p:nvPr/>
        </p:nvSpPr>
        <p:spPr>
          <a:xfrm>
            <a:off x="2149690" y="2514465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4C1A5D-A751-DF4C-0BFA-149D7991F6D9}"/>
              </a:ext>
            </a:extLst>
          </p:cNvPr>
          <p:cNvSpPr/>
          <p:nvPr/>
        </p:nvSpPr>
        <p:spPr bwMode="auto">
          <a:xfrm>
            <a:off x="2044890" y="298965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673D1-0D0B-3D69-4D8C-F96267376758}"/>
              </a:ext>
            </a:extLst>
          </p:cNvPr>
          <p:cNvSpPr txBox="1"/>
          <p:nvPr/>
        </p:nvSpPr>
        <p:spPr>
          <a:xfrm>
            <a:off x="2149690" y="2896074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목록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A6674D-919E-F286-D3B3-C42AD4C8487B}"/>
              </a:ext>
            </a:extLst>
          </p:cNvPr>
          <p:cNvSpPr/>
          <p:nvPr/>
        </p:nvSpPr>
        <p:spPr bwMode="auto">
          <a:xfrm>
            <a:off x="3714937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11B4DB-D278-7932-1F72-606B935F5D9E}"/>
              </a:ext>
            </a:extLst>
          </p:cNvPr>
          <p:cNvSpPr txBox="1"/>
          <p:nvPr/>
        </p:nvSpPr>
        <p:spPr>
          <a:xfrm>
            <a:off x="3819737" y="2514465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1E0FF64-0C10-21CE-DF10-2471D2AB24E6}"/>
              </a:ext>
            </a:extLst>
          </p:cNvPr>
          <p:cNvSpPr/>
          <p:nvPr/>
        </p:nvSpPr>
        <p:spPr bwMode="auto">
          <a:xfrm>
            <a:off x="3714937" y="298965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3E8F11-F0DC-8F2A-5E7B-C7578CB757C2}"/>
              </a:ext>
            </a:extLst>
          </p:cNvPr>
          <p:cNvSpPr txBox="1"/>
          <p:nvPr/>
        </p:nvSpPr>
        <p:spPr>
          <a:xfrm>
            <a:off x="3819737" y="2896074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B4A4A7-0B3A-6DDB-61C3-B5DEB3324F82}"/>
              </a:ext>
            </a:extLst>
          </p:cNvPr>
          <p:cNvSpPr/>
          <p:nvPr/>
        </p:nvSpPr>
        <p:spPr bwMode="auto">
          <a:xfrm>
            <a:off x="3714937" y="3371260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D7660-7E09-2530-6000-23DC38E05919}"/>
              </a:ext>
            </a:extLst>
          </p:cNvPr>
          <p:cNvSpPr txBox="1"/>
          <p:nvPr/>
        </p:nvSpPr>
        <p:spPr>
          <a:xfrm>
            <a:off x="3819737" y="3277683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단말기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9D959E-6B53-30AB-D41D-D2EA1D009A20}"/>
              </a:ext>
            </a:extLst>
          </p:cNvPr>
          <p:cNvSpPr/>
          <p:nvPr/>
        </p:nvSpPr>
        <p:spPr bwMode="auto">
          <a:xfrm>
            <a:off x="5351645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D768FC-93EC-834A-8CDE-D69803B92491}"/>
              </a:ext>
            </a:extLst>
          </p:cNvPr>
          <p:cNvSpPr txBox="1"/>
          <p:nvPr/>
        </p:nvSpPr>
        <p:spPr>
          <a:xfrm>
            <a:off x="5456445" y="2514465"/>
            <a:ext cx="1359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C2CC08-0F62-F66D-C982-B074339FEAD5}"/>
              </a:ext>
            </a:extLst>
          </p:cNvPr>
          <p:cNvSpPr/>
          <p:nvPr/>
        </p:nvSpPr>
        <p:spPr bwMode="auto">
          <a:xfrm>
            <a:off x="5351645" y="298965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561177-146A-C7F8-C857-7E7F0D44E5A1}"/>
              </a:ext>
            </a:extLst>
          </p:cNvPr>
          <p:cNvSpPr txBox="1"/>
          <p:nvPr/>
        </p:nvSpPr>
        <p:spPr>
          <a:xfrm>
            <a:off x="5456446" y="2896074"/>
            <a:ext cx="1359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C9DD56C-6478-009A-F849-D9555C7E8AEC}"/>
              </a:ext>
            </a:extLst>
          </p:cNvPr>
          <p:cNvSpPr/>
          <p:nvPr/>
        </p:nvSpPr>
        <p:spPr bwMode="auto">
          <a:xfrm>
            <a:off x="7176120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D8E1E-79BA-813B-C788-9AC298F17AF1}"/>
              </a:ext>
            </a:extLst>
          </p:cNvPr>
          <p:cNvSpPr txBox="1"/>
          <p:nvPr/>
        </p:nvSpPr>
        <p:spPr>
          <a:xfrm>
            <a:off x="7280919" y="2514465"/>
            <a:ext cx="1359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12034D6-2B11-2786-2B56-6C2DDD40EC35}"/>
              </a:ext>
            </a:extLst>
          </p:cNvPr>
          <p:cNvSpPr/>
          <p:nvPr/>
        </p:nvSpPr>
        <p:spPr bwMode="auto">
          <a:xfrm>
            <a:off x="7176120" y="298965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45A586-066D-F3B9-A686-B342A220F50D}"/>
              </a:ext>
            </a:extLst>
          </p:cNvPr>
          <p:cNvSpPr txBox="1"/>
          <p:nvPr/>
        </p:nvSpPr>
        <p:spPr>
          <a:xfrm>
            <a:off x="7280920" y="2896074"/>
            <a:ext cx="1359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조회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0BE3D6-5598-80E0-6A89-6A6BC1A52DCD}"/>
              </a:ext>
            </a:extLst>
          </p:cNvPr>
          <p:cNvSpPr/>
          <p:nvPr/>
        </p:nvSpPr>
        <p:spPr bwMode="auto">
          <a:xfrm>
            <a:off x="8828382" y="2065716"/>
            <a:ext cx="1367475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CAF442-2419-98D7-944A-45A6BF2B1AED}"/>
              </a:ext>
            </a:extLst>
          </p:cNvPr>
          <p:cNvSpPr/>
          <p:nvPr/>
        </p:nvSpPr>
        <p:spPr bwMode="auto">
          <a:xfrm>
            <a:off x="8880038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9268FC-38E8-34A3-B738-5BBC29C5C70F}"/>
              </a:ext>
            </a:extLst>
          </p:cNvPr>
          <p:cNvSpPr txBox="1"/>
          <p:nvPr/>
        </p:nvSpPr>
        <p:spPr>
          <a:xfrm>
            <a:off x="8984837" y="2514465"/>
            <a:ext cx="855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결제내역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F217232-F5C1-5CB2-8154-B410423A9278}"/>
              </a:ext>
            </a:extLst>
          </p:cNvPr>
          <p:cNvSpPr/>
          <p:nvPr/>
        </p:nvSpPr>
        <p:spPr bwMode="auto">
          <a:xfrm>
            <a:off x="8880038" y="298965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EBE0A0-ECBF-FF89-BA1C-BCDA0EE54BB8}"/>
              </a:ext>
            </a:extLst>
          </p:cNvPr>
          <p:cNvSpPr txBox="1"/>
          <p:nvPr/>
        </p:nvSpPr>
        <p:spPr>
          <a:xfrm>
            <a:off x="8984838" y="2896074"/>
            <a:ext cx="855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실패내역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9ACE4FD-4DCC-555B-6119-9AF9F0012ECA}"/>
              </a:ext>
            </a:extLst>
          </p:cNvPr>
          <p:cNvSpPr/>
          <p:nvPr/>
        </p:nvSpPr>
        <p:spPr bwMode="auto">
          <a:xfrm>
            <a:off x="10896261" y="2599864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2BF100-D036-2CDE-02A9-C72DA0D5C0B7}"/>
              </a:ext>
            </a:extLst>
          </p:cNvPr>
          <p:cNvSpPr txBox="1"/>
          <p:nvPr/>
        </p:nvSpPr>
        <p:spPr>
          <a:xfrm>
            <a:off x="11001061" y="2506287"/>
            <a:ext cx="855579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공지사항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002CA4-AD9D-A06C-6A43-08C50839BCCA}"/>
              </a:ext>
            </a:extLst>
          </p:cNvPr>
          <p:cNvSpPr/>
          <p:nvPr/>
        </p:nvSpPr>
        <p:spPr bwMode="auto">
          <a:xfrm>
            <a:off x="10896261" y="2981473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F95DE2-A871-3F2F-86B5-FD3C40B90DD7}"/>
              </a:ext>
            </a:extLst>
          </p:cNvPr>
          <p:cNvSpPr txBox="1"/>
          <p:nvPr/>
        </p:nvSpPr>
        <p:spPr>
          <a:xfrm>
            <a:off x="11001061" y="2887896"/>
            <a:ext cx="855578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BF0FF56-FF04-40A3-F7DD-CDB6ECBC01AA}"/>
              </a:ext>
            </a:extLst>
          </p:cNvPr>
          <p:cNvSpPr/>
          <p:nvPr/>
        </p:nvSpPr>
        <p:spPr bwMode="auto">
          <a:xfrm>
            <a:off x="10896261" y="336308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2BA800-0C7E-D46F-8B8A-13C11CB2445B}"/>
              </a:ext>
            </a:extLst>
          </p:cNvPr>
          <p:cNvSpPr txBox="1"/>
          <p:nvPr/>
        </p:nvSpPr>
        <p:spPr>
          <a:xfrm>
            <a:off x="11001061" y="3269505"/>
            <a:ext cx="855578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환경설정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F42624-80AB-E28B-0614-0213D9C8740D}"/>
              </a:ext>
            </a:extLst>
          </p:cNvPr>
          <p:cNvSpPr/>
          <p:nvPr/>
        </p:nvSpPr>
        <p:spPr bwMode="auto">
          <a:xfrm>
            <a:off x="10632503" y="187026"/>
            <a:ext cx="1224136" cy="11780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54E75CA-6360-C2A5-4765-9F30F4BB0AFE}"/>
              </a:ext>
            </a:extLst>
          </p:cNvPr>
          <p:cNvSpPr/>
          <p:nvPr/>
        </p:nvSpPr>
        <p:spPr bwMode="auto">
          <a:xfrm>
            <a:off x="10778955" y="356999"/>
            <a:ext cx="940877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 1 DEPTH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017FC96-3B77-56B2-D84C-18C8AA29479D}"/>
              </a:ext>
            </a:extLst>
          </p:cNvPr>
          <p:cNvSpPr/>
          <p:nvPr/>
        </p:nvSpPr>
        <p:spPr bwMode="auto">
          <a:xfrm>
            <a:off x="10893567" y="812337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2EB2D8-18A2-AD9C-FCA0-91F2485DF685}"/>
              </a:ext>
            </a:extLst>
          </p:cNvPr>
          <p:cNvSpPr txBox="1"/>
          <p:nvPr/>
        </p:nvSpPr>
        <p:spPr>
          <a:xfrm>
            <a:off x="10961043" y="737422"/>
            <a:ext cx="731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2 DEPTH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CF35E3-1585-378A-ABE4-48A4181D129A}"/>
              </a:ext>
            </a:extLst>
          </p:cNvPr>
          <p:cNvSpPr txBox="1"/>
          <p:nvPr/>
        </p:nvSpPr>
        <p:spPr>
          <a:xfrm>
            <a:off x="10939493" y="971033"/>
            <a:ext cx="7316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세부목록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F214312D-7A8B-5454-F653-AA500F771A6F}"/>
                  </a:ext>
                </a:extLst>
              </p14:cNvPr>
              <p14:cNvContentPartPr/>
              <p14:nvPr/>
            </p14:nvContentPartPr>
            <p14:xfrm>
              <a:off x="10939492" y="1106745"/>
              <a:ext cx="360" cy="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F214312D-7A8B-5454-F653-AA500F771A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0492" y="1097745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ECDCF79-BEA7-066F-5C03-3805C5FC4CE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 bwMode="auto">
          <a:xfrm>
            <a:off x="767408" y="620688"/>
            <a:ext cx="0" cy="28803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EB66864-BB73-BF46-4449-19A3BE58CB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 bwMode="auto">
          <a:xfrm>
            <a:off x="767408" y="1196752"/>
            <a:ext cx="0" cy="29046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AB59CB7-AAFE-DBD3-1B42-AC3435E711D4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 bwMode="auto">
          <a:xfrm flipV="1">
            <a:off x="767408" y="1775250"/>
            <a:ext cx="0" cy="29046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2C526EDC-C328-4C18-55BF-68DF8E005EB3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 bwMode="auto">
          <a:xfrm flipH="1">
            <a:off x="1415480" y="2209732"/>
            <a:ext cx="58066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1316FB8-F824-D200-9B4C-1408197588D2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 bwMode="auto">
          <a:xfrm flipH="1">
            <a:off x="3080994" y="2209732"/>
            <a:ext cx="613455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74122B7-4415-2D6A-9F16-8DE4E6380BD0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 bwMode="auto">
          <a:xfrm flipH="1">
            <a:off x="4779299" y="2209732"/>
            <a:ext cx="57234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B2E1228-F3AF-DB76-E1AD-3E1EFAE6D40B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 bwMode="auto">
          <a:xfrm flipH="1" flipV="1">
            <a:off x="6647252" y="2209732"/>
            <a:ext cx="528868" cy="243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A1D5965-8FCB-1A25-B7A1-874771A9A14F}"/>
              </a:ext>
            </a:extLst>
          </p:cNvPr>
          <p:cNvCxnSpPr>
            <a:cxnSpLocks/>
            <a:stCxn id="40" idx="1"/>
            <a:endCxn id="12" idx="3"/>
          </p:cNvCxnSpPr>
          <p:nvPr/>
        </p:nvCxnSpPr>
        <p:spPr bwMode="auto">
          <a:xfrm flipH="1">
            <a:off x="8299514" y="2209732"/>
            <a:ext cx="528868" cy="243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FA25C00B-BA95-EA55-E815-58643040FB1E}"/>
              </a:ext>
            </a:extLst>
          </p:cNvPr>
          <p:cNvCxnSpPr>
            <a:cxnSpLocks/>
            <a:stCxn id="13" idx="1"/>
            <a:endCxn id="40" idx="3"/>
          </p:cNvCxnSpPr>
          <p:nvPr/>
        </p:nvCxnSpPr>
        <p:spPr bwMode="auto">
          <a:xfrm flipH="1">
            <a:off x="10195857" y="2209732"/>
            <a:ext cx="62524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8A90839-93D4-DFAF-D0B6-8130F72ABE06}"/>
              </a:ext>
            </a:extLst>
          </p:cNvPr>
          <p:cNvCxnSpPr>
            <a:cxnSpLocks/>
            <a:endCxn id="6" idx="3"/>
          </p:cNvCxnSpPr>
          <p:nvPr/>
        </p:nvCxnSpPr>
        <p:spPr bwMode="auto">
          <a:xfrm flipH="1">
            <a:off x="1199456" y="1052736"/>
            <a:ext cx="58066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D064F53-ED88-B324-9A39-DE80AEF81205}"/>
              </a:ext>
            </a:extLst>
          </p:cNvPr>
          <p:cNvSpPr txBox="1"/>
          <p:nvPr/>
        </p:nvSpPr>
        <p:spPr>
          <a:xfrm>
            <a:off x="1991544" y="692696"/>
            <a:ext cx="1367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로그인 폼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(OTP)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0" name="잉크 109">
                <a:extLst>
                  <a:ext uri="{FF2B5EF4-FFF2-40B4-BE49-F238E27FC236}">
                    <a16:creationId xmlns:a16="http://schemas.microsoft.com/office/drawing/2014/main" id="{CA713BC2-D95F-043E-297E-672413F33F83}"/>
                  </a:ext>
                </a:extLst>
              </p14:cNvPr>
              <p14:cNvContentPartPr/>
              <p14:nvPr/>
            </p14:nvContentPartPr>
            <p14:xfrm>
              <a:off x="1991544" y="828408"/>
              <a:ext cx="360" cy="360"/>
            </p14:xfrm>
          </p:contentPart>
        </mc:Choice>
        <mc:Fallback xmlns="">
          <p:pic>
            <p:nvPicPr>
              <p:cNvPr id="110" name="잉크 109">
                <a:extLst>
                  <a:ext uri="{FF2B5EF4-FFF2-40B4-BE49-F238E27FC236}">
                    <a16:creationId xmlns:a16="http://schemas.microsoft.com/office/drawing/2014/main" id="{CA713BC2-D95F-043E-297E-672413F33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81940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F8F06D9-CCB5-7BED-9DB6-4DED9D9C1338}"/>
              </a:ext>
            </a:extLst>
          </p:cNvPr>
          <p:cNvSpPr/>
          <p:nvPr/>
        </p:nvSpPr>
        <p:spPr bwMode="auto">
          <a:xfrm>
            <a:off x="1780119" y="1005867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EBCC007-960D-9F7B-0AEA-D72BF8EADD6D}"/>
              </a:ext>
            </a:extLst>
          </p:cNvPr>
          <p:cNvSpPr txBox="1"/>
          <p:nvPr/>
        </p:nvSpPr>
        <p:spPr>
          <a:xfrm>
            <a:off x="1991545" y="935896"/>
            <a:ext cx="1038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아이디 찾기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9413904D-D015-6AB6-952B-61C00F1AEE94}"/>
                  </a:ext>
                </a:extLst>
              </p14:cNvPr>
              <p14:cNvContentPartPr/>
              <p14:nvPr/>
            </p14:nvContentPartPr>
            <p14:xfrm>
              <a:off x="1991544" y="1071608"/>
              <a:ext cx="360" cy="360"/>
            </p14:xfrm>
          </p:contentPart>
        </mc:Choice>
        <mc:Fallback xmlns=""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9413904D-D015-6AB6-952B-61C00F1AEE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106260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8733A81A-C4B1-40C3-191C-EE77EB37244B}"/>
              </a:ext>
            </a:extLst>
          </p:cNvPr>
          <p:cNvSpPr txBox="1"/>
          <p:nvPr/>
        </p:nvSpPr>
        <p:spPr>
          <a:xfrm>
            <a:off x="1991545" y="1197298"/>
            <a:ext cx="12234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비밀번호 찾기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C822C6BF-DE3C-B028-7FDB-4231CFD64C55}"/>
                  </a:ext>
                </a:extLst>
              </p14:cNvPr>
              <p14:cNvContentPartPr/>
              <p14:nvPr/>
            </p14:nvContentPartPr>
            <p14:xfrm>
              <a:off x="1991544" y="1333010"/>
              <a:ext cx="360" cy="36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C822C6BF-DE3C-B028-7FDB-4231CFD64C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132401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963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1DB7-BE2D-FA45-6434-60E71CFF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3E6F9BA-B172-64CF-940F-596D5FF6A581}"/>
              </a:ext>
            </a:extLst>
          </p:cNvPr>
          <p:cNvSpPr/>
          <p:nvPr/>
        </p:nvSpPr>
        <p:spPr bwMode="auto">
          <a:xfrm>
            <a:off x="335360" y="332656"/>
            <a:ext cx="864096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START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CAF9D1B-7F78-2E59-FB3A-99FBF20EEC54}"/>
              </a:ext>
            </a:extLst>
          </p:cNvPr>
          <p:cNvSpPr/>
          <p:nvPr/>
        </p:nvSpPr>
        <p:spPr bwMode="auto">
          <a:xfrm>
            <a:off x="335360" y="908720"/>
            <a:ext cx="864096" cy="288032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1106E13-5D27-FDE1-B6A0-341EECD49CEE}"/>
              </a:ext>
            </a:extLst>
          </p:cNvPr>
          <p:cNvSpPr/>
          <p:nvPr/>
        </p:nvSpPr>
        <p:spPr bwMode="auto">
          <a:xfrm>
            <a:off x="335360" y="1487218"/>
            <a:ext cx="864096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61075F-2105-76DB-F6E5-83302B5628A9}"/>
              </a:ext>
            </a:extLst>
          </p:cNvPr>
          <p:cNvSpPr/>
          <p:nvPr/>
        </p:nvSpPr>
        <p:spPr bwMode="auto">
          <a:xfrm>
            <a:off x="119336" y="2065716"/>
            <a:ext cx="1296144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우대사업자 조회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3221B7-D233-E202-72C4-2C988A1BD50B}"/>
              </a:ext>
            </a:extLst>
          </p:cNvPr>
          <p:cNvSpPr/>
          <p:nvPr/>
        </p:nvSpPr>
        <p:spPr bwMode="auto">
          <a:xfrm>
            <a:off x="1996143" y="2065716"/>
            <a:ext cx="1084851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영업점 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885AC31-92F6-29AE-5B83-87546D42CE19}"/>
              </a:ext>
            </a:extLst>
          </p:cNvPr>
          <p:cNvSpPr/>
          <p:nvPr/>
        </p:nvSpPr>
        <p:spPr bwMode="auto">
          <a:xfrm>
            <a:off x="3694449" y="2065716"/>
            <a:ext cx="1084850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가맹점 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76C614-385C-6669-9EE5-5F669BE00069}"/>
              </a:ext>
            </a:extLst>
          </p:cNvPr>
          <p:cNvSpPr/>
          <p:nvPr/>
        </p:nvSpPr>
        <p:spPr bwMode="auto">
          <a:xfrm>
            <a:off x="5351645" y="2065716"/>
            <a:ext cx="1295607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정산관리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BA0D35-04CA-F2F6-7C07-D0331FB834BC}"/>
              </a:ext>
            </a:extLst>
          </p:cNvPr>
          <p:cNvSpPr/>
          <p:nvPr/>
        </p:nvSpPr>
        <p:spPr bwMode="auto">
          <a:xfrm>
            <a:off x="7176120" y="2068150"/>
            <a:ext cx="1123394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9CAEC9-D128-D243-E86D-92B33CBC7C98}"/>
              </a:ext>
            </a:extLst>
          </p:cNvPr>
          <p:cNvSpPr/>
          <p:nvPr/>
        </p:nvSpPr>
        <p:spPr bwMode="auto">
          <a:xfrm>
            <a:off x="10821106" y="2065716"/>
            <a:ext cx="1035533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A25E8B-EE6B-53B2-254B-67361B5A314B}"/>
              </a:ext>
            </a:extLst>
          </p:cNvPr>
          <p:cNvSpPr/>
          <p:nvPr/>
        </p:nvSpPr>
        <p:spPr bwMode="auto">
          <a:xfrm>
            <a:off x="191344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C49328-3DCE-385E-E80C-90A001C50F48}"/>
              </a:ext>
            </a:extLst>
          </p:cNvPr>
          <p:cNvSpPr txBox="1"/>
          <p:nvPr/>
        </p:nvSpPr>
        <p:spPr>
          <a:xfrm>
            <a:off x="296144" y="2514465"/>
            <a:ext cx="1051923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조회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BF9030-9B77-E4CC-A882-5999AC53E7C6}"/>
              </a:ext>
            </a:extLst>
          </p:cNvPr>
          <p:cNvSpPr/>
          <p:nvPr/>
        </p:nvSpPr>
        <p:spPr bwMode="auto">
          <a:xfrm>
            <a:off x="2044890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C5106-075C-16A3-0C5D-049EE281E5F4}"/>
              </a:ext>
            </a:extLst>
          </p:cNvPr>
          <p:cNvSpPr txBox="1"/>
          <p:nvPr/>
        </p:nvSpPr>
        <p:spPr>
          <a:xfrm>
            <a:off x="2149690" y="2514465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98C1E6-54E7-0A2E-DA60-C13D8A4666F1}"/>
              </a:ext>
            </a:extLst>
          </p:cNvPr>
          <p:cNvSpPr/>
          <p:nvPr/>
        </p:nvSpPr>
        <p:spPr bwMode="auto">
          <a:xfrm>
            <a:off x="2044890" y="491218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F284A-D374-8415-4FE5-9FC2324D615A}"/>
              </a:ext>
            </a:extLst>
          </p:cNvPr>
          <p:cNvSpPr txBox="1"/>
          <p:nvPr/>
        </p:nvSpPr>
        <p:spPr>
          <a:xfrm>
            <a:off x="2149690" y="4818604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목록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78764B-7AF2-8D6D-1BD6-F7D5B328D479}"/>
              </a:ext>
            </a:extLst>
          </p:cNvPr>
          <p:cNvSpPr/>
          <p:nvPr/>
        </p:nvSpPr>
        <p:spPr bwMode="auto">
          <a:xfrm>
            <a:off x="3714937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3E6DB-5BAD-8049-5F36-1BFBE580EA04}"/>
              </a:ext>
            </a:extLst>
          </p:cNvPr>
          <p:cNvSpPr txBox="1"/>
          <p:nvPr/>
        </p:nvSpPr>
        <p:spPr>
          <a:xfrm>
            <a:off x="3819737" y="2514465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1A568A-FC96-8E0D-D3F1-D06AFFA5C884}"/>
              </a:ext>
            </a:extLst>
          </p:cNvPr>
          <p:cNvSpPr/>
          <p:nvPr/>
        </p:nvSpPr>
        <p:spPr bwMode="auto">
          <a:xfrm>
            <a:off x="3714937" y="4210989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CA986-AE10-381B-778A-8A00AF31468D}"/>
              </a:ext>
            </a:extLst>
          </p:cNvPr>
          <p:cNvSpPr txBox="1"/>
          <p:nvPr/>
        </p:nvSpPr>
        <p:spPr>
          <a:xfrm>
            <a:off x="3819737" y="4117412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48A8954-09BB-2988-DDFC-12D8784F9C3F}"/>
              </a:ext>
            </a:extLst>
          </p:cNvPr>
          <p:cNvSpPr/>
          <p:nvPr/>
        </p:nvSpPr>
        <p:spPr bwMode="auto">
          <a:xfrm>
            <a:off x="3714937" y="5858501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9A78BC-E175-81DB-D201-B0D873DB8AF0}"/>
              </a:ext>
            </a:extLst>
          </p:cNvPr>
          <p:cNvSpPr txBox="1"/>
          <p:nvPr/>
        </p:nvSpPr>
        <p:spPr>
          <a:xfrm>
            <a:off x="3819737" y="5764924"/>
            <a:ext cx="122413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단말기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E93D38-3F6F-FF74-C8C5-9BD8A26E0449}"/>
              </a:ext>
            </a:extLst>
          </p:cNvPr>
          <p:cNvSpPr/>
          <p:nvPr/>
        </p:nvSpPr>
        <p:spPr bwMode="auto">
          <a:xfrm>
            <a:off x="5351645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892158-4049-CE79-92A5-F2073447CE9B}"/>
              </a:ext>
            </a:extLst>
          </p:cNvPr>
          <p:cNvSpPr txBox="1"/>
          <p:nvPr/>
        </p:nvSpPr>
        <p:spPr>
          <a:xfrm>
            <a:off x="5456445" y="2514465"/>
            <a:ext cx="1359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F6A91AB-3033-C159-F8BF-992D5D66B5FA}"/>
              </a:ext>
            </a:extLst>
          </p:cNvPr>
          <p:cNvSpPr/>
          <p:nvPr/>
        </p:nvSpPr>
        <p:spPr bwMode="auto">
          <a:xfrm>
            <a:off x="5351645" y="3450569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65EEF-A766-DA15-4B88-F083D4D02B11}"/>
              </a:ext>
            </a:extLst>
          </p:cNvPr>
          <p:cNvSpPr txBox="1"/>
          <p:nvPr/>
        </p:nvSpPr>
        <p:spPr>
          <a:xfrm>
            <a:off x="5456446" y="3356992"/>
            <a:ext cx="1359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CCEFFDA-5CDD-BF12-DDC3-555DDD87D992}"/>
              </a:ext>
            </a:extLst>
          </p:cNvPr>
          <p:cNvSpPr/>
          <p:nvPr/>
        </p:nvSpPr>
        <p:spPr bwMode="auto">
          <a:xfrm>
            <a:off x="7176120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053E41-A8C7-0B4E-26F9-DB96EF2C3E6D}"/>
              </a:ext>
            </a:extLst>
          </p:cNvPr>
          <p:cNvSpPr txBox="1"/>
          <p:nvPr/>
        </p:nvSpPr>
        <p:spPr>
          <a:xfrm>
            <a:off x="7280919" y="2514465"/>
            <a:ext cx="1359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B601F70-BB34-10F1-6A0E-C15A509D02D5}"/>
              </a:ext>
            </a:extLst>
          </p:cNvPr>
          <p:cNvSpPr/>
          <p:nvPr/>
        </p:nvSpPr>
        <p:spPr bwMode="auto">
          <a:xfrm>
            <a:off x="7176120" y="3893650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25B26E-60D2-BEC0-2B56-0D39805C5583}"/>
              </a:ext>
            </a:extLst>
          </p:cNvPr>
          <p:cNvSpPr txBox="1"/>
          <p:nvPr/>
        </p:nvSpPr>
        <p:spPr>
          <a:xfrm>
            <a:off x="7280920" y="3800073"/>
            <a:ext cx="1359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조회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97F89DA-0E6C-4DCE-FC0C-77607DA8C59D}"/>
              </a:ext>
            </a:extLst>
          </p:cNvPr>
          <p:cNvSpPr/>
          <p:nvPr/>
        </p:nvSpPr>
        <p:spPr bwMode="auto">
          <a:xfrm>
            <a:off x="8828382" y="2065716"/>
            <a:ext cx="1367475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7F011F1-4236-BE7C-A2F8-259626933BAF}"/>
              </a:ext>
            </a:extLst>
          </p:cNvPr>
          <p:cNvSpPr/>
          <p:nvPr/>
        </p:nvSpPr>
        <p:spPr bwMode="auto">
          <a:xfrm>
            <a:off x="8880038" y="2608042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10178E-74DC-51DA-A49F-2B4479062E3F}"/>
              </a:ext>
            </a:extLst>
          </p:cNvPr>
          <p:cNvSpPr txBox="1"/>
          <p:nvPr/>
        </p:nvSpPr>
        <p:spPr>
          <a:xfrm>
            <a:off x="8984837" y="2514465"/>
            <a:ext cx="855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결제내역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B20F5A-7C93-C0F5-BFA5-C04BA5FF74A0}"/>
              </a:ext>
            </a:extLst>
          </p:cNvPr>
          <p:cNvSpPr/>
          <p:nvPr/>
        </p:nvSpPr>
        <p:spPr bwMode="auto">
          <a:xfrm>
            <a:off x="8880038" y="3331906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9CAEC8-ABE4-AC16-E4E3-41AA5846CF43}"/>
              </a:ext>
            </a:extLst>
          </p:cNvPr>
          <p:cNvSpPr txBox="1"/>
          <p:nvPr/>
        </p:nvSpPr>
        <p:spPr>
          <a:xfrm>
            <a:off x="8984838" y="3238329"/>
            <a:ext cx="855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실패내역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60127-7E25-86F0-556B-AF976A2D574F}"/>
              </a:ext>
            </a:extLst>
          </p:cNvPr>
          <p:cNvSpPr/>
          <p:nvPr/>
        </p:nvSpPr>
        <p:spPr bwMode="auto">
          <a:xfrm>
            <a:off x="10896261" y="2599864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D9133C-F634-17E6-1739-FE88BA1B1671}"/>
              </a:ext>
            </a:extLst>
          </p:cNvPr>
          <p:cNvSpPr txBox="1"/>
          <p:nvPr/>
        </p:nvSpPr>
        <p:spPr>
          <a:xfrm>
            <a:off x="11001061" y="2506287"/>
            <a:ext cx="855579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공지사항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F4EE35A-2601-A7FA-E3CA-6B048E657F29}"/>
              </a:ext>
            </a:extLst>
          </p:cNvPr>
          <p:cNvSpPr/>
          <p:nvPr/>
        </p:nvSpPr>
        <p:spPr bwMode="auto">
          <a:xfrm>
            <a:off x="10896261" y="3501008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586891-87FB-FF3C-84FC-D20CDDB94660}"/>
              </a:ext>
            </a:extLst>
          </p:cNvPr>
          <p:cNvSpPr txBox="1"/>
          <p:nvPr/>
        </p:nvSpPr>
        <p:spPr>
          <a:xfrm>
            <a:off x="11001061" y="3407431"/>
            <a:ext cx="855578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6983685-E26B-6D22-443A-D80C3F67B922}"/>
              </a:ext>
            </a:extLst>
          </p:cNvPr>
          <p:cNvSpPr/>
          <p:nvPr/>
        </p:nvSpPr>
        <p:spPr bwMode="auto">
          <a:xfrm>
            <a:off x="10896261" y="4242657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7B8E19-D05F-5143-C508-963DDDE0B633}"/>
              </a:ext>
            </a:extLst>
          </p:cNvPr>
          <p:cNvSpPr txBox="1"/>
          <p:nvPr/>
        </p:nvSpPr>
        <p:spPr>
          <a:xfrm>
            <a:off x="11001061" y="4149080"/>
            <a:ext cx="855578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환경설정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EC192D6-6EE2-EACD-EECB-A6369082F38B}"/>
              </a:ext>
            </a:extLst>
          </p:cNvPr>
          <p:cNvSpPr/>
          <p:nvPr/>
        </p:nvSpPr>
        <p:spPr bwMode="auto">
          <a:xfrm>
            <a:off x="10632503" y="187026"/>
            <a:ext cx="1224136" cy="11780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71D5E22-8AEB-F038-F354-152E53116AB5}"/>
              </a:ext>
            </a:extLst>
          </p:cNvPr>
          <p:cNvSpPr/>
          <p:nvPr/>
        </p:nvSpPr>
        <p:spPr bwMode="auto">
          <a:xfrm>
            <a:off x="10778955" y="356999"/>
            <a:ext cx="940877" cy="288032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 1 DEPTH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38DBC8-45B8-6C6F-76DF-33909B6F65A9}"/>
              </a:ext>
            </a:extLst>
          </p:cNvPr>
          <p:cNvSpPr/>
          <p:nvPr/>
        </p:nvSpPr>
        <p:spPr bwMode="auto">
          <a:xfrm>
            <a:off x="10893567" y="812337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97FC32-E440-3C3F-F5F3-B667B5B1C846}"/>
              </a:ext>
            </a:extLst>
          </p:cNvPr>
          <p:cNvSpPr txBox="1"/>
          <p:nvPr/>
        </p:nvSpPr>
        <p:spPr>
          <a:xfrm>
            <a:off x="10961043" y="737422"/>
            <a:ext cx="731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2 DEPTH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46521-572E-4984-9E2F-F80F4C90FB37}"/>
              </a:ext>
            </a:extLst>
          </p:cNvPr>
          <p:cNvSpPr txBox="1"/>
          <p:nvPr/>
        </p:nvSpPr>
        <p:spPr>
          <a:xfrm>
            <a:off x="10939493" y="971033"/>
            <a:ext cx="7316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세부목록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2891D0C5-ACE4-0B44-9626-EB6F727373F2}"/>
                  </a:ext>
                </a:extLst>
              </p14:cNvPr>
              <p14:cNvContentPartPr/>
              <p14:nvPr/>
            </p14:nvContentPartPr>
            <p14:xfrm>
              <a:off x="10939492" y="1106745"/>
              <a:ext cx="360" cy="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2891D0C5-ACE4-0B44-9626-EB6F727373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0492" y="1097745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493C227-4D9E-5FF4-12B2-532C8182400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 bwMode="auto">
          <a:xfrm>
            <a:off x="767408" y="620688"/>
            <a:ext cx="0" cy="28803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47266B9-0FAD-9A0F-51C5-AC1A8C3EBE6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 bwMode="auto">
          <a:xfrm>
            <a:off x="767408" y="1196752"/>
            <a:ext cx="0" cy="29046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B9D89A7-2A73-9BD2-789B-92DB20DDF7C2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 bwMode="auto">
          <a:xfrm flipV="1">
            <a:off x="767408" y="1775250"/>
            <a:ext cx="0" cy="29046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7E5911B-1F73-75A9-6BBC-69DB383896DE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 bwMode="auto">
          <a:xfrm flipH="1">
            <a:off x="1415480" y="2209732"/>
            <a:ext cx="58066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B6A2606-1DD7-E7E9-0A45-178A253D917E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 bwMode="auto">
          <a:xfrm flipH="1">
            <a:off x="3080994" y="2209732"/>
            <a:ext cx="613455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79E01D9-1D10-EC04-9EB8-1C3B9BD91F9C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 bwMode="auto">
          <a:xfrm flipH="1">
            <a:off x="4779299" y="2209732"/>
            <a:ext cx="57234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28E1EA2-3983-CEBF-F898-37E25F14B21A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 bwMode="auto">
          <a:xfrm flipH="1" flipV="1">
            <a:off x="6647252" y="2209732"/>
            <a:ext cx="528868" cy="243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823C19E9-78A1-F684-D458-6366C27ECB48}"/>
              </a:ext>
            </a:extLst>
          </p:cNvPr>
          <p:cNvCxnSpPr>
            <a:cxnSpLocks/>
            <a:stCxn id="40" idx="1"/>
            <a:endCxn id="12" idx="3"/>
          </p:cNvCxnSpPr>
          <p:nvPr/>
        </p:nvCxnSpPr>
        <p:spPr bwMode="auto">
          <a:xfrm flipH="1">
            <a:off x="8299514" y="2209732"/>
            <a:ext cx="528868" cy="243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B0A6C67C-1AA5-62BF-9498-4E2757F5CD1C}"/>
              </a:ext>
            </a:extLst>
          </p:cNvPr>
          <p:cNvCxnSpPr>
            <a:cxnSpLocks/>
            <a:stCxn id="13" idx="1"/>
            <a:endCxn id="40" idx="3"/>
          </p:cNvCxnSpPr>
          <p:nvPr/>
        </p:nvCxnSpPr>
        <p:spPr bwMode="auto">
          <a:xfrm flipH="1">
            <a:off x="10195857" y="2209732"/>
            <a:ext cx="62524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8367F21-2109-E11B-C017-ADAE2AD42AF8}"/>
              </a:ext>
            </a:extLst>
          </p:cNvPr>
          <p:cNvCxnSpPr>
            <a:cxnSpLocks/>
            <a:endCxn id="6" idx="3"/>
          </p:cNvCxnSpPr>
          <p:nvPr/>
        </p:nvCxnSpPr>
        <p:spPr bwMode="auto">
          <a:xfrm flipH="1">
            <a:off x="1199456" y="1052736"/>
            <a:ext cx="58066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7FF8E22-B424-F371-44DE-787575DD5FC1}"/>
              </a:ext>
            </a:extLst>
          </p:cNvPr>
          <p:cNvSpPr txBox="1"/>
          <p:nvPr/>
        </p:nvSpPr>
        <p:spPr>
          <a:xfrm>
            <a:off x="1991544" y="692696"/>
            <a:ext cx="1367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로그인 폼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(OTP)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0" name="잉크 109">
                <a:extLst>
                  <a:ext uri="{FF2B5EF4-FFF2-40B4-BE49-F238E27FC236}">
                    <a16:creationId xmlns:a16="http://schemas.microsoft.com/office/drawing/2014/main" id="{9A68E9D6-AEDD-D93E-C119-7F0000007943}"/>
                  </a:ext>
                </a:extLst>
              </p14:cNvPr>
              <p14:cNvContentPartPr/>
              <p14:nvPr/>
            </p14:nvContentPartPr>
            <p14:xfrm>
              <a:off x="1991544" y="828408"/>
              <a:ext cx="360" cy="360"/>
            </p14:xfrm>
          </p:contentPart>
        </mc:Choice>
        <mc:Fallback xmlns="">
          <p:pic>
            <p:nvPicPr>
              <p:cNvPr id="110" name="잉크 109">
                <a:extLst>
                  <a:ext uri="{FF2B5EF4-FFF2-40B4-BE49-F238E27FC236}">
                    <a16:creationId xmlns:a16="http://schemas.microsoft.com/office/drawing/2014/main" id="{9A68E9D6-AEDD-D93E-C119-7F00000079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81940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D519EB1-033B-7E88-2450-BB97DFCC4F10}"/>
              </a:ext>
            </a:extLst>
          </p:cNvPr>
          <p:cNvSpPr/>
          <p:nvPr/>
        </p:nvSpPr>
        <p:spPr bwMode="auto">
          <a:xfrm>
            <a:off x="1780119" y="1005867"/>
            <a:ext cx="100878" cy="10087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B58F384-5C2A-36AB-58C4-7527430380E6}"/>
              </a:ext>
            </a:extLst>
          </p:cNvPr>
          <p:cNvSpPr txBox="1"/>
          <p:nvPr/>
        </p:nvSpPr>
        <p:spPr>
          <a:xfrm>
            <a:off x="1991545" y="935896"/>
            <a:ext cx="1038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아이디 찾기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B7A32B2B-F321-9E7F-422F-EA0D21842189}"/>
                  </a:ext>
                </a:extLst>
              </p14:cNvPr>
              <p14:cNvContentPartPr/>
              <p14:nvPr/>
            </p14:nvContentPartPr>
            <p14:xfrm>
              <a:off x="1991544" y="1071608"/>
              <a:ext cx="360" cy="360"/>
            </p14:xfrm>
          </p:contentPart>
        </mc:Choice>
        <mc:Fallback xmlns=""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B7A32B2B-F321-9E7F-422F-EA0D218421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106260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482FA845-12E8-2D09-3AF3-A5DBEC59CA33}"/>
              </a:ext>
            </a:extLst>
          </p:cNvPr>
          <p:cNvSpPr txBox="1"/>
          <p:nvPr/>
        </p:nvSpPr>
        <p:spPr>
          <a:xfrm>
            <a:off x="1991545" y="1197298"/>
            <a:ext cx="12234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비밀번호 찾기</a:t>
            </a:r>
            <a:endParaRPr lang="ko-KR" altLang="en-US" sz="12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A62AD615-20CF-395D-8593-542489BEB456}"/>
                  </a:ext>
                </a:extLst>
              </p14:cNvPr>
              <p14:cNvContentPartPr/>
              <p14:nvPr/>
            </p14:nvContentPartPr>
            <p14:xfrm>
              <a:off x="1991544" y="1333010"/>
              <a:ext cx="360" cy="36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A62AD615-20CF-395D-8593-542489BEB4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544" y="13240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A69BD0E-3B3B-61D3-299E-6CC87C84D7DF}"/>
              </a:ext>
            </a:extLst>
          </p:cNvPr>
          <p:cNvSpPr txBox="1"/>
          <p:nvPr/>
        </p:nvSpPr>
        <p:spPr>
          <a:xfrm>
            <a:off x="408088" y="2795170"/>
            <a:ext cx="122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영중소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등급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07B254B-32D9-7736-EEFA-3B758128B0B2}"/>
                  </a:ext>
                </a:extLst>
              </p14:cNvPr>
              <p14:cNvContentPartPr/>
              <p14:nvPr/>
            </p14:nvContentPartPr>
            <p14:xfrm>
              <a:off x="414621" y="2913573"/>
              <a:ext cx="360" cy="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07B254B-32D9-7736-EEFA-3B758128B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621" y="290457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607B1B-FED4-E76C-A376-D5025EF66A4A}"/>
              </a:ext>
            </a:extLst>
          </p:cNvPr>
          <p:cNvSpPr txBox="1"/>
          <p:nvPr/>
        </p:nvSpPr>
        <p:spPr>
          <a:xfrm>
            <a:off x="408088" y="3021594"/>
            <a:ext cx="122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25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년 상반기 등급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49CEDEAD-636B-1B25-A98E-2ECA5B58D688}"/>
                  </a:ext>
                </a:extLst>
              </p14:cNvPr>
              <p14:cNvContentPartPr/>
              <p14:nvPr/>
            </p14:nvContentPartPr>
            <p14:xfrm>
              <a:off x="414621" y="3139997"/>
              <a:ext cx="360" cy="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49CEDEAD-636B-1B25-A98E-2ECA5B58D6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621" y="313099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4BCF9EB-1640-3AD3-9DEE-71310BBAC11D}"/>
              </a:ext>
            </a:extLst>
          </p:cNvPr>
          <p:cNvSpPr txBox="1"/>
          <p:nvPr/>
        </p:nvSpPr>
        <p:spPr>
          <a:xfrm>
            <a:off x="408088" y="3245291"/>
            <a:ext cx="122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25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년 하반기 등급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0BC3CEF-192B-B425-84BE-0B176E6D4D30}"/>
                  </a:ext>
                </a:extLst>
              </p14:cNvPr>
              <p14:cNvContentPartPr/>
              <p14:nvPr/>
            </p14:nvContentPartPr>
            <p14:xfrm>
              <a:off x="414621" y="3363694"/>
              <a:ext cx="36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0BC3CEF-192B-B425-84BE-0B176E6D4D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621" y="33546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FFF38F0-7166-1490-4646-992FA1BFE1A7}"/>
              </a:ext>
            </a:extLst>
          </p:cNvPr>
          <p:cNvSpPr txBox="1"/>
          <p:nvPr/>
        </p:nvSpPr>
        <p:spPr>
          <a:xfrm>
            <a:off x="2172456" y="2791464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대리점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0E6FF47-F915-BC09-4E47-E23EF2A5B670}"/>
                  </a:ext>
                </a:extLst>
              </p14:cNvPr>
              <p14:cNvContentPartPr/>
              <p14:nvPr/>
            </p14:nvContentPartPr>
            <p14:xfrm>
              <a:off x="2178989" y="2909867"/>
              <a:ext cx="360" cy="3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0E6FF47-F915-BC09-4E47-E23EF2A5B6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290086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C05A3C9-9AE8-B2F7-E78C-AFB88EF81FE7}"/>
              </a:ext>
            </a:extLst>
          </p:cNvPr>
          <p:cNvSpPr txBox="1"/>
          <p:nvPr/>
        </p:nvSpPr>
        <p:spPr>
          <a:xfrm>
            <a:off x="2178989" y="3016886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에이전시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BFCD6BB5-FF96-7E9F-C83F-3EB3C3C4EF71}"/>
                  </a:ext>
                </a:extLst>
              </p14:cNvPr>
              <p14:cNvContentPartPr/>
              <p14:nvPr/>
            </p14:nvContentPartPr>
            <p14:xfrm>
              <a:off x="2185522" y="3135289"/>
              <a:ext cx="360" cy="3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BFCD6BB5-FF96-7E9F-C83F-3EB3C3C4EF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522" y="312628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FEF178E1-CBFA-3764-5D5C-8A40FA5CC42F}"/>
              </a:ext>
            </a:extLst>
          </p:cNvPr>
          <p:cNvSpPr txBox="1"/>
          <p:nvPr/>
        </p:nvSpPr>
        <p:spPr>
          <a:xfrm>
            <a:off x="2178989" y="3248517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딜러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162A60C2-8B4D-FECB-75E4-4F3838F41525}"/>
                  </a:ext>
                </a:extLst>
              </p14:cNvPr>
              <p14:cNvContentPartPr/>
              <p14:nvPr/>
            </p14:nvContentPartPr>
            <p14:xfrm>
              <a:off x="2185522" y="3366920"/>
              <a:ext cx="360" cy="36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162A60C2-8B4D-FECB-75E4-4F3838F415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522" y="335792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1701FF16-EFDC-4690-C927-FE2DA7A08137}"/>
              </a:ext>
            </a:extLst>
          </p:cNvPr>
          <p:cNvSpPr txBox="1"/>
          <p:nvPr/>
        </p:nvSpPr>
        <p:spPr>
          <a:xfrm>
            <a:off x="2178989" y="3483253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셀러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62A3272A-16B0-A826-B281-794196244AB5}"/>
                  </a:ext>
                </a:extLst>
              </p14:cNvPr>
              <p14:cNvContentPartPr/>
              <p14:nvPr/>
            </p14:nvContentPartPr>
            <p14:xfrm>
              <a:off x="2185522" y="3601656"/>
              <a:ext cx="360" cy="36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62A3272A-16B0-A826-B281-794196244A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522" y="359265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5A68C458-1A2D-68B4-2FA2-60068DD53857}"/>
              </a:ext>
            </a:extLst>
          </p:cNvPr>
          <p:cNvSpPr txBox="1"/>
          <p:nvPr/>
        </p:nvSpPr>
        <p:spPr>
          <a:xfrm>
            <a:off x="2172456" y="3726369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벤더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6DF104E0-52B1-0B2F-7AAC-87C48E6A4BC1}"/>
                  </a:ext>
                </a:extLst>
              </p14:cNvPr>
              <p14:cNvContentPartPr/>
              <p14:nvPr/>
            </p14:nvContentPartPr>
            <p14:xfrm>
              <a:off x="2178989" y="3844772"/>
              <a:ext cx="360" cy="360"/>
            </p14:xfrm>
          </p:contentPart>
        </mc:Choice>
        <mc:Fallback xmlns=""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6DF104E0-52B1-0B2F-7AAC-87C48E6A4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383577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E8C6B71D-B81D-DE7E-540B-6B4ADFC1830B}"/>
              </a:ext>
            </a:extLst>
          </p:cNvPr>
          <p:cNvSpPr txBox="1"/>
          <p:nvPr/>
        </p:nvSpPr>
        <p:spPr>
          <a:xfrm>
            <a:off x="2172456" y="3965469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수수료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067A5C2A-D22C-EC36-7EEC-18425137C44F}"/>
                  </a:ext>
                </a:extLst>
              </p14:cNvPr>
              <p14:cNvContentPartPr/>
              <p14:nvPr/>
            </p14:nvContentPartPr>
            <p14:xfrm>
              <a:off x="2178989" y="4083872"/>
              <a:ext cx="360" cy="36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067A5C2A-D22C-EC36-7EEC-18425137C4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407487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96F838D9-D9D2-8394-12D0-F726893D62F9}"/>
              </a:ext>
            </a:extLst>
          </p:cNvPr>
          <p:cNvSpPr txBox="1"/>
          <p:nvPr/>
        </p:nvSpPr>
        <p:spPr>
          <a:xfrm>
            <a:off x="2172456" y="4202854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정산계좌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15FBCAA7-4E6F-FF20-B4B6-90C7B76087C3}"/>
                  </a:ext>
                </a:extLst>
              </p14:cNvPr>
              <p14:cNvContentPartPr/>
              <p14:nvPr/>
            </p14:nvContentPartPr>
            <p14:xfrm>
              <a:off x="2178989" y="4321257"/>
              <a:ext cx="360" cy="360"/>
            </p14:xfrm>
          </p:contentPart>
        </mc:Choice>
        <mc:Fallback xmlns=""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15FBCAA7-4E6F-FF20-B4B6-90C7B76087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431225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CF5659D0-1B96-410F-344C-DF835F9179B9}"/>
              </a:ext>
            </a:extLst>
          </p:cNvPr>
          <p:cNvSpPr txBox="1"/>
          <p:nvPr/>
        </p:nvSpPr>
        <p:spPr>
          <a:xfrm>
            <a:off x="2172456" y="4436771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결제한도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938133D0-985A-DE05-F32D-36AFE8CF7C0D}"/>
                  </a:ext>
                </a:extLst>
              </p14:cNvPr>
              <p14:cNvContentPartPr/>
              <p14:nvPr/>
            </p14:nvContentPartPr>
            <p14:xfrm>
              <a:off x="2178989" y="4555174"/>
              <a:ext cx="360" cy="360"/>
            </p14:xfrm>
          </p:contentPart>
        </mc:Choice>
        <mc:Fallback xmlns=""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938133D0-985A-DE05-F32D-36AFE8CF7C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454617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8473F11A-7CB7-179F-8A81-A537CB56ED5A}"/>
              </a:ext>
            </a:extLst>
          </p:cNvPr>
          <p:cNvSpPr txBox="1"/>
          <p:nvPr/>
        </p:nvSpPr>
        <p:spPr>
          <a:xfrm>
            <a:off x="2172456" y="5117835"/>
            <a:ext cx="908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대리점 코드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B033C7F9-B778-C5E8-3F70-9DEF6D654A09}"/>
                  </a:ext>
                </a:extLst>
              </p14:cNvPr>
              <p14:cNvContentPartPr/>
              <p14:nvPr/>
            </p14:nvContentPartPr>
            <p14:xfrm>
              <a:off x="2178989" y="5236238"/>
              <a:ext cx="360" cy="36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B033C7F9-B778-C5E8-3F70-9DEF6D654A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522723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40F52335-1C8C-7067-3210-275A3A8D2CB4}"/>
              </a:ext>
            </a:extLst>
          </p:cNvPr>
          <p:cNvSpPr txBox="1"/>
          <p:nvPr/>
        </p:nvSpPr>
        <p:spPr>
          <a:xfrm>
            <a:off x="2172455" y="5387734"/>
            <a:ext cx="1042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상세정보 수정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49DE9FB8-62F0-0B08-ED14-3BF6022D5967}"/>
                  </a:ext>
                </a:extLst>
              </p14:cNvPr>
              <p14:cNvContentPartPr/>
              <p14:nvPr/>
            </p14:nvContentPartPr>
            <p14:xfrm>
              <a:off x="2178989" y="5506137"/>
              <a:ext cx="360" cy="360"/>
            </p14:xfrm>
          </p:contentPart>
        </mc:Choice>
        <mc:Fallback xmlns=""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49DE9FB8-62F0-0B08-ED14-3BF6022D59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89" y="549713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AEF32409-76B0-7C65-766C-B6C91CE3CA63}"/>
              </a:ext>
            </a:extLst>
          </p:cNvPr>
          <p:cNvSpPr txBox="1"/>
          <p:nvPr/>
        </p:nvSpPr>
        <p:spPr>
          <a:xfrm>
            <a:off x="2172455" y="5631051"/>
            <a:ext cx="1521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 비밀번호 초기화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752D2B9F-00AB-4F5E-0FC8-2A2BD563E342}"/>
                  </a:ext>
                </a:extLst>
              </p14:cNvPr>
              <p14:cNvContentPartPr/>
              <p14:nvPr/>
            </p14:nvContentPartPr>
            <p14:xfrm>
              <a:off x="2178990" y="5749454"/>
              <a:ext cx="360" cy="360"/>
            </p14:xfrm>
          </p:contentPart>
        </mc:Choice>
        <mc:Fallback xmlns=""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752D2B9F-00AB-4F5E-0FC8-2A2BD563E3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90" y="574045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3E6ACA7B-9D7C-5CC6-09D7-98AA1695C396}"/>
              </a:ext>
            </a:extLst>
          </p:cNvPr>
          <p:cNvSpPr txBox="1"/>
          <p:nvPr/>
        </p:nvSpPr>
        <p:spPr>
          <a:xfrm>
            <a:off x="3829585" y="2797862"/>
            <a:ext cx="949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선택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F3F0AEB7-4996-E556-5CF0-5B8080F98C79}"/>
                  </a:ext>
                </a:extLst>
              </p14:cNvPr>
              <p14:cNvContentPartPr/>
              <p14:nvPr/>
            </p14:nvContentPartPr>
            <p14:xfrm>
              <a:off x="3836118" y="2916265"/>
              <a:ext cx="360" cy="360"/>
            </p14:xfrm>
          </p:contentPart>
        </mc:Choice>
        <mc:Fallback xmlns=""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F3F0AEB7-4996-E556-5CF0-5B8080F98C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7118" y="290726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D8E48C10-99DD-3210-2322-0AF11FCCA93B}"/>
              </a:ext>
            </a:extLst>
          </p:cNvPr>
          <p:cNvSpPr txBox="1"/>
          <p:nvPr/>
        </p:nvSpPr>
        <p:spPr>
          <a:xfrm>
            <a:off x="3836117" y="3023284"/>
            <a:ext cx="1146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블랙리스트 조회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EC9E96B9-1C4A-8DCD-03EE-06A210AC71AF}"/>
                  </a:ext>
                </a:extLst>
              </p14:cNvPr>
              <p14:cNvContentPartPr/>
              <p14:nvPr/>
            </p14:nvContentPartPr>
            <p14:xfrm>
              <a:off x="3842651" y="3141687"/>
              <a:ext cx="360" cy="360"/>
            </p14:xfrm>
          </p:contentPart>
        </mc:Choice>
        <mc:Fallback xmlns=""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EC9E96B9-1C4A-8DCD-03EE-06A210AC71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3651" y="313268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7481FAEE-520B-4715-884D-4A918C6462C5}"/>
              </a:ext>
            </a:extLst>
          </p:cNvPr>
          <p:cNvSpPr txBox="1"/>
          <p:nvPr/>
        </p:nvSpPr>
        <p:spPr>
          <a:xfrm>
            <a:off x="3836118" y="3254915"/>
            <a:ext cx="855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 생성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C3C33BBA-F6BC-DA27-88E6-324CFBA93726}"/>
                  </a:ext>
                </a:extLst>
              </p14:cNvPr>
              <p14:cNvContentPartPr/>
              <p14:nvPr/>
            </p14:nvContentPartPr>
            <p14:xfrm>
              <a:off x="3842651" y="3373318"/>
              <a:ext cx="360" cy="360"/>
            </p14:xfrm>
          </p:contentPart>
        </mc:Choice>
        <mc:Fallback xmlns=""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C3C33BBA-F6BC-DA27-88E6-324CFBA937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3651" y="336431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CC1448BA-B86D-98A2-0288-DA4078C03297}"/>
              </a:ext>
            </a:extLst>
          </p:cNvPr>
          <p:cNvSpPr txBox="1"/>
          <p:nvPr/>
        </p:nvSpPr>
        <p:spPr>
          <a:xfrm>
            <a:off x="3836117" y="3489651"/>
            <a:ext cx="12077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단건등록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741DE333-355D-7983-6663-AD570A78F3C2}"/>
                  </a:ext>
                </a:extLst>
              </p14:cNvPr>
              <p14:cNvContentPartPr/>
              <p14:nvPr/>
            </p14:nvContentPartPr>
            <p14:xfrm>
              <a:off x="3842651" y="3608054"/>
              <a:ext cx="360" cy="360"/>
            </p14:xfrm>
          </p:contentPart>
        </mc:Choice>
        <mc:Fallback xmlns=""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741DE333-355D-7983-6663-AD570A78F3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3651" y="359905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5693E6B7-71D7-741B-DB1A-04CBE5BACF23}"/>
              </a:ext>
            </a:extLst>
          </p:cNvPr>
          <p:cNvSpPr txBox="1"/>
          <p:nvPr/>
        </p:nvSpPr>
        <p:spPr>
          <a:xfrm>
            <a:off x="3829585" y="3732767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대량등록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B1BF039E-5C07-E249-3962-22905375D830}"/>
                  </a:ext>
                </a:extLst>
              </p14:cNvPr>
              <p14:cNvContentPartPr/>
              <p14:nvPr/>
            </p14:nvContentPartPr>
            <p14:xfrm>
              <a:off x="3836118" y="3851170"/>
              <a:ext cx="360" cy="36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B1BF039E-5C07-E249-3962-22905375D8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7118" y="384217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794FD30F-BB84-F8EA-408C-68FC42DC9137}"/>
              </a:ext>
            </a:extLst>
          </p:cNvPr>
          <p:cNvSpPr txBox="1"/>
          <p:nvPr/>
        </p:nvSpPr>
        <p:spPr>
          <a:xfrm>
            <a:off x="3819737" y="4408114"/>
            <a:ext cx="1084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상세정보 수정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FADC7480-36CF-5B57-8478-39A9B9C44FA1}"/>
                  </a:ext>
                </a:extLst>
              </p14:cNvPr>
              <p14:cNvContentPartPr/>
              <p14:nvPr/>
            </p14:nvContentPartPr>
            <p14:xfrm>
              <a:off x="3826270" y="4526517"/>
              <a:ext cx="360" cy="360"/>
            </p14:xfrm>
          </p:contentPart>
        </mc:Choice>
        <mc:Fallback xmlns=""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FADC7480-36CF-5B57-8478-39A9B9C44F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7270" y="451751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1E18A51C-4B4A-D67F-2EC6-8F1F4BA354F5}"/>
              </a:ext>
            </a:extLst>
          </p:cNvPr>
          <p:cNvSpPr txBox="1"/>
          <p:nvPr/>
        </p:nvSpPr>
        <p:spPr>
          <a:xfrm>
            <a:off x="3826269" y="4633536"/>
            <a:ext cx="1405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변경이력 자동기록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7" name="잉크 106">
                <a:extLst>
                  <a:ext uri="{FF2B5EF4-FFF2-40B4-BE49-F238E27FC236}">
                    <a16:creationId xmlns:a16="http://schemas.microsoft.com/office/drawing/2014/main" id="{90DF90D4-B8DB-8865-9ACA-9A319DC77936}"/>
                  </a:ext>
                </a:extLst>
              </p14:cNvPr>
              <p14:cNvContentPartPr/>
              <p14:nvPr/>
            </p14:nvContentPartPr>
            <p14:xfrm>
              <a:off x="3832803" y="4751939"/>
              <a:ext cx="360" cy="360"/>
            </p14:xfrm>
          </p:contentPart>
        </mc:Choice>
        <mc:Fallback xmlns="">
          <p:pic>
            <p:nvPicPr>
              <p:cNvPr id="107" name="잉크 106">
                <a:extLst>
                  <a:ext uri="{FF2B5EF4-FFF2-40B4-BE49-F238E27FC236}">
                    <a16:creationId xmlns:a16="http://schemas.microsoft.com/office/drawing/2014/main" id="{90DF90D4-B8DB-8865-9ACA-9A319DC779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803" y="474293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4C1F4660-F21A-5A1F-E205-27429351094A}"/>
              </a:ext>
            </a:extLst>
          </p:cNvPr>
          <p:cNvSpPr txBox="1"/>
          <p:nvPr/>
        </p:nvSpPr>
        <p:spPr>
          <a:xfrm>
            <a:off x="3826269" y="4865167"/>
            <a:ext cx="1525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 비밀번호 초기화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잉크 111">
                <a:extLst>
                  <a:ext uri="{FF2B5EF4-FFF2-40B4-BE49-F238E27FC236}">
                    <a16:creationId xmlns:a16="http://schemas.microsoft.com/office/drawing/2014/main" id="{EC2CF63C-6D92-2394-1390-2C5FB3B050EA}"/>
                  </a:ext>
                </a:extLst>
              </p14:cNvPr>
              <p14:cNvContentPartPr/>
              <p14:nvPr/>
            </p14:nvContentPartPr>
            <p14:xfrm>
              <a:off x="3832803" y="4983570"/>
              <a:ext cx="360" cy="360"/>
            </p14:xfrm>
          </p:contentPart>
        </mc:Choice>
        <mc:Fallback xmlns="">
          <p:pic>
            <p:nvPicPr>
              <p:cNvPr id="112" name="잉크 111">
                <a:extLst>
                  <a:ext uri="{FF2B5EF4-FFF2-40B4-BE49-F238E27FC236}">
                    <a16:creationId xmlns:a16="http://schemas.microsoft.com/office/drawing/2014/main" id="{EC2CF63C-6D92-2394-1390-2C5FB3B050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803" y="497457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5B9AD844-20B9-8EF0-F68F-B192D0913DF1}"/>
              </a:ext>
            </a:extLst>
          </p:cNvPr>
          <p:cNvSpPr txBox="1"/>
          <p:nvPr/>
        </p:nvSpPr>
        <p:spPr>
          <a:xfrm>
            <a:off x="3826269" y="5099903"/>
            <a:ext cx="12077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메모 등록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8" name="잉크 117">
                <a:extLst>
                  <a:ext uri="{FF2B5EF4-FFF2-40B4-BE49-F238E27FC236}">
                    <a16:creationId xmlns:a16="http://schemas.microsoft.com/office/drawing/2014/main" id="{725339EA-4C79-CAF1-43CB-BD0E78038304}"/>
                  </a:ext>
                </a:extLst>
              </p14:cNvPr>
              <p14:cNvContentPartPr/>
              <p14:nvPr/>
            </p14:nvContentPartPr>
            <p14:xfrm>
              <a:off x="3832803" y="5218306"/>
              <a:ext cx="360" cy="360"/>
            </p14:xfrm>
          </p:contentPart>
        </mc:Choice>
        <mc:Fallback xmlns="">
          <p:pic>
            <p:nvPicPr>
              <p:cNvPr id="118" name="잉크 117">
                <a:extLst>
                  <a:ext uri="{FF2B5EF4-FFF2-40B4-BE49-F238E27FC236}">
                    <a16:creationId xmlns:a16="http://schemas.microsoft.com/office/drawing/2014/main" id="{725339EA-4C79-CAF1-43CB-BD0E78038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803" y="520930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22D2EFB4-5D7E-740D-A656-7473D7C6ABB8}"/>
              </a:ext>
            </a:extLst>
          </p:cNvPr>
          <p:cNvSpPr txBox="1"/>
          <p:nvPr/>
        </p:nvSpPr>
        <p:spPr>
          <a:xfrm>
            <a:off x="3819737" y="5343019"/>
            <a:ext cx="1632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등록파일 확인 및 업로드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29ECC597-3EF3-57E9-DFD7-0C4634F4A0FF}"/>
                  </a:ext>
                </a:extLst>
              </p14:cNvPr>
              <p14:cNvContentPartPr/>
              <p14:nvPr/>
            </p14:nvContentPartPr>
            <p14:xfrm>
              <a:off x="3826270" y="5461422"/>
              <a:ext cx="360" cy="360"/>
            </p14:xfrm>
          </p:contentPart>
        </mc:Choice>
        <mc:Fallback xmlns=""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29ECC597-3EF3-57E9-DFD7-0C4634F4A0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7270" y="545242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103A1F0E-DDBF-881D-D04D-D2EA8F6BA725}"/>
              </a:ext>
            </a:extLst>
          </p:cNvPr>
          <p:cNvSpPr txBox="1"/>
          <p:nvPr/>
        </p:nvSpPr>
        <p:spPr>
          <a:xfrm>
            <a:off x="3815815" y="6032699"/>
            <a:ext cx="1315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영업점별 목록 확인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2" name="잉크 121">
                <a:extLst>
                  <a:ext uri="{FF2B5EF4-FFF2-40B4-BE49-F238E27FC236}">
                    <a16:creationId xmlns:a16="http://schemas.microsoft.com/office/drawing/2014/main" id="{2AEFEE2E-3458-42E5-734A-EC318C7D7210}"/>
                  </a:ext>
                </a:extLst>
              </p14:cNvPr>
              <p14:cNvContentPartPr/>
              <p14:nvPr/>
            </p14:nvContentPartPr>
            <p14:xfrm>
              <a:off x="3822348" y="6151102"/>
              <a:ext cx="360" cy="360"/>
            </p14:xfrm>
          </p:contentPart>
        </mc:Choice>
        <mc:Fallback xmlns="">
          <p:pic>
            <p:nvPicPr>
              <p:cNvPr id="122" name="잉크 121">
                <a:extLst>
                  <a:ext uri="{FF2B5EF4-FFF2-40B4-BE49-F238E27FC236}">
                    <a16:creationId xmlns:a16="http://schemas.microsoft.com/office/drawing/2014/main" id="{2AEFEE2E-3458-42E5-734A-EC318C7D72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3348" y="614210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A2DFA8C3-4BC3-424F-E5F4-9BD8B8E4CC90}"/>
              </a:ext>
            </a:extLst>
          </p:cNvPr>
          <p:cNvSpPr txBox="1"/>
          <p:nvPr/>
        </p:nvSpPr>
        <p:spPr>
          <a:xfrm>
            <a:off x="3815815" y="6279123"/>
            <a:ext cx="1632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엑셀 다운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877B07F8-7F8A-6C56-475B-981010C049F6}"/>
                  </a:ext>
                </a:extLst>
              </p14:cNvPr>
              <p14:cNvContentPartPr/>
              <p14:nvPr/>
            </p14:nvContentPartPr>
            <p14:xfrm>
              <a:off x="3822348" y="6397526"/>
              <a:ext cx="360" cy="360"/>
            </p14:xfrm>
          </p:contentPart>
        </mc:Choice>
        <mc:Fallback xmlns=""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877B07F8-7F8A-6C56-475B-981010C04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3348" y="638852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4A4D1882-61FC-898B-554E-F8BE951A19BF}"/>
              </a:ext>
            </a:extLst>
          </p:cNvPr>
          <p:cNvSpPr txBox="1"/>
          <p:nvPr/>
        </p:nvSpPr>
        <p:spPr>
          <a:xfrm>
            <a:off x="5489620" y="2797862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정산실패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재지급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ED10148F-55F6-EF17-2889-754E8F4DB4DA}"/>
                  </a:ext>
                </a:extLst>
              </p14:cNvPr>
              <p14:cNvContentPartPr/>
              <p14:nvPr/>
            </p14:nvContentPartPr>
            <p14:xfrm>
              <a:off x="5496154" y="2916265"/>
              <a:ext cx="360" cy="360"/>
            </p14:xfrm>
          </p:contentPart>
        </mc:Choice>
        <mc:Fallback xmlns=""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ED10148F-55F6-EF17-2889-754E8F4DB4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7154" y="290726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02B4837B-B52C-3181-B73D-934A10BC6D33}"/>
              </a:ext>
            </a:extLst>
          </p:cNvPr>
          <p:cNvSpPr txBox="1"/>
          <p:nvPr/>
        </p:nvSpPr>
        <p:spPr>
          <a:xfrm>
            <a:off x="5496153" y="3023284"/>
            <a:ext cx="189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계산수식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(ROUNDDOWN)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잉크 127">
                <a:extLst>
                  <a:ext uri="{FF2B5EF4-FFF2-40B4-BE49-F238E27FC236}">
                    <a16:creationId xmlns:a16="http://schemas.microsoft.com/office/drawing/2014/main" id="{B4007B8A-1AA5-61B3-9B55-6AB5D36C6ABA}"/>
                  </a:ext>
                </a:extLst>
              </p14:cNvPr>
              <p14:cNvContentPartPr/>
              <p14:nvPr/>
            </p14:nvContentPartPr>
            <p14:xfrm>
              <a:off x="5502687" y="3141687"/>
              <a:ext cx="360" cy="360"/>
            </p14:xfrm>
          </p:contentPart>
        </mc:Choice>
        <mc:Fallback xmlns="">
          <p:pic>
            <p:nvPicPr>
              <p:cNvPr id="128" name="잉크 127">
                <a:extLst>
                  <a:ext uri="{FF2B5EF4-FFF2-40B4-BE49-F238E27FC236}">
                    <a16:creationId xmlns:a16="http://schemas.microsoft.com/office/drawing/2014/main" id="{B4007B8A-1AA5-61B3-9B55-6AB5D36C6A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3687" y="313268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469247C4-3C1C-7177-1B77-4BC5D1497AFF}"/>
              </a:ext>
            </a:extLst>
          </p:cNvPr>
          <p:cNvSpPr txBox="1"/>
          <p:nvPr/>
        </p:nvSpPr>
        <p:spPr>
          <a:xfrm>
            <a:off x="5496878" y="3643797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정산실패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재지급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1" name="잉크 130">
                <a:extLst>
                  <a:ext uri="{FF2B5EF4-FFF2-40B4-BE49-F238E27FC236}">
                    <a16:creationId xmlns:a16="http://schemas.microsoft.com/office/drawing/2014/main" id="{288A105B-2C2E-1F1F-C803-F84064CD99B3}"/>
                  </a:ext>
                </a:extLst>
              </p14:cNvPr>
              <p14:cNvContentPartPr/>
              <p14:nvPr/>
            </p14:nvContentPartPr>
            <p14:xfrm>
              <a:off x="5503412" y="3762200"/>
              <a:ext cx="360" cy="360"/>
            </p14:xfrm>
          </p:contentPart>
        </mc:Choice>
        <mc:Fallback xmlns="">
          <p:pic>
            <p:nvPicPr>
              <p:cNvPr id="131" name="잉크 130">
                <a:extLst>
                  <a:ext uri="{FF2B5EF4-FFF2-40B4-BE49-F238E27FC236}">
                    <a16:creationId xmlns:a16="http://schemas.microsoft.com/office/drawing/2014/main" id="{288A105B-2C2E-1F1F-C803-F84064CD9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4412" y="375320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507766D4-8EA5-832B-0091-B003E6972055}"/>
              </a:ext>
            </a:extLst>
          </p:cNvPr>
          <p:cNvSpPr txBox="1"/>
          <p:nvPr/>
        </p:nvSpPr>
        <p:spPr>
          <a:xfrm>
            <a:off x="5503411" y="3869219"/>
            <a:ext cx="189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계산수식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(ROUNDDOWN)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3" name="잉크 132">
                <a:extLst>
                  <a:ext uri="{FF2B5EF4-FFF2-40B4-BE49-F238E27FC236}">
                    <a16:creationId xmlns:a16="http://schemas.microsoft.com/office/drawing/2014/main" id="{417B4652-ADEA-F8EA-A594-02E8D9804866}"/>
                  </a:ext>
                </a:extLst>
              </p14:cNvPr>
              <p14:cNvContentPartPr/>
              <p14:nvPr/>
            </p14:nvContentPartPr>
            <p14:xfrm>
              <a:off x="5509945" y="3987622"/>
              <a:ext cx="360" cy="360"/>
            </p14:xfrm>
          </p:contentPart>
        </mc:Choice>
        <mc:Fallback xmlns="">
          <p:pic>
            <p:nvPicPr>
              <p:cNvPr id="133" name="잉크 132">
                <a:extLst>
                  <a:ext uri="{FF2B5EF4-FFF2-40B4-BE49-F238E27FC236}">
                    <a16:creationId xmlns:a16="http://schemas.microsoft.com/office/drawing/2014/main" id="{417B4652-ADEA-F8EA-A594-02E8D98048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0945" y="397862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06C0A80-6E13-11A3-93E4-492BC33A2D3D}"/>
              </a:ext>
            </a:extLst>
          </p:cNvPr>
          <p:cNvSpPr txBox="1"/>
          <p:nvPr/>
        </p:nvSpPr>
        <p:spPr>
          <a:xfrm>
            <a:off x="7326330" y="2786756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단건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등록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5" name="잉크 134">
                <a:extLst>
                  <a:ext uri="{FF2B5EF4-FFF2-40B4-BE49-F238E27FC236}">
                    <a16:creationId xmlns:a16="http://schemas.microsoft.com/office/drawing/2014/main" id="{83160FDE-65E7-9679-B487-18CA7DFD93E4}"/>
                  </a:ext>
                </a:extLst>
              </p14:cNvPr>
              <p14:cNvContentPartPr/>
              <p14:nvPr/>
            </p14:nvContentPartPr>
            <p14:xfrm>
              <a:off x="7332864" y="2905159"/>
              <a:ext cx="360" cy="360"/>
            </p14:xfrm>
          </p:contentPart>
        </mc:Choice>
        <mc:Fallback xmlns="">
          <p:pic>
            <p:nvPicPr>
              <p:cNvPr id="135" name="잉크 134">
                <a:extLst>
                  <a:ext uri="{FF2B5EF4-FFF2-40B4-BE49-F238E27FC236}">
                    <a16:creationId xmlns:a16="http://schemas.microsoft.com/office/drawing/2014/main" id="{83160FDE-65E7-9679-B487-18CA7DFD93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3864" y="289615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8BF0182D-6AB5-1875-4110-0DB1C14D07CE}"/>
              </a:ext>
            </a:extLst>
          </p:cNvPr>
          <p:cNvSpPr txBox="1"/>
          <p:nvPr/>
        </p:nvSpPr>
        <p:spPr>
          <a:xfrm>
            <a:off x="7332863" y="3012178"/>
            <a:ext cx="1895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대량 등록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Samplefile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제공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7" name="잉크 136">
                <a:extLst>
                  <a:ext uri="{FF2B5EF4-FFF2-40B4-BE49-F238E27FC236}">
                    <a16:creationId xmlns:a16="http://schemas.microsoft.com/office/drawing/2014/main" id="{7A94BC8B-9A5F-01B7-7D0B-1284D37C92F2}"/>
                  </a:ext>
                </a:extLst>
              </p14:cNvPr>
              <p14:cNvContentPartPr/>
              <p14:nvPr/>
            </p14:nvContentPartPr>
            <p14:xfrm>
              <a:off x="7339397" y="3130581"/>
              <a:ext cx="360" cy="360"/>
            </p14:xfrm>
          </p:contentPart>
        </mc:Choice>
        <mc:Fallback xmlns="">
          <p:pic>
            <p:nvPicPr>
              <p:cNvPr id="137" name="잉크 136">
                <a:extLst>
                  <a:ext uri="{FF2B5EF4-FFF2-40B4-BE49-F238E27FC236}">
                    <a16:creationId xmlns:a16="http://schemas.microsoft.com/office/drawing/2014/main" id="{7A94BC8B-9A5F-01B7-7D0B-1284D37C92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0397" y="312158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90243572-7301-9C82-7845-FE5EE4AF2A05}"/>
              </a:ext>
            </a:extLst>
          </p:cNvPr>
          <p:cNvSpPr txBox="1"/>
          <p:nvPr/>
        </p:nvSpPr>
        <p:spPr>
          <a:xfrm>
            <a:off x="7335661" y="3393245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잔액 실시간 조회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0" name="잉크 139">
                <a:extLst>
                  <a:ext uri="{FF2B5EF4-FFF2-40B4-BE49-F238E27FC236}">
                    <a16:creationId xmlns:a16="http://schemas.microsoft.com/office/drawing/2014/main" id="{50AC53D2-7AC5-AD0E-6FF5-59744D3C7E27}"/>
                  </a:ext>
                </a:extLst>
              </p14:cNvPr>
              <p14:cNvContentPartPr/>
              <p14:nvPr/>
            </p14:nvContentPartPr>
            <p14:xfrm>
              <a:off x="7342195" y="3511648"/>
              <a:ext cx="360" cy="360"/>
            </p14:xfrm>
          </p:contentPart>
        </mc:Choice>
        <mc:Fallback xmlns="">
          <p:pic>
            <p:nvPicPr>
              <p:cNvPr id="140" name="잉크 139">
                <a:extLst>
                  <a:ext uri="{FF2B5EF4-FFF2-40B4-BE49-F238E27FC236}">
                    <a16:creationId xmlns:a16="http://schemas.microsoft.com/office/drawing/2014/main" id="{50AC53D2-7AC5-AD0E-6FF5-59744D3C7E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3195" y="35026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A4B05EC3-49EA-BBDC-761D-FEF06D13F21C}"/>
              </a:ext>
            </a:extLst>
          </p:cNvPr>
          <p:cNvSpPr txBox="1"/>
          <p:nvPr/>
        </p:nvSpPr>
        <p:spPr>
          <a:xfrm>
            <a:off x="7344984" y="4075270"/>
            <a:ext cx="1295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지급실패 사유확인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2" name="잉크 141">
                <a:extLst>
                  <a:ext uri="{FF2B5EF4-FFF2-40B4-BE49-F238E27FC236}">
                    <a16:creationId xmlns:a16="http://schemas.microsoft.com/office/drawing/2014/main" id="{F1E00CEE-0CB6-E77D-F13E-C06F87077A03}"/>
                  </a:ext>
                </a:extLst>
              </p14:cNvPr>
              <p14:cNvContentPartPr/>
              <p14:nvPr/>
            </p14:nvContentPartPr>
            <p14:xfrm>
              <a:off x="7351519" y="4193673"/>
              <a:ext cx="360" cy="360"/>
            </p14:xfrm>
          </p:contentPart>
        </mc:Choice>
        <mc:Fallback xmlns="">
          <p:pic>
            <p:nvPicPr>
              <p:cNvPr id="142" name="잉크 141">
                <a:extLst>
                  <a:ext uri="{FF2B5EF4-FFF2-40B4-BE49-F238E27FC236}">
                    <a16:creationId xmlns:a16="http://schemas.microsoft.com/office/drawing/2014/main" id="{F1E00CEE-0CB6-E77D-F13E-C06F87077A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2519" y="418467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489729E4-C988-4076-8F16-E5E3DD40F013}"/>
              </a:ext>
            </a:extLst>
          </p:cNvPr>
          <p:cNvSpPr txBox="1"/>
          <p:nvPr/>
        </p:nvSpPr>
        <p:spPr>
          <a:xfrm>
            <a:off x="7351519" y="4300692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지급실패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재지급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4" name="잉크 143">
                <a:extLst>
                  <a:ext uri="{FF2B5EF4-FFF2-40B4-BE49-F238E27FC236}">
                    <a16:creationId xmlns:a16="http://schemas.microsoft.com/office/drawing/2014/main" id="{83A81A58-1458-A550-A2C6-C93CD2092526}"/>
                  </a:ext>
                </a:extLst>
              </p14:cNvPr>
              <p14:cNvContentPartPr/>
              <p14:nvPr/>
            </p14:nvContentPartPr>
            <p14:xfrm>
              <a:off x="7358051" y="4419095"/>
              <a:ext cx="45719" cy="360"/>
            </p14:xfrm>
          </p:contentPart>
        </mc:Choice>
        <mc:Fallback xmlns="">
          <p:pic>
            <p:nvPicPr>
              <p:cNvPr id="144" name="잉크 143">
                <a:extLst>
                  <a:ext uri="{FF2B5EF4-FFF2-40B4-BE49-F238E27FC236}">
                    <a16:creationId xmlns:a16="http://schemas.microsoft.com/office/drawing/2014/main" id="{83A81A58-1458-A550-A2C6-C93CD20925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9057" y="4410095"/>
                <a:ext cx="64082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9" name="TextBox 148">
            <a:extLst>
              <a:ext uri="{FF2B5EF4-FFF2-40B4-BE49-F238E27FC236}">
                <a16:creationId xmlns:a16="http://schemas.microsoft.com/office/drawing/2014/main" id="{BD13646F-0973-BAA0-C37E-BF82149450A1}"/>
              </a:ext>
            </a:extLst>
          </p:cNvPr>
          <p:cNvSpPr txBox="1"/>
          <p:nvPr/>
        </p:nvSpPr>
        <p:spPr>
          <a:xfrm>
            <a:off x="8999577" y="2820482"/>
            <a:ext cx="1019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MMS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와 유사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DDA9B21C-DC29-A3D6-E971-36D55F1B2873}"/>
                  </a:ext>
                </a:extLst>
              </p14:cNvPr>
              <p14:cNvContentPartPr/>
              <p14:nvPr/>
            </p14:nvContentPartPr>
            <p14:xfrm>
              <a:off x="9006110" y="2938885"/>
              <a:ext cx="360" cy="360"/>
            </p14:xfrm>
          </p:contentPart>
        </mc:Choice>
        <mc:Fallback xmlns="">
          <p:pic>
            <p:nvPicPr>
              <p:cNvPr id="150" name="잉크 149">
                <a:extLst>
                  <a:ext uri="{FF2B5EF4-FFF2-40B4-BE49-F238E27FC236}">
                    <a16:creationId xmlns:a16="http://schemas.microsoft.com/office/drawing/2014/main" id="{DDA9B21C-DC29-A3D6-E971-36D55F1B28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97110" y="292988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1" name="TextBox 150">
            <a:extLst>
              <a:ext uri="{FF2B5EF4-FFF2-40B4-BE49-F238E27FC236}">
                <a16:creationId xmlns:a16="http://schemas.microsoft.com/office/drawing/2014/main" id="{61AC306B-AB0C-29CF-DD73-86C03C2ACBFE}"/>
              </a:ext>
            </a:extLst>
          </p:cNvPr>
          <p:cNvSpPr txBox="1"/>
          <p:nvPr/>
        </p:nvSpPr>
        <p:spPr>
          <a:xfrm>
            <a:off x="8980916" y="357838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MMS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와 유사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2" name="잉크 151">
                <a:extLst>
                  <a:ext uri="{FF2B5EF4-FFF2-40B4-BE49-F238E27FC236}">
                    <a16:creationId xmlns:a16="http://schemas.microsoft.com/office/drawing/2014/main" id="{926A6B0F-5B49-F93A-A03C-8D2FB013E2F5}"/>
                  </a:ext>
                </a:extLst>
              </p14:cNvPr>
              <p14:cNvContentPartPr/>
              <p14:nvPr/>
            </p14:nvContentPartPr>
            <p14:xfrm>
              <a:off x="8987449" y="3696784"/>
              <a:ext cx="360" cy="360"/>
            </p14:xfrm>
          </p:contentPart>
        </mc:Choice>
        <mc:Fallback xmlns="">
          <p:pic>
            <p:nvPicPr>
              <p:cNvPr id="152" name="잉크 151">
                <a:extLst>
                  <a:ext uri="{FF2B5EF4-FFF2-40B4-BE49-F238E27FC236}">
                    <a16:creationId xmlns:a16="http://schemas.microsoft.com/office/drawing/2014/main" id="{926A6B0F-5B49-F93A-A03C-8D2FB013E2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8449" y="368778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5" name="TextBox 154">
            <a:extLst>
              <a:ext uri="{FF2B5EF4-FFF2-40B4-BE49-F238E27FC236}">
                <a16:creationId xmlns:a16="http://schemas.microsoft.com/office/drawing/2014/main" id="{11E21A9B-BFDC-DD72-BFC8-FF34CB984602}"/>
              </a:ext>
            </a:extLst>
          </p:cNvPr>
          <p:cNvSpPr txBox="1"/>
          <p:nvPr/>
        </p:nvSpPr>
        <p:spPr>
          <a:xfrm>
            <a:off x="10916638" y="2852936"/>
            <a:ext cx="122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정책변경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안내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6" name="잉크 155">
                <a:extLst>
                  <a:ext uri="{FF2B5EF4-FFF2-40B4-BE49-F238E27FC236}">
                    <a16:creationId xmlns:a16="http://schemas.microsoft.com/office/drawing/2014/main" id="{F4024641-D7E7-9E3D-5076-75B06AB0CF42}"/>
                  </a:ext>
                </a:extLst>
              </p14:cNvPr>
              <p14:cNvContentPartPr/>
              <p14:nvPr/>
            </p14:nvContentPartPr>
            <p14:xfrm>
              <a:off x="10923171" y="2971339"/>
              <a:ext cx="360" cy="360"/>
            </p14:xfrm>
          </p:contentPart>
        </mc:Choice>
        <mc:Fallback xmlns="">
          <p:pic>
            <p:nvPicPr>
              <p:cNvPr id="156" name="잉크 155">
                <a:extLst>
                  <a:ext uri="{FF2B5EF4-FFF2-40B4-BE49-F238E27FC236}">
                    <a16:creationId xmlns:a16="http://schemas.microsoft.com/office/drawing/2014/main" id="{F4024641-D7E7-9E3D-5076-75B06AB0CF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4171" y="296233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76090224-2A96-37BB-C26E-3343B5316201}"/>
              </a:ext>
            </a:extLst>
          </p:cNvPr>
          <p:cNvSpPr txBox="1"/>
          <p:nvPr/>
        </p:nvSpPr>
        <p:spPr>
          <a:xfrm>
            <a:off x="10916638" y="3076633"/>
            <a:ext cx="122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FAQ</a:t>
            </a:r>
            <a:endParaRPr lang="ko-KR" altLang="en-US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8" name="잉크 157">
                <a:extLst>
                  <a:ext uri="{FF2B5EF4-FFF2-40B4-BE49-F238E27FC236}">
                    <a16:creationId xmlns:a16="http://schemas.microsoft.com/office/drawing/2014/main" id="{6CE3D433-C286-FB33-18D7-3FB47DF90208}"/>
                  </a:ext>
                </a:extLst>
              </p14:cNvPr>
              <p14:cNvContentPartPr/>
              <p14:nvPr/>
            </p14:nvContentPartPr>
            <p14:xfrm>
              <a:off x="10923171" y="3195036"/>
              <a:ext cx="360" cy="360"/>
            </p14:xfrm>
          </p:contentPart>
        </mc:Choice>
        <mc:Fallback xmlns="">
          <p:pic>
            <p:nvPicPr>
              <p:cNvPr id="158" name="잉크 157">
                <a:extLst>
                  <a:ext uri="{FF2B5EF4-FFF2-40B4-BE49-F238E27FC236}">
                    <a16:creationId xmlns:a16="http://schemas.microsoft.com/office/drawing/2014/main" id="{6CE3D433-C286-FB33-18D7-3FB47DF902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4171" y="318603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9" name="TextBox 158">
            <a:extLst>
              <a:ext uri="{FF2B5EF4-FFF2-40B4-BE49-F238E27FC236}">
                <a16:creationId xmlns:a16="http://schemas.microsoft.com/office/drawing/2014/main" id="{AD1BB921-010B-75E8-E567-D8513E291F44}"/>
              </a:ext>
            </a:extLst>
          </p:cNvPr>
          <p:cNvSpPr txBox="1"/>
          <p:nvPr/>
        </p:nvSpPr>
        <p:spPr>
          <a:xfrm>
            <a:off x="10893567" y="3711798"/>
            <a:ext cx="777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계정생성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0" name="잉크 159">
                <a:extLst>
                  <a:ext uri="{FF2B5EF4-FFF2-40B4-BE49-F238E27FC236}">
                    <a16:creationId xmlns:a16="http://schemas.microsoft.com/office/drawing/2014/main" id="{CB9B550F-9BE8-3728-81C5-51B7692C21CD}"/>
                  </a:ext>
                </a:extLst>
              </p14:cNvPr>
              <p14:cNvContentPartPr/>
              <p14:nvPr/>
            </p14:nvContentPartPr>
            <p14:xfrm>
              <a:off x="10900100" y="3830201"/>
              <a:ext cx="360" cy="360"/>
            </p14:xfrm>
          </p:contentPart>
        </mc:Choice>
        <mc:Fallback xmlns="">
          <p:pic>
            <p:nvPicPr>
              <p:cNvPr id="160" name="잉크 159">
                <a:extLst>
                  <a:ext uri="{FF2B5EF4-FFF2-40B4-BE49-F238E27FC236}">
                    <a16:creationId xmlns:a16="http://schemas.microsoft.com/office/drawing/2014/main" id="{CB9B550F-9BE8-3728-81C5-51B7692C21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1100" y="382120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025F2F2D-F0BD-A709-E0F1-AB4B9378C0E0}"/>
              </a:ext>
            </a:extLst>
          </p:cNvPr>
          <p:cNvSpPr txBox="1"/>
          <p:nvPr/>
        </p:nvSpPr>
        <p:spPr>
          <a:xfrm>
            <a:off x="10893567" y="4480922"/>
            <a:ext cx="777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개발연동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09681538-0A24-A166-078F-924C1A854221}"/>
                  </a:ext>
                </a:extLst>
              </p14:cNvPr>
              <p14:cNvContentPartPr/>
              <p14:nvPr/>
            </p14:nvContentPartPr>
            <p14:xfrm>
              <a:off x="10900100" y="4599325"/>
              <a:ext cx="360" cy="36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09681538-0A24-A166-078F-924C1A8542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1100" y="459032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518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082C-B66F-0E6A-74C1-30F06818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8A3E915-6DFC-0E7A-7883-BCFDAB2D1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52353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우대사업자 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카테고리 생성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표기해놓은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화면과 같이 대시보드 구성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331CCB5A-5159-6054-1074-2F629F4D4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- 1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67F4A41-0B28-7415-B7B0-5529F379F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E60A5C8-C9AB-BA11-511C-959EF866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C4A0337-9ABA-9DD6-6B39-CB5521299F82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C0AF8D3-9096-AB6B-8807-079D5DBAD8D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362E87A-A565-07D6-3D5A-963B576A0F12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F2CC36-1765-CF7F-E48C-A8234ECB3F47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512696-0D11-8D00-970E-5C4EA73F6C9E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EEC399-4351-E69C-540E-1A4C709209CB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6E17DB-1BF8-0ACF-8CF4-D21BE1B14DB3}"/>
              </a:ext>
            </a:extLst>
          </p:cNvPr>
          <p:cNvSpPr txBox="1"/>
          <p:nvPr/>
        </p:nvSpPr>
        <p:spPr>
          <a:xfrm>
            <a:off x="420504" y="352743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2D69E8-C0B0-3937-8C9B-282D0C2803B1}"/>
              </a:ext>
            </a:extLst>
          </p:cNvPr>
          <p:cNvSpPr txBox="1"/>
          <p:nvPr/>
        </p:nvSpPr>
        <p:spPr>
          <a:xfrm>
            <a:off x="132472" y="3481263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8293B-D7F3-DC4F-F738-7FBCF889055C}"/>
              </a:ext>
            </a:extLst>
          </p:cNvPr>
          <p:cNvSpPr txBox="1"/>
          <p:nvPr/>
        </p:nvSpPr>
        <p:spPr>
          <a:xfrm>
            <a:off x="874312" y="351468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40E8BD-E3AF-B5D4-FF62-64C3549A9B0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CCA0F0-47DA-2269-72B6-F8B506531F85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69F591-9773-AF04-944C-2F01DCB7736B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8C23C8-D5A5-9D06-54B6-923028071287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B900EC-A1C5-B182-10C2-DD95C1D937AC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56BB9E-EF55-1339-E142-53CFB2063556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07E477-3EF1-F42D-01A2-DEBE3425723C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CB5D42-8287-7044-58EF-489474A427B2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1024F3-8E84-CB72-A6A3-8F9902B7E379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6AC2224-0768-8F8C-D45E-CDCBAF72C8A5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B98FEF1-3906-AABE-17B0-CE5604051B89}"/>
              </a:ext>
            </a:extLst>
          </p:cNvPr>
          <p:cNvSpPr txBox="1"/>
          <p:nvPr/>
        </p:nvSpPr>
        <p:spPr>
          <a:xfrm>
            <a:off x="129512" y="314679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460CCE-9096-FE18-238F-F722D176BE99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4B8FAC-A071-D189-4856-87381E168D14}"/>
              </a:ext>
            </a:extLst>
          </p:cNvPr>
          <p:cNvSpPr txBox="1"/>
          <p:nvPr/>
        </p:nvSpPr>
        <p:spPr>
          <a:xfrm>
            <a:off x="873727" y="323630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4643E-B7F0-2EEC-7D35-C839831FE9AA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9BAD80-AF49-2872-76D9-CCE586171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C7DF904-B00F-7768-8E1B-4B405E2EE788}"/>
              </a:ext>
            </a:extLst>
          </p:cNvPr>
          <p:cNvSpPr/>
          <p:nvPr/>
        </p:nvSpPr>
        <p:spPr bwMode="auto">
          <a:xfrm>
            <a:off x="1731417" y="3953727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상위 매출 순위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01D5C6-37C4-361B-0C97-08BBE343E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54929"/>
              </p:ext>
            </p:extLst>
          </p:nvPr>
        </p:nvGraphicFramePr>
        <p:xfrm>
          <a:off x="1720802" y="4255182"/>
          <a:ext cx="32033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806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637331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94543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94543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89173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취소금액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결제금액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331,830,530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17,035,500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314,795,030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237,117,313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5,050,000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232,067,313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101,835,301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830,500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101,004,801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014B944-EC0B-FC85-9BFF-879766995D98}"/>
              </a:ext>
            </a:extLst>
          </p:cNvPr>
          <p:cNvSpPr/>
          <p:nvPr/>
        </p:nvSpPr>
        <p:spPr bwMode="auto">
          <a:xfrm>
            <a:off x="4334677" y="4026082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4C4A9A-01AC-EABE-4DE7-2115725633E2}"/>
              </a:ext>
            </a:extLst>
          </p:cNvPr>
          <p:cNvSpPr/>
          <p:nvPr/>
        </p:nvSpPr>
        <p:spPr bwMode="auto">
          <a:xfrm>
            <a:off x="5303912" y="3953727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객단가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순위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6CCA097-E2BF-6EA2-FB42-F0F83CE71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40316"/>
              </p:ext>
            </p:extLst>
          </p:nvPr>
        </p:nvGraphicFramePr>
        <p:xfrm>
          <a:off x="5303911" y="4252045"/>
          <a:ext cx="2477101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61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918038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1000450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객단가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357,300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1,153,030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48,070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20F44B-19DB-54A0-159E-59E9D78B4343}"/>
              </a:ext>
            </a:extLst>
          </p:cNvPr>
          <p:cNvSpPr/>
          <p:nvPr/>
        </p:nvSpPr>
        <p:spPr bwMode="auto">
          <a:xfrm>
            <a:off x="7185991" y="4042387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09A59F7-E12A-8E19-667B-C898A050A13C}"/>
              </a:ext>
            </a:extLst>
          </p:cNvPr>
          <p:cNvSpPr/>
          <p:nvPr/>
        </p:nvSpPr>
        <p:spPr bwMode="auto">
          <a:xfrm>
            <a:off x="1731417" y="5318426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매출 급상승 순위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71AE89A-90A2-1E54-D692-C03664B3C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74485"/>
              </p:ext>
            </p:extLst>
          </p:nvPr>
        </p:nvGraphicFramePr>
        <p:xfrm>
          <a:off x="1737236" y="5628338"/>
          <a:ext cx="29774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92387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33521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전일대비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전주대비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전월대비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3C16E4B-E14F-C600-3766-8D8B63EEA74E}"/>
              </a:ext>
            </a:extLst>
          </p:cNvPr>
          <p:cNvSpPr/>
          <p:nvPr/>
        </p:nvSpPr>
        <p:spPr bwMode="auto">
          <a:xfrm>
            <a:off x="4079776" y="5405864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8FE268E-C83E-8A0A-B520-36BDDCC94892}"/>
              </a:ext>
            </a:extLst>
          </p:cNvPr>
          <p:cNvSpPr/>
          <p:nvPr/>
        </p:nvSpPr>
        <p:spPr bwMode="auto">
          <a:xfrm>
            <a:off x="4818226" y="5318426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매출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급하락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순위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089B722-BC77-76E2-173B-F471F22FB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382047"/>
              </p:ext>
            </p:extLst>
          </p:nvPr>
        </p:nvGraphicFramePr>
        <p:xfrm>
          <a:off x="4824045" y="5628338"/>
          <a:ext cx="29774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92387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33521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전일대비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전주대비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전월대비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0155F5E-1FF7-82BD-5A0D-3E91EE06D617}"/>
              </a:ext>
            </a:extLst>
          </p:cNvPr>
          <p:cNvSpPr/>
          <p:nvPr/>
        </p:nvSpPr>
        <p:spPr bwMode="auto">
          <a:xfrm>
            <a:off x="7166585" y="5405864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AD83D46-480C-E956-DBDA-0B4ED17CDEA5}"/>
              </a:ext>
            </a:extLst>
          </p:cNvPr>
          <p:cNvSpPr/>
          <p:nvPr/>
        </p:nvSpPr>
        <p:spPr bwMode="auto">
          <a:xfrm>
            <a:off x="4147731" y="1749472"/>
            <a:ext cx="3653809" cy="210972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캘린더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C4E061A-DABB-AC0F-72FD-DB146DD32A58}"/>
              </a:ext>
            </a:extLst>
          </p:cNvPr>
          <p:cNvSpPr/>
          <p:nvPr/>
        </p:nvSpPr>
        <p:spPr bwMode="auto">
          <a:xfrm>
            <a:off x="1722032" y="1749472"/>
            <a:ext cx="2004794" cy="97891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현재매출 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객단가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82B7E6C-31C6-EE11-1EA3-6DB14DE7BD21}"/>
              </a:ext>
            </a:extLst>
          </p:cNvPr>
          <p:cNvSpPr/>
          <p:nvPr/>
        </p:nvSpPr>
        <p:spPr bwMode="auto">
          <a:xfrm>
            <a:off x="1730382" y="2884767"/>
            <a:ext cx="2004794" cy="97891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2E991-F3C3-FAD6-1C9A-BE2CD7B7E3AB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695C99-0ED0-49C5-372D-173751D9B397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46F718-C059-8823-D293-C6981D456070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63941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85C3-4F1B-4C2F-D7B7-18955617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419D3DE-BF82-A467-6B67-0F8C6B691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25353"/>
              </p:ext>
            </p:extLst>
          </p:nvPr>
        </p:nvGraphicFramePr>
        <p:xfrm>
          <a:off x="7950791" y="981075"/>
          <a:ext cx="4121873" cy="3356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- 2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우대사업자 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관리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등록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 관리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정산내역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조회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신용카드 결제내역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거래실패 내역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현금영수증 발급내역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계정관리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 內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14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 생성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955FBBEB-AACB-7DAE-4E19-02BC7A5EF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- 2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FF249DF-A43B-C9CF-6B6D-A8B2D65C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546619-6F35-ED9F-9966-61F9C6DA8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C6E07F4-57F8-7ADF-504F-880ABCD0E35A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5C16EE6-E160-79BF-A2C0-63477D0FE8DC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392B9F0-406D-3E76-AEE5-3C0AA9951030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6BE2C-70E4-7C69-6F68-409FA24DC97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14233C-8250-B3E1-2A0A-94607A2F4BCD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D48F12-E3DB-BAF0-9268-1530990BCE01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673D15-584B-B22D-3EA4-B5733DADC275}"/>
              </a:ext>
            </a:extLst>
          </p:cNvPr>
          <p:cNvSpPr txBox="1"/>
          <p:nvPr/>
        </p:nvSpPr>
        <p:spPr>
          <a:xfrm>
            <a:off x="407368" y="549139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E64F0F-BF9A-DCAB-564C-4C4B80F3A43E}"/>
              </a:ext>
            </a:extLst>
          </p:cNvPr>
          <p:cNvSpPr txBox="1"/>
          <p:nvPr/>
        </p:nvSpPr>
        <p:spPr>
          <a:xfrm>
            <a:off x="119336" y="544522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DE0E73-5B96-8FFD-BBF0-7C1317CF17FC}"/>
              </a:ext>
            </a:extLst>
          </p:cNvPr>
          <p:cNvSpPr txBox="1"/>
          <p:nvPr/>
        </p:nvSpPr>
        <p:spPr>
          <a:xfrm>
            <a:off x="852467" y="547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416C04-5D99-EB2B-38D1-AF00BD4DDCE2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2D6E1A-2834-30DF-0D90-CAFC0B657253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E4F0C4-432D-A1AE-84A8-46C4FD8A9339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9F0CD4-B1A1-1D3A-22FA-2F78D443D248}"/>
              </a:ext>
            </a:extLst>
          </p:cNvPr>
          <p:cNvSpPr txBox="1"/>
          <p:nvPr/>
        </p:nvSpPr>
        <p:spPr>
          <a:xfrm>
            <a:off x="119336" y="249695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72B4B1-17D8-80B0-D3B3-8F03BDC433CE}"/>
              </a:ext>
            </a:extLst>
          </p:cNvPr>
          <p:cNvSpPr txBox="1"/>
          <p:nvPr/>
        </p:nvSpPr>
        <p:spPr>
          <a:xfrm>
            <a:off x="407268" y="257623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4A8B8D-9A28-852F-3B25-198E4E470903}"/>
              </a:ext>
            </a:extLst>
          </p:cNvPr>
          <p:cNvSpPr txBox="1"/>
          <p:nvPr/>
        </p:nvSpPr>
        <p:spPr>
          <a:xfrm>
            <a:off x="988943" y="256531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922E04-6E1C-EEB4-1705-2F68F358F3B7}"/>
              </a:ext>
            </a:extLst>
          </p:cNvPr>
          <p:cNvSpPr txBox="1"/>
          <p:nvPr/>
        </p:nvSpPr>
        <p:spPr>
          <a:xfrm>
            <a:off x="119336" y="334208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EEF37D-D35E-F3F7-C644-6670BB6A52A6}"/>
              </a:ext>
            </a:extLst>
          </p:cNvPr>
          <p:cNvSpPr txBox="1"/>
          <p:nvPr/>
        </p:nvSpPr>
        <p:spPr>
          <a:xfrm>
            <a:off x="407268" y="34213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ACB7EE-27EE-12E8-E7DB-52B51A3AACCE}"/>
              </a:ext>
            </a:extLst>
          </p:cNvPr>
          <p:cNvSpPr txBox="1"/>
          <p:nvPr/>
        </p:nvSpPr>
        <p:spPr>
          <a:xfrm>
            <a:off x="872260" y="341044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F5FF3CA-22DB-00F5-13AE-066339CE0B0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BF92148-9848-A8B3-22A6-0AF2CAFE2089}"/>
              </a:ext>
            </a:extLst>
          </p:cNvPr>
          <p:cNvSpPr txBox="1"/>
          <p:nvPr/>
        </p:nvSpPr>
        <p:spPr>
          <a:xfrm>
            <a:off x="119336" y="471053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65765AD-D91B-C6E0-C47B-6CAEB7873DCD}"/>
              </a:ext>
            </a:extLst>
          </p:cNvPr>
          <p:cNvSpPr txBox="1"/>
          <p:nvPr/>
        </p:nvSpPr>
        <p:spPr>
          <a:xfrm>
            <a:off x="407268" y="478982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839F7C8-A720-3815-2B28-AF924C78826E}"/>
              </a:ext>
            </a:extLst>
          </p:cNvPr>
          <p:cNvSpPr txBox="1"/>
          <p:nvPr/>
        </p:nvSpPr>
        <p:spPr>
          <a:xfrm>
            <a:off x="872260" y="48000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460D1-696B-8741-B6FD-33EAED4A48DA}"/>
              </a:ext>
            </a:extLst>
          </p:cNvPr>
          <p:cNvSpPr txBox="1"/>
          <p:nvPr/>
        </p:nvSpPr>
        <p:spPr>
          <a:xfrm>
            <a:off x="263352" y="2331312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18622-216B-7683-DF50-E79AC8C78D13}"/>
              </a:ext>
            </a:extLst>
          </p:cNvPr>
          <p:cNvSpPr txBox="1"/>
          <p:nvPr/>
        </p:nvSpPr>
        <p:spPr>
          <a:xfrm>
            <a:off x="263352" y="2120160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48DAB-F790-08EC-870E-6B7490D2B441}"/>
              </a:ext>
            </a:extLst>
          </p:cNvPr>
          <p:cNvSpPr txBox="1"/>
          <p:nvPr/>
        </p:nvSpPr>
        <p:spPr>
          <a:xfrm>
            <a:off x="263352" y="2764579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11B2B-3BF8-9838-3E83-88282086E3C1}"/>
              </a:ext>
            </a:extLst>
          </p:cNvPr>
          <p:cNvSpPr txBox="1"/>
          <p:nvPr/>
        </p:nvSpPr>
        <p:spPr>
          <a:xfrm>
            <a:off x="263352" y="2963057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542F1-30A0-7DB7-BA4D-9ED1A7B08097}"/>
              </a:ext>
            </a:extLst>
          </p:cNvPr>
          <p:cNvSpPr txBox="1"/>
          <p:nvPr/>
        </p:nvSpPr>
        <p:spPr>
          <a:xfrm>
            <a:off x="263352" y="3163469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96251-1AB3-2B36-5981-674623B6A0A4}"/>
              </a:ext>
            </a:extLst>
          </p:cNvPr>
          <p:cNvSpPr txBox="1"/>
          <p:nvPr/>
        </p:nvSpPr>
        <p:spPr>
          <a:xfrm>
            <a:off x="263352" y="3630114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ABABB-819F-5A92-0DAB-E085F4B071F5}"/>
              </a:ext>
            </a:extLst>
          </p:cNvPr>
          <p:cNvSpPr txBox="1"/>
          <p:nvPr/>
        </p:nvSpPr>
        <p:spPr>
          <a:xfrm>
            <a:off x="263352" y="384613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💷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069485-1041-639D-9E3A-AC4397A358E3}"/>
              </a:ext>
            </a:extLst>
          </p:cNvPr>
          <p:cNvSpPr txBox="1"/>
          <p:nvPr/>
        </p:nvSpPr>
        <p:spPr>
          <a:xfrm>
            <a:off x="263352" y="4986449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💳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결제내역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7EC64-D5FD-E707-4B0F-8D97346B3B4E}"/>
              </a:ext>
            </a:extLst>
          </p:cNvPr>
          <p:cNvSpPr txBox="1"/>
          <p:nvPr/>
        </p:nvSpPr>
        <p:spPr>
          <a:xfrm>
            <a:off x="263352" y="5221810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❓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실패내역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83FA4-449C-43A5-E503-A1936E5BB6B9}"/>
              </a:ext>
            </a:extLst>
          </p:cNvPr>
          <p:cNvSpPr txBox="1"/>
          <p:nvPr/>
        </p:nvSpPr>
        <p:spPr>
          <a:xfrm>
            <a:off x="263352" y="5690186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📢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공지사항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C17CF8-9012-ABEC-1827-3231560524FF}"/>
              </a:ext>
            </a:extLst>
          </p:cNvPr>
          <p:cNvSpPr txBox="1"/>
          <p:nvPr/>
        </p:nvSpPr>
        <p:spPr>
          <a:xfrm>
            <a:off x="266403" y="5901725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👥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계정관리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29E13-6E27-D388-5C0A-00E6FE4A4CD5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460FD3-7593-9A18-B6A5-AEB981E14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5AE9BE-0E97-DB6A-B204-B67B34B5FFEB}"/>
              </a:ext>
            </a:extLst>
          </p:cNvPr>
          <p:cNvSpPr/>
          <p:nvPr/>
        </p:nvSpPr>
        <p:spPr bwMode="auto">
          <a:xfrm>
            <a:off x="1731417" y="3953727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상위 매출 순위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9E79624-2941-4E8F-FB6F-D08FC82EF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93327"/>
              </p:ext>
            </p:extLst>
          </p:nvPr>
        </p:nvGraphicFramePr>
        <p:xfrm>
          <a:off x="1720802" y="4255182"/>
          <a:ext cx="32033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806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637331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94543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94543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89173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취소금액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결제금액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331,830,530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17,035,500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314,795,030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237,117,313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5,050,000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232,067,313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101,835,301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830,500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101,004,801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33558B9-4856-0984-B6E0-FBC1A470A9E3}"/>
              </a:ext>
            </a:extLst>
          </p:cNvPr>
          <p:cNvSpPr/>
          <p:nvPr/>
        </p:nvSpPr>
        <p:spPr bwMode="auto">
          <a:xfrm>
            <a:off x="4334677" y="4026082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9DA583-00ED-F0CF-214D-1C04FCFC195E}"/>
              </a:ext>
            </a:extLst>
          </p:cNvPr>
          <p:cNvSpPr/>
          <p:nvPr/>
        </p:nvSpPr>
        <p:spPr bwMode="auto">
          <a:xfrm>
            <a:off x="5303912" y="3953727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객단가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순위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64E7377-CD6B-AAB7-3E0E-643BAF893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423491"/>
              </p:ext>
            </p:extLst>
          </p:nvPr>
        </p:nvGraphicFramePr>
        <p:xfrm>
          <a:off x="5303911" y="4252045"/>
          <a:ext cx="2477101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61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918038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1000450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객단가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357,300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1,153,030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48,070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82FA7DA-6357-CCD3-2E03-49B912108725}"/>
              </a:ext>
            </a:extLst>
          </p:cNvPr>
          <p:cNvSpPr/>
          <p:nvPr/>
        </p:nvSpPr>
        <p:spPr bwMode="auto">
          <a:xfrm>
            <a:off x="7185991" y="4042387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30AC1E8-D5A2-574C-81B4-E2C7B2495F28}"/>
              </a:ext>
            </a:extLst>
          </p:cNvPr>
          <p:cNvSpPr/>
          <p:nvPr/>
        </p:nvSpPr>
        <p:spPr bwMode="auto">
          <a:xfrm>
            <a:off x="1731417" y="5318426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매출 급상승 순위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71B04E1F-2877-4A98-2445-0111F5CE3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62482"/>
              </p:ext>
            </p:extLst>
          </p:nvPr>
        </p:nvGraphicFramePr>
        <p:xfrm>
          <a:off x="1737236" y="5628338"/>
          <a:ext cx="29774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92387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33521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전일대비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전주대비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전월대비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18E23BB-95E9-8F37-904D-D6A2334F1F00}"/>
              </a:ext>
            </a:extLst>
          </p:cNvPr>
          <p:cNvSpPr/>
          <p:nvPr/>
        </p:nvSpPr>
        <p:spPr bwMode="auto">
          <a:xfrm>
            <a:off x="4079776" y="5405864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EB62B21-F84A-DF44-6FAF-0FF1114BF846}"/>
              </a:ext>
            </a:extLst>
          </p:cNvPr>
          <p:cNvSpPr/>
          <p:nvPr/>
        </p:nvSpPr>
        <p:spPr bwMode="auto">
          <a:xfrm>
            <a:off x="4818226" y="5318426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매출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급하락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순위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0D5791D2-C239-2C1F-84A2-FD3EFEF4E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88987"/>
              </p:ext>
            </p:extLst>
          </p:nvPr>
        </p:nvGraphicFramePr>
        <p:xfrm>
          <a:off x="4824045" y="5628338"/>
          <a:ext cx="2977496" cy="914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92387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45565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33521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</a:tblGrid>
              <a:tr h="154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순위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전일대비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전주대비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전월대비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53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</a:t>
                      </a:r>
                      <a:r>
                        <a:rPr lang="en-US" altLang="ko-KR" sz="800" b="0" i="0" u="none" strike="noStrike" dirty="0">
                          <a:solidFill>
                            <a:srgbClr val="2121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▲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EB751C5-31AB-48D9-16A1-7BFD31A83256}"/>
              </a:ext>
            </a:extLst>
          </p:cNvPr>
          <p:cNvSpPr/>
          <p:nvPr/>
        </p:nvSpPr>
        <p:spPr bwMode="auto">
          <a:xfrm>
            <a:off x="7166585" y="5405864"/>
            <a:ext cx="719540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FD87409-8778-0CDC-9CE6-38F15E1BFB6A}"/>
              </a:ext>
            </a:extLst>
          </p:cNvPr>
          <p:cNvSpPr/>
          <p:nvPr/>
        </p:nvSpPr>
        <p:spPr bwMode="auto">
          <a:xfrm>
            <a:off x="4147731" y="1749472"/>
            <a:ext cx="3653809" cy="210972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캘린더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EC5004E-6E44-B28A-3E15-0DB15FD67844}"/>
              </a:ext>
            </a:extLst>
          </p:cNvPr>
          <p:cNvSpPr/>
          <p:nvPr/>
        </p:nvSpPr>
        <p:spPr bwMode="auto">
          <a:xfrm>
            <a:off x="1722032" y="1749472"/>
            <a:ext cx="2004794" cy="97891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현재매출 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객단가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98AD8E6-ADB2-94D7-2601-8CA5B7ED4733}"/>
              </a:ext>
            </a:extLst>
          </p:cNvPr>
          <p:cNvSpPr/>
          <p:nvPr/>
        </p:nvSpPr>
        <p:spPr bwMode="auto">
          <a:xfrm>
            <a:off x="1730382" y="2884767"/>
            <a:ext cx="2004794" cy="978919"/>
          </a:xfrm>
          <a:prstGeom prst="roundRect">
            <a:avLst/>
          </a:prstGeom>
          <a:solidFill>
            <a:srgbClr val="92D050">
              <a:alpha val="3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B4700-F863-0392-3539-1CA7322D2619}"/>
              </a:ext>
            </a:extLst>
          </p:cNvPr>
          <p:cNvSpPr txBox="1"/>
          <p:nvPr/>
        </p:nvSpPr>
        <p:spPr>
          <a:xfrm>
            <a:off x="386755" y="40911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1EC9FC-BB8D-7367-502B-BA0FE222BC7C}"/>
              </a:ext>
            </a:extLst>
          </p:cNvPr>
          <p:cNvSpPr txBox="1"/>
          <p:nvPr/>
        </p:nvSpPr>
        <p:spPr>
          <a:xfrm>
            <a:off x="121776" y="403534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66E27-0762-1D27-BC11-DD8FD43BF691}"/>
              </a:ext>
            </a:extLst>
          </p:cNvPr>
          <p:cNvSpPr txBox="1"/>
          <p:nvPr/>
        </p:nvSpPr>
        <p:spPr>
          <a:xfrm>
            <a:off x="884502" y="40878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AB2DBF-F2C5-81B0-5D28-A6B4E84044D0}"/>
              </a:ext>
            </a:extLst>
          </p:cNvPr>
          <p:cNvSpPr txBox="1"/>
          <p:nvPr/>
        </p:nvSpPr>
        <p:spPr>
          <a:xfrm>
            <a:off x="272446" y="4291033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344396-343B-DDDC-E066-4EC8C5A7D1F8}"/>
              </a:ext>
            </a:extLst>
          </p:cNvPr>
          <p:cNvSpPr txBox="1"/>
          <p:nvPr/>
        </p:nvSpPr>
        <p:spPr>
          <a:xfrm>
            <a:off x="272446" y="4507057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pic>
        <p:nvPicPr>
          <p:cNvPr id="50" name="그래픽 49" descr="단일 톱니바퀴 단색으로 채워진">
            <a:extLst>
              <a:ext uri="{FF2B5EF4-FFF2-40B4-BE49-F238E27FC236}">
                <a16:creationId xmlns:a16="http://schemas.microsoft.com/office/drawing/2014/main" id="{21C3FE37-8690-DCA6-2EDA-478CBE890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193" y="6159419"/>
            <a:ext cx="172064" cy="17206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26C7BFF-E5EB-FE22-8C5A-DEDF005F4BB4}"/>
              </a:ext>
            </a:extLst>
          </p:cNvPr>
          <p:cNvSpPr txBox="1"/>
          <p:nvPr/>
        </p:nvSpPr>
        <p:spPr>
          <a:xfrm>
            <a:off x="292530" y="6135202"/>
            <a:ext cx="1393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환경설정</a:t>
            </a:r>
          </a:p>
        </p:txBody>
      </p:sp>
    </p:spTree>
    <p:extLst>
      <p:ext uri="{BB962C8B-B14F-4D97-AF65-F5344CB8AC3E}">
        <p14:creationId xmlns:p14="http://schemas.microsoft.com/office/powerpoint/2010/main" val="18733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1F11-E2C7-CCBF-828A-ACCA35B4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08EFC5-4487-CADA-4A24-A556B1588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954289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우대사업자 조회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우대사업자 조회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계속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휴업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폐업 확인 불가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개까지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“,”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으로 구분하여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우대사업자 정보 內 사업자번호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영중소등급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2025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년 상하반기 등급 표기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A1EA5695-0CB2-C1CC-3216-17424C57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우대사업자 조회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41E9E71-282D-36E4-F806-C9231F677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D158BA3-1311-0523-9DB4-0B8C40936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5B6E30F-94D0-AEC4-CCB8-EA9B210A1AB1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7724626-F073-5B9D-D068-683708C5A153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374370-EE56-EC53-D040-BAE8192FD740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3B06EF-AFED-F91B-6DF7-84D82607EFFD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C950CD-3FB6-4CDA-16C9-6AA2197B8CE1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B74DDA-85FE-22B2-97F5-170B3C944AF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F863F8-D0B8-9191-6F82-97E64689FDC9}"/>
              </a:ext>
            </a:extLst>
          </p:cNvPr>
          <p:cNvSpPr txBox="1"/>
          <p:nvPr/>
        </p:nvSpPr>
        <p:spPr>
          <a:xfrm>
            <a:off x="420504" y="352743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E65A18-FF1A-EF0C-B0CD-02FF31567B08}"/>
              </a:ext>
            </a:extLst>
          </p:cNvPr>
          <p:cNvSpPr txBox="1"/>
          <p:nvPr/>
        </p:nvSpPr>
        <p:spPr>
          <a:xfrm>
            <a:off x="132472" y="3481263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670499-952D-F137-CC0E-9F44B8D0FB10}"/>
              </a:ext>
            </a:extLst>
          </p:cNvPr>
          <p:cNvSpPr txBox="1"/>
          <p:nvPr/>
        </p:nvSpPr>
        <p:spPr>
          <a:xfrm>
            <a:off x="874312" y="351468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7FF82A-07DD-DEDF-9322-BD6077BE75F5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3FF593-9136-2ADB-C167-CB19E184F983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337EE7-7BA4-4A82-8354-F4CF765A8CE1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6201EE-814F-AAAC-D07F-AD73F4F49693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A36F24-012B-D90C-0BA2-37DA1939B0BC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9A895-1D59-416A-52AA-E4B2F9BF01CA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A951A5-6E51-5F62-1ED2-9BE5B1DE95A0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2D1EF2-850D-9EFF-CD81-DEB8842764A5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1D6FE6-C16F-036F-8A22-FB240ACEFE27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BD1BA10-FDD8-E1E4-F948-D6E46CE8E23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C93AD3A-3B85-C149-1923-1BE6B420FBFA}"/>
              </a:ext>
            </a:extLst>
          </p:cNvPr>
          <p:cNvSpPr txBox="1"/>
          <p:nvPr/>
        </p:nvSpPr>
        <p:spPr>
          <a:xfrm>
            <a:off x="129512" y="314679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4D336C-A4AE-D84C-5A4B-B47FD763CA20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B3D1AE6-6BA9-38E9-9FA2-000B421406E6}"/>
              </a:ext>
            </a:extLst>
          </p:cNvPr>
          <p:cNvSpPr txBox="1"/>
          <p:nvPr/>
        </p:nvSpPr>
        <p:spPr>
          <a:xfrm>
            <a:off x="873727" y="323630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AF49E-7C9E-2066-268C-6F538FAD62B7}"/>
              </a:ext>
            </a:extLst>
          </p:cNvPr>
          <p:cNvSpPr txBox="1"/>
          <p:nvPr/>
        </p:nvSpPr>
        <p:spPr>
          <a:xfrm>
            <a:off x="2063552" y="1328072"/>
            <a:ext cx="129614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32985D-0446-5A16-5331-B5650168C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77557B1-9B0F-B792-8897-A0A35FAE1FF6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57675E-4939-AF72-1DC0-107B8BDC058A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B7BA62-5DD1-AF06-4A58-0EC146BB44E6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86A7C37-CA93-8A84-E27D-DC967AE142AB}"/>
              </a:ext>
            </a:extLst>
          </p:cNvPr>
          <p:cNvSpPr/>
          <p:nvPr/>
        </p:nvSpPr>
        <p:spPr bwMode="auto">
          <a:xfrm>
            <a:off x="1682705" y="1778263"/>
            <a:ext cx="1153260" cy="197793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우대사업자 조회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A45B60-753B-145D-63DD-B193177B17B1}"/>
              </a:ext>
            </a:extLst>
          </p:cNvPr>
          <p:cNvSpPr/>
          <p:nvPr/>
        </p:nvSpPr>
        <p:spPr bwMode="auto">
          <a:xfrm>
            <a:off x="1662430" y="2057257"/>
            <a:ext cx="4722677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BA6E86E-F148-01D2-A141-064CFFD8B22E}"/>
              </a:ext>
            </a:extLst>
          </p:cNvPr>
          <p:cNvSpPr/>
          <p:nvPr/>
        </p:nvSpPr>
        <p:spPr bwMode="auto">
          <a:xfrm>
            <a:off x="1866191" y="2169309"/>
            <a:ext cx="969774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F481C40-5511-3D08-61D4-E4A1B341E1B8}"/>
              </a:ext>
            </a:extLst>
          </p:cNvPr>
          <p:cNvSpPr/>
          <p:nvPr/>
        </p:nvSpPr>
        <p:spPr bwMode="auto">
          <a:xfrm>
            <a:off x="1836223" y="2806162"/>
            <a:ext cx="5668686" cy="60196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 상태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휴업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불가합니다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 다중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조회시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최대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까지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“,”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구분으로 가능합니다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(Ex : 2068190716,3153400737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02ED6E9-89AC-5B1A-B6FC-6C09BF09B0CD}"/>
              </a:ext>
            </a:extLst>
          </p:cNvPr>
          <p:cNvSpPr/>
          <p:nvPr/>
        </p:nvSpPr>
        <p:spPr bwMode="auto">
          <a:xfrm>
            <a:off x="5703902" y="2167686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6CF70E2-26FF-A703-76E8-3A3D8A1A448C}"/>
              </a:ext>
            </a:extLst>
          </p:cNvPr>
          <p:cNvSpPr/>
          <p:nvPr/>
        </p:nvSpPr>
        <p:spPr bwMode="auto">
          <a:xfrm>
            <a:off x="1662430" y="2718146"/>
            <a:ext cx="6062520" cy="782862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32D9685-31D7-D3A4-975F-8DF5A41CEDA2}"/>
              </a:ext>
            </a:extLst>
          </p:cNvPr>
          <p:cNvSpPr/>
          <p:nvPr/>
        </p:nvSpPr>
        <p:spPr bwMode="auto">
          <a:xfrm>
            <a:off x="1662430" y="3671950"/>
            <a:ext cx="6062520" cy="2879972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0C480C4-8075-8CCE-E085-C36A84ADC5F8}"/>
              </a:ext>
            </a:extLst>
          </p:cNvPr>
          <p:cNvSpPr/>
          <p:nvPr/>
        </p:nvSpPr>
        <p:spPr bwMode="auto">
          <a:xfrm>
            <a:off x="1899946" y="3903607"/>
            <a:ext cx="117171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우대사업자 정보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D4BBF0E-FB54-1AD5-7CAD-EB1E5A1BACE2}"/>
              </a:ext>
            </a:extLst>
          </p:cNvPr>
          <p:cNvSpPr/>
          <p:nvPr/>
        </p:nvSpPr>
        <p:spPr bwMode="auto">
          <a:xfrm>
            <a:off x="2909296" y="2162276"/>
            <a:ext cx="2664202" cy="229100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6E99F18-4E71-47BD-B64B-AA9E681924A1}"/>
              </a:ext>
            </a:extLst>
          </p:cNvPr>
          <p:cNvSpPr/>
          <p:nvPr/>
        </p:nvSpPr>
        <p:spPr bwMode="auto">
          <a:xfrm>
            <a:off x="1899946" y="4249814"/>
            <a:ext cx="1171717" cy="229100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69A71F8-B111-B5F3-EC22-4406021F9795}"/>
              </a:ext>
            </a:extLst>
          </p:cNvPr>
          <p:cNvSpPr/>
          <p:nvPr/>
        </p:nvSpPr>
        <p:spPr bwMode="auto">
          <a:xfrm>
            <a:off x="3349824" y="4249814"/>
            <a:ext cx="1171717" cy="229100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영중소등급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8337B32-C866-64B6-6C28-D6B6604D81E4}"/>
              </a:ext>
            </a:extLst>
          </p:cNvPr>
          <p:cNvSpPr/>
          <p:nvPr/>
        </p:nvSpPr>
        <p:spPr bwMode="auto">
          <a:xfrm>
            <a:off x="1893642" y="4609579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2068190716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1CB0AE7-ACB0-EFB4-2AD6-81E5AF128EB3}"/>
              </a:ext>
            </a:extLst>
          </p:cNvPr>
          <p:cNvSpPr/>
          <p:nvPr/>
        </p:nvSpPr>
        <p:spPr bwMode="auto">
          <a:xfrm>
            <a:off x="3349823" y="4609579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9ED0FD0-F66B-9C6E-499A-D2D851B3D55D}"/>
              </a:ext>
            </a:extLst>
          </p:cNvPr>
          <p:cNvSpPr/>
          <p:nvPr/>
        </p:nvSpPr>
        <p:spPr bwMode="auto">
          <a:xfrm>
            <a:off x="1893642" y="4956105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3153400737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AA7FEF0-FBFB-8491-820C-55F75AB75220}"/>
              </a:ext>
            </a:extLst>
          </p:cNvPr>
          <p:cNvSpPr/>
          <p:nvPr/>
        </p:nvSpPr>
        <p:spPr bwMode="auto">
          <a:xfrm>
            <a:off x="3349823" y="4956105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14AFAD8-C566-9C20-1228-2AF999734B79}"/>
              </a:ext>
            </a:extLst>
          </p:cNvPr>
          <p:cNvCxnSpPr>
            <a:cxnSpLocks/>
          </p:cNvCxnSpPr>
          <p:nvPr/>
        </p:nvCxnSpPr>
        <p:spPr bwMode="auto">
          <a:xfrm>
            <a:off x="2072883" y="4801355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E3616DB-8C4B-C081-EA65-4493EB7DF79D}"/>
              </a:ext>
            </a:extLst>
          </p:cNvPr>
          <p:cNvCxnSpPr>
            <a:cxnSpLocks/>
          </p:cNvCxnSpPr>
          <p:nvPr/>
        </p:nvCxnSpPr>
        <p:spPr bwMode="auto">
          <a:xfrm>
            <a:off x="3575720" y="4806775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86C3E480-16D2-E27F-4106-D27A5E2AA3B6}"/>
              </a:ext>
            </a:extLst>
          </p:cNvPr>
          <p:cNvCxnSpPr>
            <a:cxnSpLocks/>
          </p:cNvCxnSpPr>
          <p:nvPr/>
        </p:nvCxnSpPr>
        <p:spPr bwMode="auto">
          <a:xfrm>
            <a:off x="2091545" y="5158722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6CDC867-EFB0-5DB6-996A-9C90A15290E0}"/>
              </a:ext>
            </a:extLst>
          </p:cNvPr>
          <p:cNvCxnSpPr>
            <a:cxnSpLocks/>
          </p:cNvCxnSpPr>
          <p:nvPr/>
        </p:nvCxnSpPr>
        <p:spPr bwMode="auto">
          <a:xfrm>
            <a:off x="3575720" y="5149391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C6E1ABC-5C7C-7A89-B16B-FA89FD0A9FC6}"/>
              </a:ext>
            </a:extLst>
          </p:cNvPr>
          <p:cNvSpPr/>
          <p:nvPr/>
        </p:nvSpPr>
        <p:spPr bwMode="auto">
          <a:xfrm>
            <a:off x="4798323" y="4249814"/>
            <a:ext cx="1171717" cy="229100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상반기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96A1ABE-2ECD-A72A-BF58-949CEA77B5C1}"/>
              </a:ext>
            </a:extLst>
          </p:cNvPr>
          <p:cNvSpPr/>
          <p:nvPr/>
        </p:nvSpPr>
        <p:spPr bwMode="auto">
          <a:xfrm>
            <a:off x="6221962" y="4249814"/>
            <a:ext cx="1171717" cy="229100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하반기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BB6BD07-308F-CC79-7A9B-18D6D9D6FBA7}"/>
              </a:ext>
            </a:extLst>
          </p:cNvPr>
          <p:cNvSpPr/>
          <p:nvPr/>
        </p:nvSpPr>
        <p:spPr bwMode="auto">
          <a:xfrm>
            <a:off x="4805666" y="4609579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16F4AB68-6EC1-9BEB-3888-98760E04157E}"/>
              </a:ext>
            </a:extLst>
          </p:cNvPr>
          <p:cNvSpPr/>
          <p:nvPr/>
        </p:nvSpPr>
        <p:spPr bwMode="auto">
          <a:xfrm>
            <a:off x="4805666" y="4956105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74B73F0C-33FD-9615-F4D0-94716129F198}"/>
              </a:ext>
            </a:extLst>
          </p:cNvPr>
          <p:cNvCxnSpPr>
            <a:cxnSpLocks/>
          </p:cNvCxnSpPr>
          <p:nvPr/>
        </p:nvCxnSpPr>
        <p:spPr bwMode="auto">
          <a:xfrm>
            <a:off x="5031563" y="4806775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5BFF67B-9BBD-50F8-D62A-23A31600BBC2}"/>
              </a:ext>
            </a:extLst>
          </p:cNvPr>
          <p:cNvCxnSpPr>
            <a:cxnSpLocks/>
          </p:cNvCxnSpPr>
          <p:nvPr/>
        </p:nvCxnSpPr>
        <p:spPr bwMode="auto">
          <a:xfrm>
            <a:off x="5031563" y="5149391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3844427-DA0F-198F-1887-83CAF8E253BD}"/>
              </a:ext>
            </a:extLst>
          </p:cNvPr>
          <p:cNvSpPr/>
          <p:nvPr/>
        </p:nvSpPr>
        <p:spPr bwMode="auto">
          <a:xfrm>
            <a:off x="6227485" y="4618910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1DE8A61-057A-9CF1-4002-2E934D7760F5}"/>
              </a:ext>
            </a:extLst>
          </p:cNvPr>
          <p:cNvSpPr/>
          <p:nvPr/>
        </p:nvSpPr>
        <p:spPr bwMode="auto">
          <a:xfrm>
            <a:off x="6227485" y="4965436"/>
            <a:ext cx="1171717" cy="2291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9920A45-F62B-B646-0F1D-7DE971ED5133}"/>
              </a:ext>
            </a:extLst>
          </p:cNvPr>
          <p:cNvCxnSpPr>
            <a:cxnSpLocks/>
          </p:cNvCxnSpPr>
          <p:nvPr/>
        </p:nvCxnSpPr>
        <p:spPr bwMode="auto">
          <a:xfrm>
            <a:off x="6453382" y="4816106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E4CFB1-FE1B-EAAB-56F3-D1340A04427E}"/>
              </a:ext>
            </a:extLst>
          </p:cNvPr>
          <p:cNvCxnSpPr>
            <a:cxnSpLocks/>
          </p:cNvCxnSpPr>
          <p:nvPr/>
        </p:nvCxnSpPr>
        <p:spPr bwMode="auto">
          <a:xfrm>
            <a:off x="6453382" y="5158722"/>
            <a:ext cx="7724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19D8AFA-001E-E9F4-07FF-0754F95D8F5E}"/>
              </a:ext>
            </a:extLst>
          </p:cNvPr>
          <p:cNvSpPr/>
          <p:nvPr/>
        </p:nvSpPr>
        <p:spPr bwMode="auto">
          <a:xfrm>
            <a:off x="6558" y="1628800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59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D38B-F9AD-90EB-3450-B8A85D82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3B691DC-DB80-B6C8-6492-6DD46606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6300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해당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Web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사용자는 총판으로 구분하며 하위조직은 대리점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벤더로 구분하여 등록기능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총판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-&gt;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 혹은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-&gt;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 등록 가능하며 각 단계 조직은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생략하여 등록 가능함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등록 방식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선택 후                  버튼 클릭 후 순차 진행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등록 후 다음 영업조직인 에이전시를 등록할 시에는 등록했던 대리점을 선택하여 에이전시를 등록하는 순서로 진행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5515DA86-B564-5AC5-DA09-89FD63769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-1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4575D1F-AE9C-97C2-8C63-BE3DAA94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CDD773-43B9-9343-9337-25FD1D33C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51E9E9C-A456-B707-4288-E606F1BDE20B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4D1CFD-652C-F3FA-2F8B-6DD1960CB6F1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CEF802-6E96-CE6F-D7AB-781B4368E934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61D85B-F40E-2CBF-4EE9-AC7B89FAFD8B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28C30C-0A21-779D-9578-004CAA932D52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469EE3-10DF-014F-766D-7A057137EF88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A2F32F-55BB-C28E-3B74-8FE892DE9506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4D2696-3C75-3D04-EFF5-8F4528870230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5156C9-0979-38A9-9868-1409E17CACAB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0C0089-E6C9-7AE0-9235-657BAA6254EA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21480F-4B69-5657-2990-EAF5162D5A10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2DD61B-EEB8-839C-59A1-FDD9B99CFC2E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6B0753-7549-B513-3A63-6361E81A12C6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F4732F-3B65-AF42-ABE0-03F68B4E8F3F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CDA8DF-C279-85FD-722C-723BE1B00B8A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FA8D9D-CBF9-42F0-C2CB-6A45642E7463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1C5273-EE4C-3A1D-05D1-6CF7F6A07B38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83FCC9B-A305-2725-0155-4DCE858283F2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34C8D4B-6FBB-90A9-632D-E2F9B098355B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EC3FA3-A2B3-89E4-B894-23590C48D2EA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43C6D2-B79B-F9BC-98C8-2A1F8F59C188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A2B6E-CC50-F1C7-B281-FC2B89D80D9B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49D73-4C30-D169-C514-F8F6C3267FE6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F8870-CC31-C173-FC97-FFF45B557C45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38743A-C9FC-B824-8B26-6815188E1B01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05735-9BDB-41A9-F109-ED67B54ED823}"/>
              </a:ext>
            </a:extLst>
          </p:cNvPr>
          <p:cNvSpPr txBox="1"/>
          <p:nvPr/>
        </p:nvSpPr>
        <p:spPr>
          <a:xfrm>
            <a:off x="2867330" y="1817133"/>
            <a:ext cx="49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F99D4B-0398-2BB4-694E-35ABD4AA1514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CA650-573B-42B0-8B74-1B0A9E221546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07D6B64-5A40-93FF-3E25-EA606B9CDACF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E5EE6B6-2467-0D37-7B8B-CB47588B1BF1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D6F9E5D-EF0D-58C1-F9C2-EC294CF7B75F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0EA64EA-B145-1B48-DE6E-0180FBF056FB}"/>
              </a:ext>
            </a:extLst>
          </p:cNvPr>
          <p:cNvSpPr/>
          <p:nvPr/>
        </p:nvSpPr>
        <p:spPr bwMode="auto">
          <a:xfrm>
            <a:off x="1653099" y="2188256"/>
            <a:ext cx="6139904" cy="3583662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AEB8FA6-5CE3-076C-6B97-7562AB2D1224}"/>
              </a:ext>
            </a:extLst>
          </p:cNvPr>
          <p:cNvSpPr/>
          <p:nvPr/>
        </p:nvSpPr>
        <p:spPr bwMode="auto">
          <a:xfrm>
            <a:off x="1847528" y="2420888"/>
            <a:ext cx="630788" cy="19364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DAC2CD9-D542-D167-6558-7105F1C7BAD0}"/>
              </a:ext>
            </a:extLst>
          </p:cNvPr>
          <p:cNvSpPr/>
          <p:nvPr/>
        </p:nvSpPr>
        <p:spPr bwMode="auto">
          <a:xfrm>
            <a:off x="1775520" y="2735101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08228C4-664A-F89B-4D35-171BE044951E}"/>
              </a:ext>
            </a:extLst>
          </p:cNvPr>
          <p:cNvSpPr/>
          <p:nvPr/>
        </p:nvSpPr>
        <p:spPr bwMode="auto">
          <a:xfrm>
            <a:off x="6965295" y="5323591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C447660-2542-BBE7-21BD-B32135F856DC}"/>
              </a:ext>
            </a:extLst>
          </p:cNvPr>
          <p:cNvCxnSpPr>
            <a:cxnSpLocks/>
          </p:cNvCxnSpPr>
          <p:nvPr/>
        </p:nvCxnSpPr>
        <p:spPr bwMode="auto">
          <a:xfrm>
            <a:off x="1847528" y="5245247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51531FB-D4A3-2AFB-B5A8-28D22FE018BD}"/>
              </a:ext>
            </a:extLst>
          </p:cNvPr>
          <p:cNvSpPr/>
          <p:nvPr/>
        </p:nvSpPr>
        <p:spPr bwMode="auto">
          <a:xfrm>
            <a:off x="1766080" y="3246650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E109BC-1442-ADB1-D996-765F846272F2}"/>
              </a:ext>
            </a:extLst>
          </p:cNvPr>
          <p:cNvSpPr/>
          <p:nvPr/>
        </p:nvSpPr>
        <p:spPr bwMode="auto">
          <a:xfrm>
            <a:off x="1766080" y="3743947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딜러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91C364-DCDB-C8F3-8581-28046C1301A8}"/>
              </a:ext>
            </a:extLst>
          </p:cNvPr>
          <p:cNvSpPr/>
          <p:nvPr/>
        </p:nvSpPr>
        <p:spPr bwMode="auto">
          <a:xfrm>
            <a:off x="1766080" y="4224692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셀러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49084CE-CF6C-A356-DB97-8CDD30A1649C}"/>
              </a:ext>
            </a:extLst>
          </p:cNvPr>
          <p:cNvSpPr/>
          <p:nvPr/>
        </p:nvSpPr>
        <p:spPr bwMode="auto">
          <a:xfrm>
            <a:off x="1766080" y="4701556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벤더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44DF8B-80E8-D0F5-4E39-39E8ED76907C}"/>
              </a:ext>
            </a:extLst>
          </p:cNvPr>
          <p:cNvSpPr txBox="1"/>
          <p:nvPr/>
        </p:nvSpPr>
        <p:spPr>
          <a:xfrm>
            <a:off x="2063552" y="1328072"/>
            <a:ext cx="1145570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 ⓧ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AEED7F0-CBB4-8E41-1C43-8001EE5F8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C31BAD5-4F9E-988B-C552-1D01F8484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2779228"/>
            <a:ext cx="181000" cy="16194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950989F-A7E5-210F-584C-D6F653FB7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3281495"/>
            <a:ext cx="181000" cy="16194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6BE03F9B-3EBE-8AEE-2282-786063B3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3764294"/>
            <a:ext cx="181000" cy="16194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8BFB28C-E07E-8CCB-4F96-FE3E476E6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4251201"/>
            <a:ext cx="181000" cy="16194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1B20CB7-552B-86DC-FFF2-31C892430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4744031"/>
            <a:ext cx="181000" cy="161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64A38E-4E6D-FC7C-5CF6-54D5017C444E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8CBC8-48EC-F8F6-27EB-0B2DEC0E5792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5B0E8-50CD-4881-0BD1-8DC47DFA284E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B00011E-A3F5-7E26-068A-D53A94A513A7}"/>
              </a:ext>
            </a:extLst>
          </p:cNvPr>
          <p:cNvSpPr/>
          <p:nvPr/>
        </p:nvSpPr>
        <p:spPr bwMode="auto">
          <a:xfrm>
            <a:off x="9898782" y="2073510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54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E724-21E7-574A-6502-E49CB543D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902B990-6BEA-1D28-13BB-9FD0B8EC3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38257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- 2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★ 하단 대리점선택창 활성화시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생성되어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highlight>
                            <a:srgbClr val="2121FF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 생성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버튼 클릭 후 각 영업점 생성 진행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(A),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(d),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(S),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(V)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동일하되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코드는 각각 다름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8A05205-2DD9-16A0-CE94-804D2B825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-2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681346-259A-2845-B8CF-02D662D34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0F6B232-C40B-6F11-CB72-F0B0238F3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C1423BC-2F23-1200-681B-3652F52AF9A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A5E4856-2E6D-B4D1-7C54-8CF59EA949DF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3E7CD68-BB21-71A5-B284-C5B4736647EB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8088FF-E67A-FDDC-B17B-5B3E4BC596F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B437DB-4BBC-4B76-FD57-BA4D79905D9B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050D20-0748-6880-9F93-F0960040AF91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758BCC-5661-6F57-97BA-BD9A37D55782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6F49E7-EFFE-4CDD-DC7F-AC3527613E78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B2EDF8-A8E7-1B57-34B0-828416067E3B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371791-CC12-B1D1-6370-38E3DEA3F8E6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BF409E-0713-43B6-D11A-A5DBB3886EB8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4A47B1-6CDE-679D-049C-58BFA1BDB87C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EEB521-518D-3C7E-9483-B92075E374DB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A942DD-B4AA-669F-68D5-48356320B60A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2BEFDC-FB50-B892-8AEF-123CEA826055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DEAD49-2634-27B5-FF98-CF84DBBF8B49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02C96F-7AAA-A00A-5111-5DDBEB850AE4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8AAA964-2169-AABE-A31F-A48B5FDC5F6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B782E5D1-1CE2-6B1C-7237-472EB1761415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9B8C24-BD77-24C4-BDB3-517B17F95F61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40DC9D-F625-06C6-99AE-FAFE15AFB361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B5150-4CAD-03D7-B7FE-FF7E1394E598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D3A7F-1840-F92F-BE01-67ED9CF7DBA4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D1E7A-CD93-B342-BBA6-42B85C0DB814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9D741E-94BB-DF99-D59B-87484F4A6427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742BD3-0D01-228A-B367-DE0B4BFCAF9A}"/>
              </a:ext>
            </a:extLst>
          </p:cNvPr>
          <p:cNvSpPr txBox="1"/>
          <p:nvPr/>
        </p:nvSpPr>
        <p:spPr>
          <a:xfrm>
            <a:off x="2867330" y="1817133"/>
            <a:ext cx="49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C9011-CD89-0A14-09E8-3589E7517F89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4F3C84-D5D3-22FA-0358-A09AF9C9A0C5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61C184-5451-24E0-7CEE-F15246DF90ED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9196CE1-230B-E55A-76BF-32075B47CC62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41292D6-7E44-9914-F711-EA5A030A8B5F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7B70557-82DF-5582-5391-36B072054D57}"/>
              </a:ext>
            </a:extLst>
          </p:cNvPr>
          <p:cNvSpPr/>
          <p:nvPr/>
        </p:nvSpPr>
        <p:spPr bwMode="auto">
          <a:xfrm>
            <a:off x="1653099" y="2188256"/>
            <a:ext cx="6139904" cy="3583662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E946524-6EDF-31DB-BAF1-D0CEA8CD7958}"/>
              </a:ext>
            </a:extLst>
          </p:cNvPr>
          <p:cNvSpPr/>
          <p:nvPr/>
        </p:nvSpPr>
        <p:spPr bwMode="auto">
          <a:xfrm>
            <a:off x="1847528" y="2420888"/>
            <a:ext cx="630788" cy="19364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B051DC-3AE8-30B0-687F-19C7DE825A4B}"/>
              </a:ext>
            </a:extLst>
          </p:cNvPr>
          <p:cNvSpPr/>
          <p:nvPr/>
        </p:nvSpPr>
        <p:spPr bwMode="auto">
          <a:xfrm>
            <a:off x="1775520" y="2735101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BCEFB00-8618-1221-A057-DA817135BC93}"/>
              </a:ext>
            </a:extLst>
          </p:cNvPr>
          <p:cNvSpPr/>
          <p:nvPr/>
        </p:nvSpPr>
        <p:spPr bwMode="auto">
          <a:xfrm>
            <a:off x="6965295" y="5323591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F938774-5F48-E7FA-F8DF-09355BE39074}"/>
              </a:ext>
            </a:extLst>
          </p:cNvPr>
          <p:cNvCxnSpPr>
            <a:cxnSpLocks/>
          </p:cNvCxnSpPr>
          <p:nvPr/>
        </p:nvCxnSpPr>
        <p:spPr bwMode="auto">
          <a:xfrm>
            <a:off x="1847528" y="5245247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61792E-D490-47FA-E1E9-4B6B508EA271}"/>
              </a:ext>
            </a:extLst>
          </p:cNvPr>
          <p:cNvSpPr/>
          <p:nvPr/>
        </p:nvSpPr>
        <p:spPr bwMode="auto">
          <a:xfrm>
            <a:off x="1766080" y="3246650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08405E9-EB17-2F5F-7DE6-C96A0040BBBD}"/>
              </a:ext>
            </a:extLst>
          </p:cNvPr>
          <p:cNvSpPr/>
          <p:nvPr/>
        </p:nvSpPr>
        <p:spPr bwMode="auto">
          <a:xfrm>
            <a:off x="1766080" y="3743947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딜러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AB7061-EC80-061B-6E03-11394F504EAA}"/>
              </a:ext>
            </a:extLst>
          </p:cNvPr>
          <p:cNvSpPr/>
          <p:nvPr/>
        </p:nvSpPr>
        <p:spPr bwMode="auto">
          <a:xfrm>
            <a:off x="1766080" y="4224692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셀러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6C40794-FC65-9513-6145-EC7EF97C9616}"/>
              </a:ext>
            </a:extLst>
          </p:cNvPr>
          <p:cNvSpPr/>
          <p:nvPr/>
        </p:nvSpPr>
        <p:spPr bwMode="auto">
          <a:xfrm>
            <a:off x="1766080" y="4701556"/>
            <a:ext cx="5872083" cy="405867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벤더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CB7066-918A-9C6E-B4F6-A334C1E96A94}"/>
              </a:ext>
            </a:extLst>
          </p:cNvPr>
          <p:cNvSpPr txBox="1"/>
          <p:nvPr/>
        </p:nvSpPr>
        <p:spPr>
          <a:xfrm>
            <a:off x="2063552" y="1328072"/>
            <a:ext cx="1145570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 ⓧ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8D51CC7B-9276-EEF7-C736-E4B83215A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3F602CB-26B3-8C59-A083-7054F2CCB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2779228"/>
            <a:ext cx="181000" cy="16194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2393751-1276-E28D-7364-FCB2A6E68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3281495"/>
            <a:ext cx="181000" cy="16194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67D2105-5692-8D23-7A2A-AA4B2CAAD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3764294"/>
            <a:ext cx="181000" cy="16194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B15D4D2-5E63-D4C1-8EE4-D4D464B52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4251201"/>
            <a:ext cx="181000" cy="16194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CD4B2252-0A60-EA4A-9250-441404E8E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71" y="4744031"/>
            <a:ext cx="181000" cy="161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823A2-AB56-DE67-6DEB-6648587EEB02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63BEC-3AEA-61D5-C2E4-802808B96913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36252-822E-F369-40E3-DE50C04B7232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7C4941B-546E-0A1C-5181-3105F8742BD3}"/>
              </a:ext>
            </a:extLst>
          </p:cNvPr>
          <p:cNvSpPr/>
          <p:nvPr/>
        </p:nvSpPr>
        <p:spPr bwMode="auto">
          <a:xfrm>
            <a:off x="7950791" y="4083479"/>
            <a:ext cx="4115338" cy="274114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선택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             </a:t>
            </a:r>
            <a:endParaRPr kumimoji="1" lang="ko-KR" altLang="en-US" sz="700" b="0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13D08C4-3094-D894-4D73-A0FD12FBA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3547" y="4127605"/>
            <a:ext cx="126850" cy="113498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8EE10BE-690C-0A5C-6A46-DD966691AFBB}"/>
              </a:ext>
            </a:extLst>
          </p:cNvPr>
          <p:cNvSpPr/>
          <p:nvPr/>
        </p:nvSpPr>
        <p:spPr bwMode="auto">
          <a:xfrm>
            <a:off x="7957326" y="4383766"/>
            <a:ext cx="4115338" cy="104731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chemeClr val="bg1"/>
                </a:solidFill>
                <a:highlight>
                  <a:srgbClr val="2121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생성</a:t>
            </a:r>
            <a:endParaRPr lang="en-US" altLang="ko-KR" b="1" dirty="0">
              <a:solidFill>
                <a:schemeClr val="bg1"/>
              </a:solidFill>
              <a:highlight>
                <a:srgbClr val="2121FF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/ D-KOR1107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 / D-KOR1317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 / D-KOR1311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 / D-KOR0030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6C56A5-C6DC-9740-43FD-504898292834}"/>
              </a:ext>
            </a:extLst>
          </p:cNvPr>
          <p:cNvSpPr/>
          <p:nvPr/>
        </p:nvSpPr>
        <p:spPr bwMode="auto">
          <a:xfrm>
            <a:off x="7900323" y="3994421"/>
            <a:ext cx="4291677" cy="1522811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55D95A2-52BB-E28F-4F29-DDC1E6FD5CDD}"/>
              </a:ext>
            </a:extLst>
          </p:cNvPr>
          <p:cNvSpPr/>
          <p:nvPr/>
        </p:nvSpPr>
        <p:spPr bwMode="auto">
          <a:xfrm>
            <a:off x="11712624" y="3994421"/>
            <a:ext cx="417043" cy="38934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D91DFDE-542C-958A-4F34-069F22CD6226}"/>
              </a:ext>
            </a:extLst>
          </p:cNvPr>
          <p:cNvCxnSpPr>
            <a:cxnSpLocks/>
          </p:cNvCxnSpPr>
          <p:nvPr/>
        </p:nvCxnSpPr>
        <p:spPr bwMode="auto">
          <a:xfrm>
            <a:off x="7464152" y="2941176"/>
            <a:ext cx="432048" cy="105324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96C2196-8C78-E1C7-E896-648B3E525AE9}"/>
              </a:ext>
            </a:extLst>
          </p:cNvPr>
          <p:cNvCxnSpPr>
            <a:cxnSpLocks/>
            <a:stCxn id="43" idx="2"/>
          </p:cNvCxnSpPr>
          <p:nvPr/>
        </p:nvCxnSpPr>
        <p:spPr bwMode="auto">
          <a:xfrm>
            <a:off x="7471371" y="2941176"/>
            <a:ext cx="4720629" cy="105324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98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2F6E-ED10-4E42-C6A6-8906E330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6849FF-7705-575D-71D8-7C8C14E55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41660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상업자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버튼 활성화 시 아래와 같이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법인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비사업자를 선택하여 각각 다른 등록 원장을 통해 영업점 등록 진행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DB0BCF43-EFB7-3696-FD63-E7EA1050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사업자 선택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DF76352-7395-C614-436C-B921CB26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25599BE-9CC5-DB65-30C3-F26F780B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BEA52DC-CD47-65CB-5EC5-392307691EA1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09931ED-D2FF-CFEF-0C4A-5D0A88A8C16D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051ACEB-6ADB-EF37-1CAF-A49D60DE8268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B10F28-474B-F760-C333-85CEC6E3A63C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AAD1F5-375E-DA38-5D21-1A1DCBB42E04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A4B354-64AE-C90D-0BC4-C9BC8BD68128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77C9C6-FDE6-2E60-CD3A-C5383660B5C0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EB3BE6-24BF-5335-B211-ACC5ABD0DFE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940AB76-1AF4-B479-F470-D8B3112BAD6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8AAAEB-D7F0-7EFE-CB4F-F0AE8AE56360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FCD0D-9462-D88E-A445-A69B621BCD02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CCA08-ABFF-1325-6554-BD3DDA3AA0C5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7B1AB0-59ED-7B87-1B4F-24D9C5F4ED9C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D5B0F-9778-4A0E-3652-5B91A2DC2665}"/>
              </a:ext>
            </a:extLst>
          </p:cNvPr>
          <p:cNvSpPr txBox="1"/>
          <p:nvPr/>
        </p:nvSpPr>
        <p:spPr>
          <a:xfrm>
            <a:off x="2867330" y="1817133"/>
            <a:ext cx="49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4BE2D-D495-B10E-1CF1-F47FC73C624B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5DE0B-05F7-777D-24FB-DCCF7864B21E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9166511-DF7F-3249-FFF7-06AA43E80D8D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E93E94C-BA57-459E-1619-011E57C2BC51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639399B-1CFA-E53E-26B8-829E1E318A68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70D83A4-1451-AA36-3596-B57459C8DD3D}"/>
              </a:ext>
            </a:extLst>
          </p:cNvPr>
          <p:cNvSpPr/>
          <p:nvPr/>
        </p:nvSpPr>
        <p:spPr bwMode="auto">
          <a:xfrm>
            <a:off x="1803124" y="2310119"/>
            <a:ext cx="951321" cy="220417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사업자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19A8D3E-8EF2-03A8-D716-D26567CD330F}"/>
              </a:ext>
            </a:extLst>
          </p:cNvPr>
          <p:cNvSpPr/>
          <p:nvPr/>
        </p:nvSpPr>
        <p:spPr bwMode="auto">
          <a:xfrm>
            <a:off x="6473324" y="6393426"/>
            <a:ext cx="630788" cy="19364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5EBC68-1182-B707-8D9B-AF45F16D35AA}"/>
              </a:ext>
            </a:extLst>
          </p:cNvPr>
          <p:cNvSpPr/>
          <p:nvPr/>
        </p:nvSpPr>
        <p:spPr bwMode="auto">
          <a:xfrm>
            <a:off x="4007768" y="2555510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              ▼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A8AD82-B40A-F119-CE23-B509B397CE4F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88025D1-3372-9A25-A9F6-314525A29FBF}"/>
              </a:ext>
            </a:extLst>
          </p:cNvPr>
          <p:cNvSpPr/>
          <p:nvPr/>
        </p:nvSpPr>
        <p:spPr bwMode="auto">
          <a:xfrm>
            <a:off x="1808314" y="2926609"/>
            <a:ext cx="5872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 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E0FDCE7-1FDA-B16D-CC55-4D92E5853C6A}"/>
              </a:ext>
            </a:extLst>
          </p:cNvPr>
          <p:cNvSpPr/>
          <p:nvPr/>
        </p:nvSpPr>
        <p:spPr bwMode="auto">
          <a:xfrm>
            <a:off x="1810417" y="3339296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 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229E310-929F-B217-AD8E-BA3EBE32B177}"/>
              </a:ext>
            </a:extLst>
          </p:cNvPr>
          <p:cNvSpPr/>
          <p:nvPr/>
        </p:nvSpPr>
        <p:spPr bwMode="auto">
          <a:xfrm>
            <a:off x="4799856" y="3351445"/>
            <a:ext cx="2879494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 표 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BA3416F-FA93-A89B-6A21-3739EC1F617A}"/>
              </a:ext>
            </a:extLst>
          </p:cNvPr>
          <p:cNvSpPr/>
          <p:nvPr/>
        </p:nvSpPr>
        <p:spPr bwMode="auto">
          <a:xfrm>
            <a:off x="1811560" y="3810530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개업 연월일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0A2630B-969C-8B1F-B0A2-4A148C9A951D}"/>
              </a:ext>
            </a:extLst>
          </p:cNvPr>
          <p:cNvSpPr/>
          <p:nvPr/>
        </p:nvSpPr>
        <p:spPr bwMode="auto">
          <a:xfrm>
            <a:off x="4801010" y="3804329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법인등록번호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AEAADCC-4E48-0C89-E59E-758753864E9D}"/>
              </a:ext>
            </a:extLst>
          </p:cNvPr>
          <p:cNvSpPr/>
          <p:nvPr/>
        </p:nvSpPr>
        <p:spPr bwMode="auto">
          <a:xfrm>
            <a:off x="3287688" y="4291944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F5BC74-4621-3F98-467E-9860B1160447}"/>
              </a:ext>
            </a:extLst>
          </p:cNvPr>
          <p:cNvSpPr/>
          <p:nvPr/>
        </p:nvSpPr>
        <p:spPr bwMode="auto">
          <a:xfrm>
            <a:off x="3286752" y="4762378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2F44B5B-00F5-99BB-33E5-E35CE3DF8837}"/>
              </a:ext>
            </a:extLst>
          </p:cNvPr>
          <p:cNvSpPr/>
          <p:nvPr/>
        </p:nvSpPr>
        <p:spPr bwMode="auto">
          <a:xfrm>
            <a:off x="1797091" y="5231370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12BAE96-A557-7804-9F6E-1E605D920BBB}"/>
              </a:ext>
            </a:extLst>
          </p:cNvPr>
          <p:cNvSpPr/>
          <p:nvPr/>
        </p:nvSpPr>
        <p:spPr bwMode="auto">
          <a:xfrm>
            <a:off x="3846411" y="5243792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업종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64A283A-2200-4E8A-968F-3AAA27EF9DC5}"/>
              </a:ext>
            </a:extLst>
          </p:cNvPr>
          <p:cNvSpPr/>
          <p:nvPr/>
        </p:nvSpPr>
        <p:spPr bwMode="auto">
          <a:xfrm>
            <a:off x="5862634" y="5243792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4127CEA-76F4-8A7C-3E5F-8D4E93ED4B8F}"/>
              </a:ext>
            </a:extLst>
          </p:cNvPr>
          <p:cNvSpPr/>
          <p:nvPr/>
        </p:nvSpPr>
        <p:spPr bwMode="auto">
          <a:xfrm>
            <a:off x="1812438" y="4303872"/>
            <a:ext cx="1367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E6A2EFD-D9CC-79C3-3064-91F422181DDA}"/>
              </a:ext>
            </a:extLst>
          </p:cNvPr>
          <p:cNvSpPr/>
          <p:nvPr/>
        </p:nvSpPr>
        <p:spPr bwMode="auto">
          <a:xfrm>
            <a:off x="1799659" y="5689876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133FC45-4014-5D0E-A40A-FEC4A5A30E6A}"/>
              </a:ext>
            </a:extLst>
          </p:cNvPr>
          <p:cNvSpPr/>
          <p:nvPr/>
        </p:nvSpPr>
        <p:spPr bwMode="auto">
          <a:xfrm>
            <a:off x="3846410" y="5700830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153F544-AEDC-0555-0B31-FB08D6D182A6}"/>
              </a:ext>
            </a:extLst>
          </p:cNvPr>
          <p:cNvSpPr/>
          <p:nvPr/>
        </p:nvSpPr>
        <p:spPr bwMode="auto">
          <a:xfrm>
            <a:off x="5862634" y="5698864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3EF4D76-8FBE-9643-6C51-5900D3AACACE}"/>
              </a:ext>
            </a:extLst>
          </p:cNvPr>
          <p:cNvSpPr/>
          <p:nvPr/>
        </p:nvSpPr>
        <p:spPr bwMode="auto">
          <a:xfrm>
            <a:off x="7132463" y="639092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656396A-640D-C850-0BA2-C112CEF03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3EC6F65-4A21-F5DD-7CF1-2E29E4C3E6CB}"/>
              </a:ext>
            </a:extLst>
          </p:cNvPr>
          <p:cNvCxnSpPr>
            <a:cxnSpLocks/>
          </p:cNvCxnSpPr>
          <p:nvPr/>
        </p:nvCxnSpPr>
        <p:spPr bwMode="auto">
          <a:xfrm>
            <a:off x="1847528" y="6237312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2517A6-7426-1C5E-4ABC-00858154D8BF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97F7A-CC85-16D9-5107-FFCE750169DA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ABF82-6D38-C85A-F636-89617B7A443B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FBD5E-E45B-5477-0189-2CAD0BB013EC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9A1535-0273-A12B-38DE-029E9EA440A3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D3A06E-5EDC-B8D8-5E7F-A8200AC94070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50406A-0A67-5231-5D99-A1DCADBA4A20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E9D21F-A66C-719A-BAC6-DF188EB8E82B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ADB5A3-2741-FB8C-006C-EA27EF69055F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BF4035-D0E0-CB49-EA10-902DBC59E7EF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C8AAB2-F6DE-2510-89A6-B5174A24442E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C5E581-8F0D-A656-3B7C-0B03B61BB724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7A13B0-8EE4-1BEF-CA7D-7BAAD21B9158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191F5A-1500-23C5-9E4A-3543CD03BAD6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3667F6-B080-252F-0BFF-1055F661C46D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72799C-AC62-27E0-4992-D828133D20CB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3D7A351-D010-BF48-7B68-7EEA9FB348F3}"/>
              </a:ext>
            </a:extLst>
          </p:cNvPr>
          <p:cNvSpPr/>
          <p:nvPr/>
        </p:nvSpPr>
        <p:spPr bwMode="auto">
          <a:xfrm>
            <a:off x="9344917" y="4647828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              ▼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0859EE-1AA2-42E8-C545-AF3596F0AFE9}"/>
              </a:ext>
            </a:extLst>
          </p:cNvPr>
          <p:cNvSpPr/>
          <p:nvPr/>
        </p:nvSpPr>
        <p:spPr bwMode="auto">
          <a:xfrm>
            <a:off x="9336399" y="4904921"/>
            <a:ext cx="1240212" cy="706482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법인사업자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개인사업자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비사업자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0042A9-E2AC-7FDD-053F-BFF1A38193C7}"/>
              </a:ext>
            </a:extLst>
          </p:cNvPr>
          <p:cNvSpPr/>
          <p:nvPr/>
        </p:nvSpPr>
        <p:spPr bwMode="auto">
          <a:xfrm>
            <a:off x="9190007" y="4489731"/>
            <a:ext cx="1483851" cy="1249371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FD2020D-96A1-8371-1028-CD1D2756F6B1}"/>
              </a:ext>
            </a:extLst>
          </p:cNvPr>
          <p:cNvSpPr/>
          <p:nvPr/>
        </p:nvSpPr>
        <p:spPr bwMode="auto">
          <a:xfrm>
            <a:off x="10203932" y="4549052"/>
            <a:ext cx="417043" cy="38934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C4136A4-F9B6-6A6B-BFC7-99FD71798265}"/>
              </a:ext>
            </a:extLst>
          </p:cNvPr>
          <p:cNvCxnSpPr>
            <a:cxnSpLocks/>
          </p:cNvCxnSpPr>
          <p:nvPr/>
        </p:nvCxnSpPr>
        <p:spPr bwMode="auto">
          <a:xfrm>
            <a:off x="5087559" y="2731618"/>
            <a:ext cx="4102448" cy="175811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7CAF382-DBF4-F01F-5B2D-52C36BEF2A23}"/>
              </a:ext>
            </a:extLst>
          </p:cNvPr>
          <p:cNvCxnSpPr>
            <a:cxnSpLocks/>
          </p:cNvCxnSpPr>
          <p:nvPr/>
        </p:nvCxnSpPr>
        <p:spPr bwMode="auto">
          <a:xfrm>
            <a:off x="5087559" y="2731618"/>
            <a:ext cx="5551503" cy="175811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72DE95D-4F31-F276-1D5A-4A3345702370}"/>
              </a:ext>
            </a:extLst>
          </p:cNvPr>
          <p:cNvSpPr/>
          <p:nvPr/>
        </p:nvSpPr>
        <p:spPr bwMode="auto">
          <a:xfrm>
            <a:off x="8515843" y="1259347"/>
            <a:ext cx="748509" cy="143552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      ▼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402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97B2-DC78-C742-DA71-8CD69B5D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71B8B3B-0BC2-A613-B02A-2EA317897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29017"/>
              </p:ext>
            </p:extLst>
          </p:nvPr>
        </p:nvGraphicFramePr>
        <p:xfrm>
          <a:off x="7950791" y="981075"/>
          <a:ext cx="4121873" cy="2945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법인사업자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대표자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개업연월일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법인등록번호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우편번호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사업자등록증상 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실주소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API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연동하여 주소등록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업종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담당자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연락처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E-Mail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14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개의 필수 정보 등록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미등록시                  버튼 클릭 시 필수정보 등록 요청 팝업 활성화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F7051CE-7030-A6E9-4E0B-218766B0D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법인사업자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6E15CE6-8ED8-8F30-28B1-E4E83B3E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58D6D4B-2456-7290-22BE-C60741E8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952586E-6066-A8BD-7C04-E130D976B25A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995C4D3-A41E-7382-3E65-5DDB4DBFC604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96368D-DC6C-9978-77DB-29FA42AC5B4A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C65EE8-577B-363A-558B-81B67C07790B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A031D7-488E-3C88-FD62-606CD19D41F1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11CA37-FEDC-7A4C-5F40-ED38F72489D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005205-1597-5DFB-525C-E6564354BFF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765549-B7F3-1E3D-C0E2-F61456CFF1A3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C660E76-4F4A-590C-9F2B-F9CA98690146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7092A87-7F85-E347-949B-2DCA1BA5A000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18F8F-29EB-7DD5-3FCA-4C642970519C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EFE83-D57D-EBD2-8519-D6724F8F7E1E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B217A-CF48-597E-EC44-31D852EB73C8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81AFA-46D7-A0E1-0AEB-259DFFDE7467}"/>
              </a:ext>
            </a:extLst>
          </p:cNvPr>
          <p:cNvSpPr txBox="1"/>
          <p:nvPr/>
        </p:nvSpPr>
        <p:spPr>
          <a:xfrm>
            <a:off x="2867330" y="1817133"/>
            <a:ext cx="49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66F14-7E7B-ABC0-72B3-4B3F647FB185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D2F093-4504-1D5F-0129-794C44608CF7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0BAEF14-B36C-54F2-7F2F-C72F6F4C6588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AC3DE2E-3224-2335-9072-3564EDB78F80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2A41836-38C7-6925-D5CA-810BA2DEEE96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134B843-F887-B97C-5846-A916DAAC32B2}"/>
              </a:ext>
            </a:extLst>
          </p:cNvPr>
          <p:cNvSpPr/>
          <p:nvPr/>
        </p:nvSpPr>
        <p:spPr bwMode="auto">
          <a:xfrm>
            <a:off x="1803124" y="2310119"/>
            <a:ext cx="951321" cy="220417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사업자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3FBCE40-5393-3C0B-F063-4C85D03DB273}"/>
              </a:ext>
            </a:extLst>
          </p:cNvPr>
          <p:cNvSpPr/>
          <p:nvPr/>
        </p:nvSpPr>
        <p:spPr bwMode="auto">
          <a:xfrm>
            <a:off x="6473324" y="6393426"/>
            <a:ext cx="630788" cy="19364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5AF2CD-AB04-6067-B971-7FF3E7DAF51B}"/>
              </a:ext>
            </a:extLst>
          </p:cNvPr>
          <p:cNvSpPr/>
          <p:nvPr/>
        </p:nvSpPr>
        <p:spPr bwMode="auto">
          <a:xfrm>
            <a:off x="4007768" y="2555510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 사업자     ▼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BB546D-B48A-D57C-D545-D9CC422B97C8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19B8CF-AB2B-7DF3-3A19-D4C6DF32CED3}"/>
              </a:ext>
            </a:extLst>
          </p:cNvPr>
          <p:cNvSpPr/>
          <p:nvPr/>
        </p:nvSpPr>
        <p:spPr bwMode="auto">
          <a:xfrm>
            <a:off x="1808314" y="2926609"/>
            <a:ext cx="5872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 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34B9D9E-7337-A41F-AA21-CE57A38F232C}"/>
              </a:ext>
            </a:extLst>
          </p:cNvPr>
          <p:cNvSpPr/>
          <p:nvPr/>
        </p:nvSpPr>
        <p:spPr bwMode="auto">
          <a:xfrm>
            <a:off x="1810417" y="3339296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 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017509F-0591-298E-B9B0-A532A078A6AD}"/>
              </a:ext>
            </a:extLst>
          </p:cNvPr>
          <p:cNvSpPr/>
          <p:nvPr/>
        </p:nvSpPr>
        <p:spPr bwMode="auto">
          <a:xfrm>
            <a:off x="4799856" y="3351445"/>
            <a:ext cx="2879494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 표 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4615F0C-8A0C-5F30-6EEC-06E6978EB5FE}"/>
              </a:ext>
            </a:extLst>
          </p:cNvPr>
          <p:cNvSpPr/>
          <p:nvPr/>
        </p:nvSpPr>
        <p:spPr bwMode="auto">
          <a:xfrm>
            <a:off x="1811560" y="3810530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개업 연월일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5027BBA-8761-B7AF-C965-3FBF221A229C}"/>
              </a:ext>
            </a:extLst>
          </p:cNvPr>
          <p:cNvSpPr/>
          <p:nvPr/>
        </p:nvSpPr>
        <p:spPr bwMode="auto">
          <a:xfrm>
            <a:off x="4801010" y="3804329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법인등록번호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6F391EB-310C-B512-BBCD-8E1F96C6C08B}"/>
              </a:ext>
            </a:extLst>
          </p:cNvPr>
          <p:cNvSpPr/>
          <p:nvPr/>
        </p:nvSpPr>
        <p:spPr bwMode="auto">
          <a:xfrm>
            <a:off x="3287688" y="4291944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0640BBD-B1ED-8D40-3824-5A5F0D17F343}"/>
              </a:ext>
            </a:extLst>
          </p:cNvPr>
          <p:cNvSpPr/>
          <p:nvPr/>
        </p:nvSpPr>
        <p:spPr bwMode="auto">
          <a:xfrm>
            <a:off x="3286752" y="4762378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40ED5E5-BF43-401F-22FE-D92063FEAAB4}"/>
              </a:ext>
            </a:extLst>
          </p:cNvPr>
          <p:cNvSpPr/>
          <p:nvPr/>
        </p:nvSpPr>
        <p:spPr bwMode="auto">
          <a:xfrm>
            <a:off x="1797091" y="5231370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A3A01FA-08C5-AE2D-3536-B97A213B230E}"/>
              </a:ext>
            </a:extLst>
          </p:cNvPr>
          <p:cNvSpPr/>
          <p:nvPr/>
        </p:nvSpPr>
        <p:spPr bwMode="auto">
          <a:xfrm>
            <a:off x="3846411" y="5243792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업종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A83E39-8643-F81D-37B9-008F47156941}"/>
              </a:ext>
            </a:extLst>
          </p:cNvPr>
          <p:cNvSpPr/>
          <p:nvPr/>
        </p:nvSpPr>
        <p:spPr bwMode="auto">
          <a:xfrm>
            <a:off x="5862634" y="5243792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3DF037-46BA-DF24-99DA-B9DCB4859AC0}"/>
              </a:ext>
            </a:extLst>
          </p:cNvPr>
          <p:cNvSpPr/>
          <p:nvPr/>
        </p:nvSpPr>
        <p:spPr bwMode="auto">
          <a:xfrm>
            <a:off x="1812438" y="4303872"/>
            <a:ext cx="1367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2705D9A-24B2-83B5-352C-97A7F56F9841}"/>
              </a:ext>
            </a:extLst>
          </p:cNvPr>
          <p:cNvSpPr/>
          <p:nvPr/>
        </p:nvSpPr>
        <p:spPr bwMode="auto">
          <a:xfrm>
            <a:off x="1799659" y="5689876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C02323D-E483-B260-0199-92383B8A3CBE}"/>
              </a:ext>
            </a:extLst>
          </p:cNvPr>
          <p:cNvSpPr/>
          <p:nvPr/>
        </p:nvSpPr>
        <p:spPr bwMode="auto">
          <a:xfrm>
            <a:off x="3846410" y="5700830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5D46BDE-84F3-3CA7-ADCC-94EE0F5DDE4E}"/>
              </a:ext>
            </a:extLst>
          </p:cNvPr>
          <p:cNvSpPr/>
          <p:nvPr/>
        </p:nvSpPr>
        <p:spPr bwMode="auto">
          <a:xfrm>
            <a:off x="5862634" y="5698864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DC6268F-B129-85B2-2DE4-0127BD6AD12C}"/>
              </a:ext>
            </a:extLst>
          </p:cNvPr>
          <p:cNvSpPr/>
          <p:nvPr/>
        </p:nvSpPr>
        <p:spPr bwMode="auto">
          <a:xfrm>
            <a:off x="7132463" y="639092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C86BE27-D51D-FCB9-C132-9A351EC08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06BF9D0-B8A1-09C1-B826-EC880F1F8498}"/>
              </a:ext>
            </a:extLst>
          </p:cNvPr>
          <p:cNvCxnSpPr>
            <a:cxnSpLocks/>
          </p:cNvCxnSpPr>
          <p:nvPr/>
        </p:nvCxnSpPr>
        <p:spPr bwMode="auto">
          <a:xfrm>
            <a:off x="1847528" y="6237312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E58B25-FE55-BB41-7C71-3D91A99A0934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F9C61-AE6D-6540-0727-D7FE697653E8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FEE11-2152-60E5-D0CB-AD09B9CF7097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65BA3-66EA-4F6E-E949-964B1194E48E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6CEF2B-C110-3071-67BA-0E6403F9A735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147DBD-8D35-112C-1043-1EDDE43419BA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B8885F-6265-FAB6-EC73-D1B7D85140DB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C4DAB0-00CE-7A20-BFA4-3A4AB4FF7EFB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154CF2-B8E6-24E1-F02C-E5F302FDA75F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F086B9-2D41-F591-D109-EFD71181E196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311B77-F774-469B-1253-0DC517ECE4D3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ACE571-26E8-7F68-548E-3F73E7FC5435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857C10-D009-1E04-4BF0-604E46153C79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6EA22-9297-6405-0CB5-8C72D84AF5BE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51274E-13B3-2551-1C0D-D7E2953A2366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8623D5-BB34-9B59-E1AC-A1584E852B18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230ED3-9700-18BC-DA1E-13B9387C0A73}"/>
              </a:ext>
            </a:extLst>
          </p:cNvPr>
          <p:cNvSpPr/>
          <p:nvPr/>
        </p:nvSpPr>
        <p:spPr bwMode="auto">
          <a:xfrm>
            <a:off x="10236402" y="3510339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800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BF3C7-B3D2-EA47-8171-5F2A6CDA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C0AABE-2F14-4EF3-3CE6-BDBD60798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619820"/>
              </p:ext>
            </p:extLst>
          </p:nvPr>
        </p:nvGraphicFramePr>
        <p:xfrm>
          <a:off x="7950791" y="981075"/>
          <a:ext cx="4121873" cy="2945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개인사업자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대표자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개업연월일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생년월일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우편번호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사업자등록증상 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실주소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API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연동하여 주소등록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업종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담당자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연락처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E-Mail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14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개의 필수 정보 등록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미등록시                  버튼 클릭 시 필수정보 등록 요청 팝업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8F9A62F5-551B-C731-8C0A-B02054D3B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개인사업자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A32E503-4845-6296-9588-657AFFCD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0045533-CF53-C645-2AEC-52340AC75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320769A-166C-CB17-48B1-6EB46D25D29F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B4BD1AA-920A-E760-40DC-D24E810F4952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4B875D-8F1B-B221-A722-B6299297F61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529E4E-90BE-3666-3F4E-B590EF680C5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816B3C-3DF4-0E90-2ABA-7312C0A2521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2D8142-A29E-A0F2-7D12-44BAB7EE67ED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B98470-0F83-9AC3-964C-8CDC7CE6132E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1DA98D-E86A-EAF2-EB27-EFD64090C1B7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244C8A9-E9C9-B5FB-7CE1-137438AAC84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B2BBF5-6264-5241-97FA-5607E3FC34D7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F4612-FD36-0E3A-0063-EB111B202612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5BEA0-CE08-F5D6-E284-50810F3FC3A5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36494C-B6EE-C21A-DA1D-60C528E7A8D9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60460-86BE-9496-6AB7-85BC29D4EA27}"/>
              </a:ext>
            </a:extLst>
          </p:cNvPr>
          <p:cNvSpPr txBox="1"/>
          <p:nvPr/>
        </p:nvSpPr>
        <p:spPr>
          <a:xfrm>
            <a:off x="2855640" y="1817133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8CDCE-C11E-1946-6206-674333BE7431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7DF3B-E1DB-9102-30C9-778DB43B3283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36C122-D9FF-C1D6-AAE2-E90C1CD10FFC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8AF433E-8137-4734-6870-B4291C75C5B9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E7112DD-456D-7CC3-0746-966C6F5AB60B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FF752D-EAB3-D70A-A7CE-7838E21BDC16}"/>
              </a:ext>
            </a:extLst>
          </p:cNvPr>
          <p:cNvSpPr/>
          <p:nvPr/>
        </p:nvSpPr>
        <p:spPr bwMode="auto">
          <a:xfrm>
            <a:off x="1803124" y="2310119"/>
            <a:ext cx="951321" cy="220417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사업자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26743FB-02C6-3879-C442-63D55A1645E3}"/>
              </a:ext>
            </a:extLst>
          </p:cNvPr>
          <p:cNvSpPr/>
          <p:nvPr/>
        </p:nvSpPr>
        <p:spPr bwMode="auto">
          <a:xfrm>
            <a:off x="7141436" y="639342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CDF7AB4-01C1-F1A3-D0EE-D585219AF394}"/>
              </a:ext>
            </a:extLst>
          </p:cNvPr>
          <p:cNvSpPr/>
          <p:nvPr/>
        </p:nvSpPr>
        <p:spPr bwMode="auto">
          <a:xfrm>
            <a:off x="4007768" y="2555510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 사업자     ▼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073F35-7C21-66FA-4A97-441C446E7AB3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569834-3684-F55B-DAB7-5FAE2333AA44}"/>
              </a:ext>
            </a:extLst>
          </p:cNvPr>
          <p:cNvSpPr/>
          <p:nvPr/>
        </p:nvSpPr>
        <p:spPr bwMode="auto">
          <a:xfrm>
            <a:off x="1808314" y="2926609"/>
            <a:ext cx="5872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 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4C4CCA2-223A-3E8C-2477-E2BA0D870B77}"/>
              </a:ext>
            </a:extLst>
          </p:cNvPr>
          <p:cNvSpPr/>
          <p:nvPr/>
        </p:nvSpPr>
        <p:spPr bwMode="auto">
          <a:xfrm>
            <a:off x="1810417" y="3339296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 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BD0EE88-F85B-25A9-7DF5-71A481C81EE1}"/>
              </a:ext>
            </a:extLst>
          </p:cNvPr>
          <p:cNvSpPr/>
          <p:nvPr/>
        </p:nvSpPr>
        <p:spPr bwMode="auto">
          <a:xfrm>
            <a:off x="4799856" y="3351445"/>
            <a:ext cx="2879494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 표 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1F9E52-BEFD-FB89-6A04-471E6DF1090D}"/>
              </a:ext>
            </a:extLst>
          </p:cNvPr>
          <p:cNvSpPr/>
          <p:nvPr/>
        </p:nvSpPr>
        <p:spPr bwMode="auto">
          <a:xfrm>
            <a:off x="1811560" y="3810530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개업 연월일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F6B8BEF-E1EE-BA4C-34B6-484CB2EFD715}"/>
              </a:ext>
            </a:extLst>
          </p:cNvPr>
          <p:cNvSpPr/>
          <p:nvPr/>
        </p:nvSpPr>
        <p:spPr bwMode="auto">
          <a:xfrm>
            <a:off x="4801010" y="3804329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생년월일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D34C1CF-B8B9-B2F3-4482-84A226D32754}"/>
              </a:ext>
            </a:extLst>
          </p:cNvPr>
          <p:cNvSpPr/>
          <p:nvPr/>
        </p:nvSpPr>
        <p:spPr bwMode="auto">
          <a:xfrm>
            <a:off x="3287688" y="4291944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ABB8891-071F-90EC-9DFD-2134AC9A8B09}"/>
              </a:ext>
            </a:extLst>
          </p:cNvPr>
          <p:cNvSpPr/>
          <p:nvPr/>
        </p:nvSpPr>
        <p:spPr bwMode="auto">
          <a:xfrm>
            <a:off x="3286752" y="4762378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4B28BED-143A-B2D9-448B-8FDA1CAE5ADD}"/>
              </a:ext>
            </a:extLst>
          </p:cNvPr>
          <p:cNvSpPr/>
          <p:nvPr/>
        </p:nvSpPr>
        <p:spPr bwMode="auto">
          <a:xfrm>
            <a:off x="1797091" y="5231370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BC643AD-6552-B7AC-3ABD-2FE3108D65F3}"/>
              </a:ext>
            </a:extLst>
          </p:cNvPr>
          <p:cNvSpPr/>
          <p:nvPr/>
        </p:nvSpPr>
        <p:spPr bwMode="auto">
          <a:xfrm>
            <a:off x="3846411" y="5243792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업종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E48BDB3-9077-D5C4-63DA-E3E24BF3702C}"/>
              </a:ext>
            </a:extLst>
          </p:cNvPr>
          <p:cNvSpPr/>
          <p:nvPr/>
        </p:nvSpPr>
        <p:spPr bwMode="auto">
          <a:xfrm>
            <a:off x="5862634" y="5243792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8CACDED-1546-A5F0-EA76-61373DF9626A}"/>
              </a:ext>
            </a:extLst>
          </p:cNvPr>
          <p:cNvSpPr/>
          <p:nvPr/>
        </p:nvSpPr>
        <p:spPr bwMode="auto">
          <a:xfrm>
            <a:off x="1812438" y="4303872"/>
            <a:ext cx="1367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E2C489F-8998-7A1E-B92A-4F680F363EA3}"/>
              </a:ext>
            </a:extLst>
          </p:cNvPr>
          <p:cNvSpPr/>
          <p:nvPr/>
        </p:nvSpPr>
        <p:spPr bwMode="auto">
          <a:xfrm>
            <a:off x="1799659" y="5689876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8CD37DA-A600-BB74-A7E1-B1D884112990}"/>
              </a:ext>
            </a:extLst>
          </p:cNvPr>
          <p:cNvSpPr/>
          <p:nvPr/>
        </p:nvSpPr>
        <p:spPr bwMode="auto">
          <a:xfrm>
            <a:off x="3846410" y="5700830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0577CA4-E114-67D4-10AE-C5ED91CAD0F2}"/>
              </a:ext>
            </a:extLst>
          </p:cNvPr>
          <p:cNvSpPr/>
          <p:nvPr/>
        </p:nvSpPr>
        <p:spPr bwMode="auto">
          <a:xfrm>
            <a:off x="5862634" y="5698864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93D6DD9-43A2-C06B-239C-EBAA400DDEE2}"/>
              </a:ext>
            </a:extLst>
          </p:cNvPr>
          <p:cNvSpPr/>
          <p:nvPr/>
        </p:nvSpPr>
        <p:spPr bwMode="auto">
          <a:xfrm>
            <a:off x="6473324" y="6393426"/>
            <a:ext cx="630788" cy="19364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BC4B8-1886-0997-E997-9767DF030786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E1C0CC1-5653-D0C6-0DCE-22020B42A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15BB238-D4A7-D9D0-DD69-1C3AE1927221}"/>
              </a:ext>
            </a:extLst>
          </p:cNvPr>
          <p:cNvCxnSpPr>
            <a:cxnSpLocks/>
          </p:cNvCxnSpPr>
          <p:nvPr/>
        </p:nvCxnSpPr>
        <p:spPr bwMode="auto">
          <a:xfrm>
            <a:off x="1847528" y="6237312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42D88B-B464-1A13-76B5-784C61E9006B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6A77F9-192C-47E6-9814-7245FE9B8446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9924D5-F67E-DAD0-EC5B-795B383DBC67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BE011F-DF14-9E41-5570-AE04EF101FAA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8B3370-8C95-D484-A5B7-7BE3013632AB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BDA3B0-31B4-AFFF-2857-668AF5543B73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5835EC-21CA-9A72-E53D-4F776F3A7502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5E8E5A-DC5F-BFBF-BC8D-B6B2A002B40D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DF2909-1C3D-E598-ECD9-B32566398DB9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62A8BC-568D-AD57-E086-2B885283A62D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E4134B-6305-66D2-7C14-3812BA337204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609C38-A299-6190-8EB8-23C52D1A4C37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6AECCB-A1CC-B000-36F6-E8427D914BEF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84F3BB-88AA-D6D1-A73A-6186361A49B9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8A8750-88CD-4A62-FCFA-8EB2FBB2ADEF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003DAEF-2F1C-AC00-C0A1-5BEB9B6D2E2A}"/>
              </a:ext>
            </a:extLst>
          </p:cNvPr>
          <p:cNvSpPr/>
          <p:nvPr/>
        </p:nvSpPr>
        <p:spPr bwMode="auto">
          <a:xfrm>
            <a:off x="10236402" y="3510339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3D7AF-2208-C2DD-F01F-D2D91646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264811-2E40-511F-FA70-DA0A8BC3D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145221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비사업자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대표자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생년월일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우편번호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사업자등록증상 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실주소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주소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API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연동하여 주소등록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업종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대표번호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담당자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연락처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E-Mail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14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개의 필수 정보 등록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미등록시                  버튼 클릭 시 필수정보 등록 요청 팝업 활성화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3A229C80-7296-DF73-D052-F874BF53A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비사업자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A56B17E-D94F-FAE8-A65E-D75AF7883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55B1C6-F9FE-8937-514C-07FE4189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55AC994-C1F0-FD25-40AC-51AEA9021314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5C2AE1E-7F42-643F-6A71-5A987D0490F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E00520C-4A71-D071-5F69-699D43675AE2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002C90-0393-7639-4497-82A0B96AC0F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F3CE1A-568A-CF1F-AD4E-552B8A765FB9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DC327-0147-C3E0-5C16-9B567EF5F18C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B3519F-16FF-5A91-A0C8-07800C7311F5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4AD427-023E-F20A-1812-51E518BCB097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BE4DCA6-9596-0760-7E45-D032CCC3B990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44F157-8E50-A9DB-E18E-1B3F5AB2636D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51C9E-29FF-0C1D-CC66-A225CD8F8C2F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28E15-A78C-F7D4-12BB-1BCC66B9A5E4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3B7A20-F5C7-78CE-ADAD-ACE409BA83F8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CC5220-65DB-49BF-2478-C177A466124B}"/>
              </a:ext>
            </a:extLst>
          </p:cNvPr>
          <p:cNvSpPr txBox="1"/>
          <p:nvPr/>
        </p:nvSpPr>
        <p:spPr>
          <a:xfrm>
            <a:off x="2855640" y="1817133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FDBFBA-F616-1833-76FC-74A6CD4B60C9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BC31A4-8017-3148-1C15-62D2752686A8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85E64D2-5705-3A6B-A515-779BF951F1C9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9982667-3159-025D-55CA-627B8D42DDC0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0703DD7-E46D-7ABC-9BD5-2FEA4DAB14E7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E3D58DE-3231-812F-41CE-1D1E8A0D1C08}"/>
              </a:ext>
            </a:extLst>
          </p:cNvPr>
          <p:cNvSpPr/>
          <p:nvPr/>
        </p:nvSpPr>
        <p:spPr bwMode="auto">
          <a:xfrm>
            <a:off x="1803124" y="2310119"/>
            <a:ext cx="951321" cy="220417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사업자 정보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092F05-87FE-CD20-51B9-6A9729644587}"/>
              </a:ext>
            </a:extLst>
          </p:cNvPr>
          <p:cNvSpPr/>
          <p:nvPr/>
        </p:nvSpPr>
        <p:spPr bwMode="auto">
          <a:xfrm>
            <a:off x="4007768" y="2555510"/>
            <a:ext cx="1240212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비사업자     ▼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D0E039-A1CE-987F-1502-2B25A0C99F14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34E60A9-8C06-A386-4139-594C6E07F08F}"/>
              </a:ext>
            </a:extLst>
          </p:cNvPr>
          <p:cNvSpPr/>
          <p:nvPr/>
        </p:nvSpPr>
        <p:spPr bwMode="auto">
          <a:xfrm>
            <a:off x="1810417" y="2996952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 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CD87B95-5AF6-09E8-13FC-42B3414C8309}"/>
              </a:ext>
            </a:extLst>
          </p:cNvPr>
          <p:cNvSpPr/>
          <p:nvPr/>
        </p:nvSpPr>
        <p:spPr bwMode="auto">
          <a:xfrm>
            <a:off x="4799856" y="2996952"/>
            <a:ext cx="2879494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 표 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95A7738-C684-A20F-1819-79F7E4D074B3}"/>
              </a:ext>
            </a:extLst>
          </p:cNvPr>
          <p:cNvSpPr/>
          <p:nvPr/>
        </p:nvSpPr>
        <p:spPr bwMode="auto">
          <a:xfrm>
            <a:off x="4801010" y="3429000"/>
            <a:ext cx="2877186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생년월일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EFB99AE-FBCE-2BFC-E63A-F3FFD7823E3A}"/>
              </a:ext>
            </a:extLst>
          </p:cNvPr>
          <p:cNvSpPr/>
          <p:nvPr/>
        </p:nvSpPr>
        <p:spPr bwMode="auto">
          <a:xfrm>
            <a:off x="3287688" y="3933056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C80CA81-D2F4-3DD3-A28C-E970131901F9}"/>
              </a:ext>
            </a:extLst>
          </p:cNvPr>
          <p:cNvSpPr/>
          <p:nvPr/>
        </p:nvSpPr>
        <p:spPr bwMode="auto">
          <a:xfrm>
            <a:off x="3286752" y="4365104"/>
            <a:ext cx="43957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실사업장 소재지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CB9C01D-530E-8E2E-20DB-1C9CC657EF64}"/>
              </a:ext>
            </a:extLst>
          </p:cNvPr>
          <p:cNvSpPr/>
          <p:nvPr/>
        </p:nvSpPr>
        <p:spPr bwMode="auto">
          <a:xfrm>
            <a:off x="1797091" y="4869160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6F5B9DA-2C95-FB7E-F7D8-65E4BC37BD45}"/>
              </a:ext>
            </a:extLst>
          </p:cNvPr>
          <p:cNvSpPr/>
          <p:nvPr/>
        </p:nvSpPr>
        <p:spPr bwMode="auto">
          <a:xfrm>
            <a:off x="3846411" y="4869160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업종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B15F979-A43B-2FD6-E62B-959740832D47}"/>
              </a:ext>
            </a:extLst>
          </p:cNvPr>
          <p:cNvSpPr/>
          <p:nvPr/>
        </p:nvSpPr>
        <p:spPr bwMode="auto">
          <a:xfrm>
            <a:off x="5862634" y="4869160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939622B-38A2-FB1B-B11A-3F831774FBF5}"/>
              </a:ext>
            </a:extLst>
          </p:cNvPr>
          <p:cNvSpPr/>
          <p:nvPr/>
        </p:nvSpPr>
        <p:spPr bwMode="auto">
          <a:xfrm>
            <a:off x="1812438" y="3933056"/>
            <a:ext cx="1367083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7985D1E-4818-9C44-77C6-32BE0A6D3C9C}"/>
              </a:ext>
            </a:extLst>
          </p:cNvPr>
          <p:cNvSpPr/>
          <p:nvPr/>
        </p:nvSpPr>
        <p:spPr bwMode="auto">
          <a:xfrm>
            <a:off x="1799659" y="5301208"/>
            <a:ext cx="1922645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B6C325D-EA14-762E-77F9-B223FAC38C07}"/>
              </a:ext>
            </a:extLst>
          </p:cNvPr>
          <p:cNvSpPr/>
          <p:nvPr/>
        </p:nvSpPr>
        <p:spPr bwMode="auto">
          <a:xfrm>
            <a:off x="3846410" y="5301208"/>
            <a:ext cx="1889548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8B9FED-1038-8B06-C9DF-3167192BB2BF}"/>
              </a:ext>
            </a:extLst>
          </p:cNvPr>
          <p:cNvSpPr/>
          <p:nvPr/>
        </p:nvSpPr>
        <p:spPr bwMode="auto">
          <a:xfrm>
            <a:off x="5862634" y="5301208"/>
            <a:ext cx="1815562" cy="352039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588319-AEB2-AD92-D234-1B530E6C5966}"/>
              </a:ext>
            </a:extLst>
          </p:cNvPr>
          <p:cNvSpPr/>
          <p:nvPr/>
        </p:nvSpPr>
        <p:spPr bwMode="auto">
          <a:xfrm>
            <a:off x="7141436" y="639342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2BA8F3F-770C-25DE-C2B4-D35D18E21513}"/>
              </a:ext>
            </a:extLst>
          </p:cNvPr>
          <p:cNvSpPr/>
          <p:nvPr/>
        </p:nvSpPr>
        <p:spPr bwMode="auto">
          <a:xfrm>
            <a:off x="6473324" y="6393426"/>
            <a:ext cx="630788" cy="19364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CDB7C8-7606-25FA-848F-EF67F8B5FDA2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5E8FAAE-FD12-F770-1E9D-05BAF2E60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D53B899-BC9B-6C7F-3D77-CEDF4E7FFE05}"/>
              </a:ext>
            </a:extLst>
          </p:cNvPr>
          <p:cNvCxnSpPr>
            <a:cxnSpLocks/>
          </p:cNvCxnSpPr>
          <p:nvPr/>
        </p:nvCxnSpPr>
        <p:spPr bwMode="auto">
          <a:xfrm>
            <a:off x="1847528" y="6165304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D1D3C8-88AF-B230-0F1F-EA81C765975E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6D5D4-CA09-6198-C216-3AE02BF02703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2B12C0-E471-B5EA-8B8B-5BA7E5B302EB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74839B-6D81-E97D-8BA7-ECD9484EB5F2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8E5523-B1B8-36C0-1522-8E2B9FA092D1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E1C153-7406-0074-7687-A68BB7921CA8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BF825-1B8E-0DBC-633D-182AFF805F4B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07C708-7857-04EF-AC07-408F79E40D7E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7CE562-C70B-0ECD-4EDB-AF97C2D622C5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C3D73E-3C5E-1215-C67C-8CF301773831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234EB8-F3B9-1F28-9352-1B7F0759F890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327BC9-E348-1EDE-BC12-1505486172D9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6C7546-3779-63FD-0AAB-6D00485D4D55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C4353E-76F5-B41A-6F25-D7D69C2F0494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5F2FE3-92CC-3C9D-2864-CA404D193FD0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E2A9AE0-5F14-18E0-2936-89554D36EC7B}"/>
              </a:ext>
            </a:extLst>
          </p:cNvPr>
          <p:cNvSpPr/>
          <p:nvPr/>
        </p:nvSpPr>
        <p:spPr bwMode="auto">
          <a:xfrm>
            <a:off x="10236402" y="3087622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824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97B9-92FF-0F90-16DB-88175269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6718675-F938-9239-5BAB-2DC5FE720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877096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계좌정보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정산정보 및 수수료 기재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 등록방식</a:t>
                      </a:r>
                      <a:endParaRPr lang="en-US" altLang="ko-KR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구분없이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수수료만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수수료만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수수료만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버튼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 입력란이 활성화 되며 수수료 기재 가능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이후 추가 제공되는 수수료는 영업점 목록 내에서 진행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4E34422E-EDEE-423C-C705-BFE0F4E04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정산정보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계좌정보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28E1C79-A364-3A9A-5613-E4BD43FC9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6196FD5-1501-2C46-1DA2-C24FE259D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E68E8DF-20A7-6E55-C3AE-5C90FB5E7374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D268CBB-1825-B2A0-009B-A0CA433500B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2987AC-38B9-455E-2D1E-A3405316C640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FE8250-BF38-E7ED-9287-98D233DEF77B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B91C13-AFBF-D568-C372-F62012CD323D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94BDE4-A632-5847-3968-914587A32DA2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DFD59A-3E28-D710-B5B4-A2E46070AF14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1252A9-2799-D85A-1227-971A52793174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E68A608-3C83-EE59-A962-6CE3BC13B4F0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32DCA2-4BA3-FAAD-F314-70A835A588A1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C4028-434D-2A2B-E634-32757214071C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DBBCB-AE31-AD85-ABC9-F1124F98B87B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7A4F6-EF13-3738-A5AF-7FA1449288C2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9A5D8-1C41-728A-5BBE-8F12ABA79E7F}"/>
              </a:ext>
            </a:extLst>
          </p:cNvPr>
          <p:cNvSpPr txBox="1"/>
          <p:nvPr/>
        </p:nvSpPr>
        <p:spPr>
          <a:xfrm>
            <a:off x="2855640" y="1817133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4E40F-7747-ECF4-FD9B-3DC3627F37F1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ABC5B-3ED4-6348-6648-A7E03D6C245A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226FA72-3D48-346B-91E8-7381659780D0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7AC8EBC-3D22-6108-987A-B5CB90FC9D27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79F6E92-2F98-9B26-3992-0F4C547534AA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8166B7B-7A95-1ACB-0D2C-CDF14ACF05CA}"/>
              </a:ext>
            </a:extLst>
          </p:cNvPr>
          <p:cNvSpPr/>
          <p:nvPr/>
        </p:nvSpPr>
        <p:spPr bwMode="auto">
          <a:xfrm>
            <a:off x="1803124" y="2310119"/>
            <a:ext cx="75650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FA8894-3CB3-E6D8-C99B-A2694FE87AFB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ED9BBAC-BF26-7AB3-FDED-8319DDA6D162}"/>
              </a:ext>
            </a:extLst>
          </p:cNvPr>
          <p:cNvSpPr/>
          <p:nvPr/>
        </p:nvSpPr>
        <p:spPr bwMode="auto">
          <a:xfrm>
            <a:off x="1979475" y="2686519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계좌정보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FDE565D-7297-A5FE-D7A9-951774174515}"/>
              </a:ext>
            </a:extLst>
          </p:cNvPr>
          <p:cNvSpPr/>
          <p:nvPr/>
        </p:nvSpPr>
        <p:spPr bwMode="auto">
          <a:xfrm>
            <a:off x="1989117" y="2996952"/>
            <a:ext cx="1360704" cy="229101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거래은행           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55E50F9-59B9-09E6-0349-2BE08F766322}"/>
              </a:ext>
            </a:extLst>
          </p:cNvPr>
          <p:cNvSpPr/>
          <p:nvPr/>
        </p:nvSpPr>
        <p:spPr bwMode="auto">
          <a:xfrm>
            <a:off x="3471938" y="3000509"/>
            <a:ext cx="2331508" cy="229101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계좌번호                                 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EE47124-31CF-2849-36FB-FDB3A8190799}"/>
              </a:ext>
            </a:extLst>
          </p:cNvPr>
          <p:cNvSpPr/>
          <p:nvPr/>
        </p:nvSpPr>
        <p:spPr bwMode="auto">
          <a:xfrm>
            <a:off x="5895148" y="2999620"/>
            <a:ext cx="1738098" cy="229101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예금주                       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9B80427-F406-AAD4-6B11-86EDD205F00C}"/>
              </a:ext>
            </a:extLst>
          </p:cNvPr>
          <p:cNvCxnSpPr>
            <a:cxnSpLocks/>
          </p:cNvCxnSpPr>
          <p:nvPr/>
        </p:nvCxnSpPr>
        <p:spPr bwMode="auto">
          <a:xfrm>
            <a:off x="1847528" y="3356992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6232C5-ED47-5ABA-54EB-4441A0FF9A28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B4E5B2F-E32A-749E-3C0C-AD64D8B10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43EB219-83A3-E74E-A8AE-7AA41A2B0B3F}"/>
              </a:ext>
            </a:extLst>
          </p:cNvPr>
          <p:cNvSpPr/>
          <p:nvPr/>
        </p:nvSpPr>
        <p:spPr bwMode="auto">
          <a:xfrm>
            <a:off x="1806868" y="3529810"/>
            <a:ext cx="75650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AA8866-61DD-5F53-2D7F-693033925C02}"/>
              </a:ext>
            </a:extLst>
          </p:cNvPr>
          <p:cNvSpPr/>
          <p:nvPr/>
        </p:nvSpPr>
        <p:spPr bwMode="auto">
          <a:xfrm>
            <a:off x="2927648" y="3886105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C828750-D547-BFD4-73FF-98BD31E1C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594523"/>
              </p:ext>
            </p:extLst>
          </p:nvPr>
        </p:nvGraphicFramePr>
        <p:xfrm>
          <a:off x="2001346" y="4162922"/>
          <a:ext cx="56319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8650">
                  <a:extLst>
                    <a:ext uri="{9D8B030D-6E8A-4147-A177-3AD203B41FA5}">
                      <a16:colId xmlns:a16="http://schemas.microsoft.com/office/drawing/2014/main" val="1314894441"/>
                    </a:ext>
                  </a:extLst>
                </a:gridCol>
                <a:gridCol w="938650">
                  <a:extLst>
                    <a:ext uri="{9D8B030D-6E8A-4147-A177-3AD203B41FA5}">
                      <a16:colId xmlns:a16="http://schemas.microsoft.com/office/drawing/2014/main" val="4159559580"/>
                    </a:ext>
                  </a:extLst>
                </a:gridCol>
                <a:gridCol w="938650">
                  <a:extLst>
                    <a:ext uri="{9D8B030D-6E8A-4147-A177-3AD203B41FA5}">
                      <a16:colId xmlns:a16="http://schemas.microsoft.com/office/drawing/2014/main" val="3973684633"/>
                    </a:ext>
                  </a:extLst>
                </a:gridCol>
                <a:gridCol w="938650">
                  <a:extLst>
                    <a:ext uri="{9D8B030D-6E8A-4147-A177-3AD203B41FA5}">
                      <a16:colId xmlns:a16="http://schemas.microsoft.com/office/drawing/2014/main" val="1278700079"/>
                    </a:ext>
                  </a:extLst>
                </a:gridCol>
                <a:gridCol w="938650">
                  <a:extLst>
                    <a:ext uri="{9D8B030D-6E8A-4147-A177-3AD203B41FA5}">
                      <a16:colId xmlns:a16="http://schemas.microsoft.com/office/drawing/2014/main" val="1314910121"/>
                    </a:ext>
                  </a:extLst>
                </a:gridCol>
                <a:gridCol w="938650">
                  <a:extLst>
                    <a:ext uri="{9D8B030D-6E8A-4147-A177-3AD203B41FA5}">
                      <a16:colId xmlns:a16="http://schemas.microsoft.com/office/drawing/2014/main" val="147965451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일반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중소</a:t>
                      </a: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중소</a:t>
                      </a:r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중소</a:t>
                      </a:r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영세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</a:rPr>
                        <a:t>해외카드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351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2.50%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1.90%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1.70%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1.50%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0.80%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3.80%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637513"/>
                  </a:ext>
                </a:extLst>
              </a:tr>
            </a:tbl>
          </a:graphicData>
        </a:graphic>
      </p:graphicFrame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9C24E14-6D37-2313-3B3B-B68D64F26F1C}"/>
              </a:ext>
            </a:extLst>
          </p:cNvPr>
          <p:cNvCxnSpPr>
            <a:cxnSpLocks/>
          </p:cNvCxnSpPr>
          <p:nvPr/>
        </p:nvCxnSpPr>
        <p:spPr bwMode="auto">
          <a:xfrm>
            <a:off x="1847528" y="4725144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4C87C7D-B220-8420-0DD2-50758363822F}"/>
              </a:ext>
            </a:extLst>
          </p:cNvPr>
          <p:cNvSpPr/>
          <p:nvPr/>
        </p:nvSpPr>
        <p:spPr bwMode="auto">
          <a:xfrm>
            <a:off x="3879676" y="3883515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785E8B3-5BFA-6695-3D88-B7B644D0E01D}"/>
              </a:ext>
            </a:extLst>
          </p:cNvPr>
          <p:cNvSpPr/>
          <p:nvPr/>
        </p:nvSpPr>
        <p:spPr bwMode="auto">
          <a:xfrm>
            <a:off x="4799856" y="3874589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DE39161-7431-FC6A-2F1C-CC74EC4629DC}"/>
              </a:ext>
            </a:extLst>
          </p:cNvPr>
          <p:cNvSpPr/>
          <p:nvPr/>
        </p:nvSpPr>
        <p:spPr bwMode="auto">
          <a:xfrm>
            <a:off x="5807968" y="3874589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021F4C8-8861-2DB0-2FFF-C47D9D995408}"/>
              </a:ext>
            </a:extLst>
          </p:cNvPr>
          <p:cNvSpPr/>
          <p:nvPr/>
        </p:nvSpPr>
        <p:spPr bwMode="auto">
          <a:xfrm>
            <a:off x="6804011" y="3874589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정기결제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00F0507-0E77-6E2D-0575-E50A420FEC97}"/>
              </a:ext>
            </a:extLst>
          </p:cNvPr>
          <p:cNvSpPr/>
          <p:nvPr/>
        </p:nvSpPr>
        <p:spPr bwMode="auto">
          <a:xfrm>
            <a:off x="2000109" y="3876165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68783-2FAF-A03D-E47C-2C83E0024AFD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985BE-FA58-C534-FF08-C4900FE94908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380AD-E546-9567-CC3F-8306B68D66F7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4C2F4-5ED9-39B5-1A38-E661E3F81CD7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AD375C-1569-0FC1-C216-D3D38B9F4B92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757197-13E5-B246-1232-17D2BA77F006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142563-D1F0-E5DD-0AB2-BB26457EC897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B1878B-9E9E-BF5F-A8D0-B99DF08DF3A5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713FD8-A72E-6E8A-7909-52C9AF86AFD4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2D903D-C395-2E31-DC06-5E7E0C0010E0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E2C46B-831F-A463-3A8D-15557EAE77D1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587930-FDD8-8966-9D66-88EADCE32B07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59F3ED-46AF-DEAF-8A09-1A8A4C36C42B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C708E6-9150-7435-9052-6FA24222C5CC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35EFE9-F868-8424-8B35-A98BA8049DE4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5905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3C98-BBD3-E3C7-9477-F0D75608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FA6BE7-88EF-D31A-6106-E0CF202C2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64300"/>
              </p:ext>
            </p:extLst>
          </p:nvPr>
        </p:nvGraphicFramePr>
        <p:xfrm>
          <a:off x="7950791" y="981075"/>
          <a:ext cx="4121873" cy="3150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한도관리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한도 설정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한도 설정 방법</a:t>
                      </a:r>
                      <a:endParaRPr lang="en-US" altLang="ko-KR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구분없이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한도만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한도만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한도만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한도만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한도만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정기결제 버튼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한도 입력란이 활성화 되며 각 한도 기재 가능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이후 추가 제공되는 한도는 영업점 목록 내에서 진행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모든 정보 기재 완료 후                  버튼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영업점 정보는 목록으로 이동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CA4F4B5E-353F-EF6E-0073-7C390D692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정산정보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한도관리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E7E20E-A505-8B0C-7347-FE50FA3F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C228200-E5A8-5792-8476-2CB72A7C3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F15013D-1C77-04DA-F609-9E811E993822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C8F3F91-C5DF-B967-4E4C-42EF6022B6CB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5AE42F9-1C6F-325F-742D-65EB262FFA3C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FBC4DC-45E2-7845-0936-43F11796E8E8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8FF956-8A46-4499-73DA-77ABF0FBAF8C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DFDEDB-F760-E29D-3550-2D6124072EEF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7A78D7-AA3B-FC21-94FB-B23B459E9D4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A83547-7CA7-7D1C-A79F-C76E2D59173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B87A9B3-0791-AFDD-E6ED-B260EE18482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04048D-C67C-6B73-B66D-049F2D8A7BA6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02039-D9EF-B4E7-5341-E70081D7E696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AD1AE-C6B8-BB19-D409-A5EE21F25E6A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56C548-6EA0-3387-C63E-8AD8B6118204}"/>
              </a:ext>
            </a:extLst>
          </p:cNvPr>
          <p:cNvSpPr/>
          <p:nvPr/>
        </p:nvSpPr>
        <p:spPr bwMode="auto">
          <a:xfrm>
            <a:off x="6558" y="2160263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D88DD-1329-A916-8731-853B57D7205A}"/>
              </a:ext>
            </a:extLst>
          </p:cNvPr>
          <p:cNvSpPr txBox="1"/>
          <p:nvPr/>
        </p:nvSpPr>
        <p:spPr>
          <a:xfrm>
            <a:off x="2855640" y="1817133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E2DF1-23ED-9102-5178-E441AD44C6B9}"/>
              </a:ext>
            </a:extLst>
          </p:cNvPr>
          <p:cNvSpPr txBox="1"/>
          <p:nvPr/>
        </p:nvSpPr>
        <p:spPr>
          <a:xfrm>
            <a:off x="4295800" y="1808665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사업자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F2466-68C5-7F9E-0ED5-8D63F95D8FCB}"/>
              </a:ext>
            </a:extLst>
          </p:cNvPr>
          <p:cNvSpPr txBox="1"/>
          <p:nvPr/>
        </p:nvSpPr>
        <p:spPr>
          <a:xfrm>
            <a:off x="6302091" y="1817133"/>
            <a:ext cx="754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2121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정산정보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8B709E3-92D1-1E2C-910A-573F88A91236}"/>
              </a:ext>
            </a:extLst>
          </p:cNvPr>
          <p:cNvCxnSpPr>
            <a:cxnSpLocks/>
          </p:cNvCxnSpPr>
          <p:nvPr/>
        </p:nvCxnSpPr>
        <p:spPr bwMode="auto">
          <a:xfrm>
            <a:off x="3594382" y="1941445"/>
            <a:ext cx="50405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071FF75-CDED-E585-76CA-5FDE4070FDF8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931775"/>
            <a:ext cx="58612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01D5A1B-9C65-A47E-B055-EB2320E0ABC6}"/>
              </a:ext>
            </a:extLst>
          </p:cNvPr>
          <p:cNvSpPr/>
          <p:nvPr/>
        </p:nvSpPr>
        <p:spPr bwMode="auto">
          <a:xfrm>
            <a:off x="1662430" y="1700808"/>
            <a:ext cx="6139904" cy="469523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77EFF-1888-6145-C4E9-E9192E3CC84E}"/>
              </a:ext>
            </a:extLst>
          </p:cNvPr>
          <p:cNvSpPr/>
          <p:nvPr/>
        </p:nvSpPr>
        <p:spPr bwMode="auto">
          <a:xfrm>
            <a:off x="1694181" y="2210577"/>
            <a:ext cx="6097422" cy="44587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6748E42-9D4D-9D94-00B2-932CF2787DE9}"/>
              </a:ext>
            </a:extLst>
          </p:cNvPr>
          <p:cNvSpPr/>
          <p:nvPr/>
        </p:nvSpPr>
        <p:spPr bwMode="auto">
          <a:xfrm>
            <a:off x="7141436" y="639342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4CAE6D-A673-C9C0-0031-9FE6FA1396AB}"/>
              </a:ext>
            </a:extLst>
          </p:cNvPr>
          <p:cNvSpPr/>
          <p:nvPr/>
        </p:nvSpPr>
        <p:spPr bwMode="auto">
          <a:xfrm>
            <a:off x="6473324" y="6393426"/>
            <a:ext cx="630788" cy="19364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전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D9BD16-A851-DE6C-7428-551EF18A4789}"/>
              </a:ext>
            </a:extLst>
          </p:cNvPr>
          <p:cNvCxnSpPr>
            <a:cxnSpLocks/>
          </p:cNvCxnSpPr>
          <p:nvPr/>
        </p:nvCxnSpPr>
        <p:spPr bwMode="auto">
          <a:xfrm>
            <a:off x="1847528" y="2420888"/>
            <a:ext cx="5798992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86BC275-4602-4392-1599-1C917474EE4F}"/>
              </a:ext>
            </a:extLst>
          </p:cNvPr>
          <p:cNvSpPr/>
          <p:nvPr/>
        </p:nvSpPr>
        <p:spPr bwMode="auto">
          <a:xfrm>
            <a:off x="1809246" y="2492896"/>
            <a:ext cx="75650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한도관리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EE08EDD-9068-A522-F39B-635CA945DD70}"/>
              </a:ext>
            </a:extLst>
          </p:cNvPr>
          <p:cNvSpPr/>
          <p:nvPr/>
        </p:nvSpPr>
        <p:spPr bwMode="auto">
          <a:xfrm>
            <a:off x="1980766" y="2839860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06FCE02B-25B9-375A-D392-9C7D485A6A3F}"/>
              </a:ext>
            </a:extLst>
          </p:cNvPr>
          <p:cNvSpPr/>
          <p:nvPr/>
        </p:nvSpPr>
        <p:spPr bwMode="auto">
          <a:xfrm>
            <a:off x="2987587" y="2839860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8DECDBA-523C-4761-5960-488BBAFECD73}"/>
              </a:ext>
            </a:extLst>
          </p:cNvPr>
          <p:cNvSpPr/>
          <p:nvPr/>
        </p:nvSpPr>
        <p:spPr bwMode="auto">
          <a:xfrm>
            <a:off x="4005431" y="2839860"/>
            <a:ext cx="650409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0373EA2-9774-25EA-EF15-EF2FFE5E2834}"/>
              </a:ext>
            </a:extLst>
          </p:cNvPr>
          <p:cNvSpPr/>
          <p:nvPr/>
        </p:nvSpPr>
        <p:spPr bwMode="auto">
          <a:xfrm>
            <a:off x="5735960" y="2839860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D9A7F84-8DA8-0E51-907A-57E9E35D337C}"/>
              </a:ext>
            </a:extLst>
          </p:cNvPr>
          <p:cNvSpPr/>
          <p:nvPr/>
        </p:nvSpPr>
        <p:spPr bwMode="auto">
          <a:xfrm>
            <a:off x="6732003" y="2839860"/>
            <a:ext cx="80415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정기결제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23125C-4959-ADB6-E358-96EF2DC7246D}"/>
              </a:ext>
            </a:extLst>
          </p:cNvPr>
          <p:cNvSpPr/>
          <p:nvPr/>
        </p:nvSpPr>
        <p:spPr bwMode="auto">
          <a:xfrm>
            <a:off x="1952200" y="3310391"/>
            <a:ext cx="5583959" cy="35203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한도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                                                       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35E9468-4BA7-D4FC-F441-9A96C8B4E90E}"/>
              </a:ext>
            </a:extLst>
          </p:cNvPr>
          <p:cNvSpPr/>
          <p:nvPr/>
        </p:nvSpPr>
        <p:spPr bwMode="auto">
          <a:xfrm>
            <a:off x="1953210" y="4138419"/>
            <a:ext cx="5583959" cy="35203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한도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                                                       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9D3F2E7-1ACA-0FEF-3928-CBF68124515C}"/>
              </a:ext>
            </a:extLst>
          </p:cNvPr>
          <p:cNvSpPr/>
          <p:nvPr/>
        </p:nvSpPr>
        <p:spPr bwMode="auto">
          <a:xfrm>
            <a:off x="1953210" y="4877161"/>
            <a:ext cx="5583959" cy="35203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월 한도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                                                       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EE21566-90EC-E040-80F1-A7F1DBEB34A2}"/>
              </a:ext>
            </a:extLst>
          </p:cNvPr>
          <p:cNvSpPr/>
          <p:nvPr/>
        </p:nvSpPr>
        <p:spPr bwMode="auto">
          <a:xfrm>
            <a:off x="1952200" y="5597241"/>
            <a:ext cx="5583959" cy="35203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할부개월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                                              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F84C747-B849-E6A8-9EFD-EACC4E3BA8F0}"/>
              </a:ext>
            </a:extLst>
          </p:cNvPr>
          <p:cNvSpPr/>
          <p:nvPr/>
        </p:nvSpPr>
        <p:spPr bwMode="auto">
          <a:xfrm>
            <a:off x="4869527" y="2839860"/>
            <a:ext cx="650409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38B9CB-8F50-E66F-8708-EB08B616A110}"/>
              </a:ext>
            </a:extLst>
          </p:cNvPr>
          <p:cNvSpPr txBox="1"/>
          <p:nvPr/>
        </p:nvSpPr>
        <p:spPr>
          <a:xfrm>
            <a:off x="2063552" y="1328072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D866AB6-E2F2-1E1F-2B2C-E9BD0176B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DA3778-F26C-5F91-CA31-0E4CCCB6FD21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846FEA-EBB3-7A37-4496-FB0DC6DDC144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8C8CAF-1915-8E16-8E81-0ECE39D669EE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7F324D-AF05-6054-E498-1F11CBBF8D50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6BA6E8-B3F3-F4C0-666B-AFFAA60C33FF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053752-D54C-4FC2-F8DC-774AEE2B152B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9D7-84B5-D828-3492-1C8A13607191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174E7D-C640-100B-E3A3-D0851D9B9F81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766FFA-E6BB-C4FB-9C7B-3A9D6A08CFCD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D8E8C0-3436-C2ED-B562-43D2EAEEA0B2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AED23-3644-8F93-5324-4B1B50ED0B9D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D662D6-FC65-9028-66EF-23A53ABC113B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FAAC73-DC91-8EEF-D25A-6FF71FD0482D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360423-2540-EF94-E308-DD433B608BA8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320580-29C8-9D67-B329-C3730F483CC0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65CA65D-DD27-4995-0132-FE7C75F92187}"/>
              </a:ext>
            </a:extLst>
          </p:cNvPr>
          <p:cNvSpPr/>
          <p:nvPr/>
        </p:nvSpPr>
        <p:spPr bwMode="auto">
          <a:xfrm>
            <a:off x="9733657" y="3711764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1024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DB3B-FADC-F355-3F90-76CED834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2141695-29CA-9B37-097C-99F024AC5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8793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목록을 통해 등록 정보 확인 및 수정 기능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4EA15E81-8C69-85D9-2DFE-DCCAC3D80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리스트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-1)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A64150F-B36B-B339-96E7-44114EA3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EDE369A-A87F-A5E0-FE9F-0D6ABBC3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CDFC54F-BB3E-57FF-52F1-15CAA29BDD7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427E783-03B4-D520-12BE-91AC84758CD2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7D06E1-8AC6-538F-0230-76A7AB46D7D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ED69E5-5B83-5069-55D0-FD4AD314E058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F972E0-845E-4729-604A-6C0FB2BC84EA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F79F97-D32D-6907-FFD3-B0874EDF7A80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B0501D-35C6-DCC9-5FF8-C66DB97C3FA4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83F63F-7EE4-C855-F80A-48412C47B2C0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73056E5-EDDA-0EE6-5CB1-5BCE4272BF2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677C50-68F1-2085-0F22-E9C16988B398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03953-E0AE-3E4A-2F75-B840C999B8D1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F2CAC-0454-16DA-344D-36932F4C1611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DD4ECE-AEA6-1CAD-1438-8E0B5D76B754}"/>
              </a:ext>
            </a:extLst>
          </p:cNvPr>
          <p:cNvSpPr/>
          <p:nvPr/>
        </p:nvSpPr>
        <p:spPr bwMode="auto">
          <a:xfrm>
            <a:off x="6558" y="2376847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A79DC3-5C56-6A9E-B202-D0486CB4AD7D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37E3DFD-4B9B-9411-667D-32C883BC0AF4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2494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9AB546-A71B-2D2F-4CA4-60121F856224}"/>
              </a:ext>
            </a:extLst>
          </p:cNvPr>
          <p:cNvSpPr/>
          <p:nvPr/>
        </p:nvSpPr>
        <p:spPr bwMode="auto">
          <a:xfrm>
            <a:off x="4941232" y="250613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8793342-7169-621A-F5C8-752229E70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965463"/>
              </p:ext>
            </p:extLst>
          </p:nvPr>
        </p:nvGraphicFramePr>
        <p:xfrm>
          <a:off x="1768962" y="3223808"/>
          <a:ext cx="5886013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144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739051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104522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4539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910617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1414755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337852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707377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 코드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대표자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연락처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E-Mail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상태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등록일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D-KOR1107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A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맹주원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010-0001-0002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treuman@naver.com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KOR1353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B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박규호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010-0002-0003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racoste@naver.com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KOR3587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C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양지환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010-0003-0004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ethanyang@naver.com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해지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678EAC75-32AD-63D1-494C-58CB50CF8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070" y="4733353"/>
            <a:ext cx="311294" cy="252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FBF9DF8-E1F2-3F8F-FE66-1E5B0BEFB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80" y="4742684"/>
            <a:ext cx="305455" cy="252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3E23C20-AC2C-0216-CBB4-A1081604BB70}"/>
              </a:ext>
            </a:extLst>
          </p:cNvPr>
          <p:cNvSpPr txBox="1"/>
          <p:nvPr/>
        </p:nvSpPr>
        <p:spPr>
          <a:xfrm>
            <a:off x="4367808" y="470539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5A66935-64A7-FAB3-30C1-E9167E06B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504CF5-9DF3-653C-8790-C9772AE8E162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7191D-4A8F-FA33-9EAE-62C9DF3F5A34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3712064-795C-9CFE-C644-B51804495A02}"/>
              </a:ext>
            </a:extLst>
          </p:cNvPr>
          <p:cNvSpPr/>
          <p:nvPr/>
        </p:nvSpPr>
        <p:spPr bwMode="auto">
          <a:xfrm>
            <a:off x="2302289" y="2039398"/>
            <a:ext cx="73104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DFF77E5-82F5-6CC8-09F7-5CA076ED641C}"/>
              </a:ext>
            </a:extLst>
          </p:cNvPr>
          <p:cNvSpPr/>
          <p:nvPr/>
        </p:nvSpPr>
        <p:spPr bwMode="auto">
          <a:xfrm>
            <a:off x="3064913" y="2039356"/>
            <a:ext cx="812221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F6B7289-15A7-1A16-86ED-26514D744254}"/>
              </a:ext>
            </a:extLst>
          </p:cNvPr>
          <p:cNvSpPr/>
          <p:nvPr/>
        </p:nvSpPr>
        <p:spPr bwMode="auto">
          <a:xfrm>
            <a:off x="3902552" y="2045894"/>
            <a:ext cx="578639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A9DBD04-4D0C-0A78-C51D-DBA9E79404C9}"/>
              </a:ext>
            </a:extLst>
          </p:cNvPr>
          <p:cNvSpPr/>
          <p:nvPr/>
        </p:nvSpPr>
        <p:spPr bwMode="auto">
          <a:xfrm>
            <a:off x="4499853" y="2047029"/>
            <a:ext cx="568506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F4DC5CF-12BE-8250-B45E-6A58BA8E283A}"/>
              </a:ext>
            </a:extLst>
          </p:cNvPr>
          <p:cNvSpPr/>
          <p:nvPr/>
        </p:nvSpPr>
        <p:spPr bwMode="auto">
          <a:xfrm>
            <a:off x="5086801" y="2047029"/>
            <a:ext cx="599864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32D8096-04FA-6529-5119-C1FE195A4CEB}"/>
              </a:ext>
            </a:extLst>
          </p:cNvPr>
          <p:cNvSpPr/>
          <p:nvPr/>
        </p:nvSpPr>
        <p:spPr bwMode="auto">
          <a:xfrm>
            <a:off x="3178961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70D4736-ACEC-2598-4FD6-61B950C1883B}"/>
              </a:ext>
            </a:extLst>
          </p:cNvPr>
          <p:cNvSpPr/>
          <p:nvPr/>
        </p:nvSpPr>
        <p:spPr bwMode="auto">
          <a:xfrm>
            <a:off x="3773082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B81155F-DA52-6392-7343-5CA745F84FC1}"/>
              </a:ext>
            </a:extLst>
          </p:cNvPr>
          <p:cNvSpPr/>
          <p:nvPr/>
        </p:nvSpPr>
        <p:spPr bwMode="auto">
          <a:xfrm>
            <a:off x="4358477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746ACC2-9F44-F7D6-B09E-714442A6DADF}"/>
              </a:ext>
            </a:extLst>
          </p:cNvPr>
          <p:cNvSpPr/>
          <p:nvPr/>
        </p:nvSpPr>
        <p:spPr bwMode="auto">
          <a:xfrm>
            <a:off x="1748431" y="2045894"/>
            <a:ext cx="510386" cy="245391"/>
          </a:xfrm>
          <a:prstGeom prst="roundRect">
            <a:avLst/>
          </a:prstGeom>
          <a:solidFill>
            <a:srgbClr val="CCEC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5C96B8D-019E-8F0C-E8EB-84302F8ED955}"/>
              </a:ext>
            </a:extLst>
          </p:cNvPr>
          <p:cNvSpPr/>
          <p:nvPr/>
        </p:nvSpPr>
        <p:spPr bwMode="auto">
          <a:xfrm>
            <a:off x="6381303" y="2498976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27E8915-DB69-6550-1EFE-CD323D6CCE74}"/>
              </a:ext>
            </a:extLst>
          </p:cNvPr>
          <p:cNvSpPr/>
          <p:nvPr/>
        </p:nvSpPr>
        <p:spPr bwMode="auto">
          <a:xfrm>
            <a:off x="6969967" y="2498976"/>
            <a:ext cx="709127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1E9104-ECBB-0394-24B7-FA4937608C4C}"/>
              </a:ext>
            </a:extLst>
          </p:cNvPr>
          <p:cNvSpPr/>
          <p:nvPr/>
        </p:nvSpPr>
        <p:spPr bwMode="auto">
          <a:xfrm>
            <a:off x="1741470" y="2506135"/>
            <a:ext cx="13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~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DC0D9-9745-1403-3AD2-601A2D649E98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DE651-D5F5-19F6-4926-46698A195EE1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67856-A93D-F106-D73D-A54021928B17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69C36-1618-A065-CC12-840BD2162B40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03DDC4-1DDF-2075-A320-6AC7C2C492FF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54624-67E8-0024-8255-E5B5B3895736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979B3-119C-2B2F-ED88-5BF3DD9B3C67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E8C647-4DCD-D54D-E71D-A16A21743139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C5A105-E18B-531F-05A6-D192F7F8F95A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79FD9C-9FBD-23ED-540D-0245D3A2BF35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00369F-D918-8B0A-AB03-07EB9B5051B2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F7FFDA-E03B-4D1D-70D3-C52B3C145F96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1FDF81-C0FA-8E82-86B7-26280C2BC00D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054D7F-3393-C232-6B15-9E67D1B5B45E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E43B16-6DBE-DC41-4BCE-E8BC43584F31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38859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27C2-E10E-21CB-DF01-51789FDD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4F0786-F7BE-8B5E-6827-A179481F1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495189"/>
              </p:ext>
            </p:extLst>
          </p:nvPr>
        </p:nvGraphicFramePr>
        <p:xfrm>
          <a:off x="7950791" y="981075"/>
          <a:ext cx="4121873" cy="3150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목록을 통해 전체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 리스트 확인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 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모든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(D)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해당하는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(A)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해당하는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(d)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해당하는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(S)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해당하는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(V)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해당하는 영업점 목록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각 영업점 명칭별 코드 부여하여 별도 관리 및 조회 가능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기간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최대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일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내 목록에 있는 카테고리로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목록 전체에 대해                     기능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엑셀 내 리스트는 모든 상세정보 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262862D5-CE41-1D05-4C56-6575CE181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리스트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-2)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431AFC2-9114-12CF-E5EA-4BC13775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8BE0F00-208A-94A8-6F76-1DE02779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44D10F9-9C55-CC66-8040-1E437CFC655E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CB6C02E-B07A-9014-9193-6F15D9403B3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B38EAFF-7F4B-1F13-096D-31B1E185F7A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F21CE3-0A5A-1479-79D6-771ACB3F74F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CD1A6D-127D-7CDE-FF97-AF7B64EC8DD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8E10C9-91EC-4B0E-81B5-26301FF7B4F4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6D9EB0-28A5-6BF0-D1FE-02272F345421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142099-57B5-E4F7-161E-5BE4EAD2C056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46AD23D-30DD-4AE8-DA07-26F0779744A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174CDA-A302-3991-523B-75DD86D40A94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BA4F4-27AA-A6B5-0C83-E9DF84FDCAC9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DA6EF-806C-A17D-D3AF-8D4404368794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C0FF40-C482-D46E-B11A-92BC541324A0}"/>
              </a:ext>
            </a:extLst>
          </p:cNvPr>
          <p:cNvSpPr/>
          <p:nvPr/>
        </p:nvSpPr>
        <p:spPr bwMode="auto">
          <a:xfrm>
            <a:off x="6558" y="2376847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BD06C0-1B63-600D-905E-B4C162EA0752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C60E75E-C860-5795-06AD-9C1D79C6E888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2494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1FBC684-AEC6-1854-B8F3-683FACBEB473}"/>
              </a:ext>
            </a:extLst>
          </p:cNvPr>
          <p:cNvSpPr/>
          <p:nvPr/>
        </p:nvSpPr>
        <p:spPr bwMode="auto">
          <a:xfrm>
            <a:off x="4941232" y="250613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FFD3D54-7088-FFCB-604D-E104FDA221D4}"/>
              </a:ext>
            </a:extLst>
          </p:cNvPr>
          <p:cNvGraphicFramePr>
            <a:graphicFrameLocks noGrp="1"/>
          </p:cNvGraphicFramePr>
          <p:nvPr/>
        </p:nvGraphicFramePr>
        <p:xfrm>
          <a:off x="1768962" y="3223808"/>
          <a:ext cx="5886013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144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739051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104522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4539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910617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1414755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337852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707377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 코드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대표자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연락처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E-Mail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상태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등록일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D-KOR1107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A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맹주원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010-0001-0002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treuman@naver.com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KOR1353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B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박규호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010-0002-0003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racoste@naver.com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KOR3587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C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양지환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010-0003-0004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ethanyang@naver.com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해지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C2818A21-B2C3-32E0-DD27-01C151361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070" y="4733353"/>
            <a:ext cx="311294" cy="252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577D07C-BE6B-573A-C4F2-64BD13ABF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80" y="4742684"/>
            <a:ext cx="305455" cy="252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EFFD185-D23F-3DB4-25CC-6E82D04B5F8E}"/>
              </a:ext>
            </a:extLst>
          </p:cNvPr>
          <p:cNvSpPr txBox="1"/>
          <p:nvPr/>
        </p:nvSpPr>
        <p:spPr>
          <a:xfrm>
            <a:off x="4367808" y="470539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B4725A-C25C-C699-C6C8-8364FB8776BB}"/>
              </a:ext>
            </a:extLst>
          </p:cNvPr>
          <p:cNvSpPr/>
          <p:nvPr/>
        </p:nvSpPr>
        <p:spPr bwMode="auto">
          <a:xfrm>
            <a:off x="2039263" y="3450264"/>
            <a:ext cx="234039" cy="96987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161C169-2A70-CF0A-48B4-D3675B031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E2F16A-4C71-A39D-BA64-7FB030045E7C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37D522-CC45-16B9-2620-94B7C9548DC2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EAD5C2-5B1B-E96E-A719-CDDB8B4C1686}"/>
              </a:ext>
            </a:extLst>
          </p:cNvPr>
          <p:cNvSpPr/>
          <p:nvPr/>
        </p:nvSpPr>
        <p:spPr bwMode="auto">
          <a:xfrm>
            <a:off x="1688841" y="1951056"/>
            <a:ext cx="4068147" cy="4303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5A5C8AE-4F62-0765-BDF9-DEF3166E89AE}"/>
              </a:ext>
            </a:extLst>
          </p:cNvPr>
          <p:cNvSpPr/>
          <p:nvPr/>
        </p:nvSpPr>
        <p:spPr bwMode="auto">
          <a:xfrm>
            <a:off x="2302289" y="2039398"/>
            <a:ext cx="73104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92BA01-5B81-DB6B-87D5-43C139299BB2}"/>
              </a:ext>
            </a:extLst>
          </p:cNvPr>
          <p:cNvSpPr/>
          <p:nvPr/>
        </p:nvSpPr>
        <p:spPr bwMode="auto">
          <a:xfrm>
            <a:off x="3064913" y="2039356"/>
            <a:ext cx="812221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F4CE700-E13F-6438-BF62-2175CF03922A}"/>
              </a:ext>
            </a:extLst>
          </p:cNvPr>
          <p:cNvSpPr/>
          <p:nvPr/>
        </p:nvSpPr>
        <p:spPr bwMode="auto">
          <a:xfrm>
            <a:off x="3902552" y="2045894"/>
            <a:ext cx="578639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6A19650-0474-3585-5A7F-EFC009023BED}"/>
              </a:ext>
            </a:extLst>
          </p:cNvPr>
          <p:cNvSpPr/>
          <p:nvPr/>
        </p:nvSpPr>
        <p:spPr bwMode="auto">
          <a:xfrm>
            <a:off x="4499853" y="2047029"/>
            <a:ext cx="568506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D3633A8-AD85-2D66-6F47-C5EBC504826F}"/>
              </a:ext>
            </a:extLst>
          </p:cNvPr>
          <p:cNvSpPr/>
          <p:nvPr/>
        </p:nvSpPr>
        <p:spPr bwMode="auto">
          <a:xfrm>
            <a:off x="5086801" y="2047029"/>
            <a:ext cx="599864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09A1BE-8A3F-34FC-180B-62FB413CFA9A}"/>
              </a:ext>
            </a:extLst>
          </p:cNvPr>
          <p:cNvSpPr txBox="1"/>
          <p:nvPr/>
        </p:nvSpPr>
        <p:spPr>
          <a:xfrm>
            <a:off x="2144980" y="1343090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👇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427B855-51DB-A290-6CEE-8BBE5FB9E838}"/>
              </a:ext>
            </a:extLst>
          </p:cNvPr>
          <p:cNvSpPr/>
          <p:nvPr/>
        </p:nvSpPr>
        <p:spPr bwMode="auto">
          <a:xfrm>
            <a:off x="3178961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A8D2E94-9A12-938B-D6AF-BA7ADA604D9C}"/>
              </a:ext>
            </a:extLst>
          </p:cNvPr>
          <p:cNvSpPr/>
          <p:nvPr/>
        </p:nvSpPr>
        <p:spPr bwMode="auto">
          <a:xfrm>
            <a:off x="3773082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4638866-C569-6F43-1168-06763889DF05}"/>
              </a:ext>
            </a:extLst>
          </p:cNvPr>
          <p:cNvSpPr/>
          <p:nvPr/>
        </p:nvSpPr>
        <p:spPr bwMode="auto">
          <a:xfrm>
            <a:off x="4358477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7311E8B-1FD5-7CE0-06DD-20BDE00A8C31}"/>
              </a:ext>
            </a:extLst>
          </p:cNvPr>
          <p:cNvSpPr/>
          <p:nvPr/>
        </p:nvSpPr>
        <p:spPr bwMode="auto">
          <a:xfrm>
            <a:off x="1748431" y="2045894"/>
            <a:ext cx="510386" cy="245391"/>
          </a:xfrm>
          <a:prstGeom prst="roundRect">
            <a:avLst/>
          </a:prstGeom>
          <a:solidFill>
            <a:srgbClr val="CCEC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1BE4569-E78B-9F8E-D151-F587BD0ED754}"/>
              </a:ext>
            </a:extLst>
          </p:cNvPr>
          <p:cNvSpPr/>
          <p:nvPr/>
        </p:nvSpPr>
        <p:spPr bwMode="auto">
          <a:xfrm>
            <a:off x="6381303" y="2498976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59D37FB1-81B5-546A-9A74-2FB34DA19C9B}"/>
              </a:ext>
            </a:extLst>
          </p:cNvPr>
          <p:cNvSpPr/>
          <p:nvPr/>
        </p:nvSpPr>
        <p:spPr bwMode="auto">
          <a:xfrm>
            <a:off x="6969967" y="2498976"/>
            <a:ext cx="709127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6E105A1-B311-C5B6-35CD-C03BFBA4AA5B}"/>
              </a:ext>
            </a:extLst>
          </p:cNvPr>
          <p:cNvSpPr/>
          <p:nvPr/>
        </p:nvSpPr>
        <p:spPr bwMode="auto">
          <a:xfrm>
            <a:off x="1741470" y="2506135"/>
            <a:ext cx="13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~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7D89E-A626-B461-8D12-B33F85E45616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1CDA1-FE2A-38E9-0EEF-F224E78AE6AF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E6880-A19E-8CD9-110C-EF701BBDA8D5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FB5C4-80D3-AB61-1536-42479A3EE214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9A9A51-B318-6008-CB43-6444EDF5B515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597B0F-1140-CA2E-77A8-903A08AABA40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C12DC8-4094-917F-0C39-ADE9FE90B935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C12E26-021B-A799-0ABF-032F4DA5D3F4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73E270-DAC9-C404-5629-D51CABAA491B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391D91-4B97-A3E2-2F95-DF8CB1F164AD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05678C-3107-04CF-C5B0-4E014F482816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3900B-5A8C-4778-F64E-7C95838A37BC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99FB0E-577C-F515-FDCB-4424B98D908E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72DF4B-88CA-DEE2-6EDF-1C34497055D4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C6A16D-9AB0-7398-437A-E7D7FE4A3E3A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B11CE9D-6ACB-28FB-3E9B-B450409576D9}"/>
              </a:ext>
            </a:extLst>
          </p:cNvPr>
          <p:cNvSpPr/>
          <p:nvPr/>
        </p:nvSpPr>
        <p:spPr bwMode="auto">
          <a:xfrm>
            <a:off x="9429480" y="3286047"/>
            <a:ext cx="709127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</p:spTree>
    <p:extLst>
      <p:ext uri="{BB962C8B-B14F-4D97-AF65-F5344CB8AC3E}">
        <p14:creationId xmlns:p14="http://schemas.microsoft.com/office/powerpoint/2010/main" val="3057760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82F1-E09C-26A2-58DD-56508554A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E803AE-B992-311C-25B4-60D136EBD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72848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리스트 內 상세내용 확인이 필요한 영업점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행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상세내용 확인 가능한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18D85A0D-8203-BC08-6F7D-2873C0522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리스트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161B79B-EB41-6F17-77CF-C50FA51C1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CC89A6B-4DED-5BA5-86F4-041B1029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64D790E-F547-7E38-F7AF-9ABA9FC2589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4D24F6E-F421-7DED-A5DE-772F4EE23455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667DC6-9684-B6DD-8EFC-D316B5145E67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2E3E49-D7A1-6AA7-EEBF-A4440B6F157C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99CEAA-BB93-1F2C-851D-BCCE07A6B159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24E6AE-8CB9-C30B-51C8-1D341738491A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791478-0429-D7D0-9C41-2D463E2F5E09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F84D7E-2C56-7044-9458-A8A4CBF03017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0D150E7-D61A-BF63-F3FB-9A2E00EB7AFB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97588B-3298-CF25-7520-6126F68F7FBD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865DC-F0E8-A254-A608-4F6F8E894890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BE3DB-40B0-2E08-4F24-49C01711FFF2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1679BA-1BB5-488F-EAF5-0D479E178FD9}"/>
              </a:ext>
            </a:extLst>
          </p:cNvPr>
          <p:cNvSpPr/>
          <p:nvPr/>
        </p:nvSpPr>
        <p:spPr bwMode="auto">
          <a:xfrm>
            <a:off x="6558" y="2376847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D2E7B-138C-5270-716C-54B0AE7CE905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CCF0F2-DB3A-4ABD-F60A-5C19C29AAAA9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A63D2B-B3D1-DE6F-B33A-CF08A74CB6F1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CA536A9-C75D-8808-D586-69632457B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9915B95-E56E-4B55-439A-033429BCF8BD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2494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68D90ABE-A251-8027-CB6F-08A263CEA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459421"/>
              </p:ext>
            </p:extLst>
          </p:nvPr>
        </p:nvGraphicFramePr>
        <p:xfrm>
          <a:off x="1768962" y="3223808"/>
          <a:ext cx="5886013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144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739051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104522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4539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910617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1414755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337852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707377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 코드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대리점명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대표자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연락처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</a:rPr>
                        <a:t>E-Mail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상태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</a:rPr>
                        <a:t>등록일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D-KOR1107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A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맹주원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010-0001-0002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treuman@naver.com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KOR1353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B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박규호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010-0002-0003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racoste@naver.com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정상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D-</a:t>
                      </a:r>
                      <a:r>
                        <a:rPr lang="en-US" sz="900" u="none" strike="noStrike" dirty="0">
                          <a:effectLst/>
                        </a:rPr>
                        <a:t>KOR3587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신경준</a:t>
                      </a:r>
                      <a:r>
                        <a:rPr lang="en-US" altLang="ko-KR" sz="900" u="none" strike="noStrike" dirty="0">
                          <a:effectLst/>
                        </a:rPr>
                        <a:t>C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>
                          <a:effectLst/>
                        </a:rPr>
                        <a:t>양지환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010-0003-0004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ethanyang@naver.com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해지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47" name="그림 46">
            <a:extLst>
              <a:ext uri="{FF2B5EF4-FFF2-40B4-BE49-F238E27FC236}">
                <a16:creationId xmlns:a16="http://schemas.microsoft.com/office/drawing/2014/main" id="{49CABC39-BF47-FC4A-1193-47E044A8E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070" y="4733353"/>
            <a:ext cx="311294" cy="252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DFBCB9C-A71B-8183-8D6F-09C7C6FCC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880" y="4742684"/>
            <a:ext cx="305455" cy="252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0C031B0-D6C9-835F-1E11-1E5E12222DF6}"/>
              </a:ext>
            </a:extLst>
          </p:cNvPr>
          <p:cNvSpPr txBox="1"/>
          <p:nvPr/>
        </p:nvSpPr>
        <p:spPr>
          <a:xfrm>
            <a:off x="4367808" y="470539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D2B90E2-1DE9-FE0E-8AF4-A4F4E8F13565}"/>
              </a:ext>
            </a:extLst>
          </p:cNvPr>
          <p:cNvSpPr/>
          <p:nvPr/>
        </p:nvSpPr>
        <p:spPr bwMode="auto">
          <a:xfrm>
            <a:off x="1703512" y="4030824"/>
            <a:ext cx="6030259" cy="43853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E03132-94F3-199C-EF4F-75ADA1784B86}"/>
              </a:ext>
            </a:extLst>
          </p:cNvPr>
          <p:cNvSpPr txBox="1"/>
          <p:nvPr/>
        </p:nvSpPr>
        <p:spPr>
          <a:xfrm>
            <a:off x="2079133" y="4175137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863BD49-A8D4-B4B8-7BC5-48877A69CAB9}"/>
              </a:ext>
            </a:extLst>
          </p:cNvPr>
          <p:cNvSpPr/>
          <p:nvPr/>
        </p:nvSpPr>
        <p:spPr bwMode="auto">
          <a:xfrm>
            <a:off x="2298238" y="2039398"/>
            <a:ext cx="73104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AE3D8193-6A85-50C4-8757-F315FD044DCD}"/>
              </a:ext>
            </a:extLst>
          </p:cNvPr>
          <p:cNvSpPr/>
          <p:nvPr/>
        </p:nvSpPr>
        <p:spPr bwMode="auto">
          <a:xfrm>
            <a:off x="3060862" y="2039356"/>
            <a:ext cx="812221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46A063D-E9BF-E7DE-CBFD-9BEFDBB2507F}"/>
              </a:ext>
            </a:extLst>
          </p:cNvPr>
          <p:cNvSpPr/>
          <p:nvPr/>
        </p:nvSpPr>
        <p:spPr bwMode="auto">
          <a:xfrm>
            <a:off x="3898501" y="2045894"/>
            <a:ext cx="578639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0F44A91-8F20-6671-0300-E6CD7A4477E0}"/>
              </a:ext>
            </a:extLst>
          </p:cNvPr>
          <p:cNvSpPr/>
          <p:nvPr/>
        </p:nvSpPr>
        <p:spPr bwMode="auto">
          <a:xfrm>
            <a:off x="4495802" y="2047029"/>
            <a:ext cx="568506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EA5039EA-3D61-3765-D137-5B846C5CBFCE}"/>
              </a:ext>
            </a:extLst>
          </p:cNvPr>
          <p:cNvSpPr/>
          <p:nvPr/>
        </p:nvSpPr>
        <p:spPr bwMode="auto">
          <a:xfrm>
            <a:off x="5082750" y="2047029"/>
            <a:ext cx="599864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EDD6AF04-726C-C56D-49FD-F468427C5412}"/>
              </a:ext>
            </a:extLst>
          </p:cNvPr>
          <p:cNvSpPr/>
          <p:nvPr/>
        </p:nvSpPr>
        <p:spPr bwMode="auto">
          <a:xfrm>
            <a:off x="1744380" y="2045894"/>
            <a:ext cx="510386" cy="245391"/>
          </a:xfrm>
          <a:prstGeom prst="roundRect">
            <a:avLst/>
          </a:prstGeom>
          <a:solidFill>
            <a:srgbClr val="CCEC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F56033-3715-4332-18B9-60D0BE18B3BD}"/>
              </a:ext>
            </a:extLst>
          </p:cNvPr>
          <p:cNvSpPr/>
          <p:nvPr/>
        </p:nvSpPr>
        <p:spPr bwMode="auto">
          <a:xfrm>
            <a:off x="4941232" y="250613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24DCDBE-D2F0-7E39-5F0B-1EDA82D8B5B4}"/>
              </a:ext>
            </a:extLst>
          </p:cNvPr>
          <p:cNvSpPr/>
          <p:nvPr/>
        </p:nvSpPr>
        <p:spPr bwMode="auto">
          <a:xfrm>
            <a:off x="1741470" y="2506135"/>
            <a:ext cx="13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~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7618A1DE-6A4E-86C4-6241-5AF92D5087FC}"/>
              </a:ext>
            </a:extLst>
          </p:cNvPr>
          <p:cNvSpPr/>
          <p:nvPr/>
        </p:nvSpPr>
        <p:spPr bwMode="auto">
          <a:xfrm>
            <a:off x="3178961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DFE4BA72-544A-7D7F-3B8C-87AAC9AB28CA}"/>
              </a:ext>
            </a:extLst>
          </p:cNvPr>
          <p:cNvSpPr/>
          <p:nvPr/>
        </p:nvSpPr>
        <p:spPr bwMode="auto">
          <a:xfrm>
            <a:off x="3773082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63D12099-0D78-125C-5C81-5C60BCEF7AC1}"/>
              </a:ext>
            </a:extLst>
          </p:cNvPr>
          <p:cNvSpPr/>
          <p:nvPr/>
        </p:nvSpPr>
        <p:spPr bwMode="auto">
          <a:xfrm>
            <a:off x="4358477" y="2506135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16D328AD-D74E-4F1D-2771-FBC5310F1486}"/>
              </a:ext>
            </a:extLst>
          </p:cNvPr>
          <p:cNvSpPr/>
          <p:nvPr/>
        </p:nvSpPr>
        <p:spPr bwMode="auto">
          <a:xfrm>
            <a:off x="6381303" y="2498976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EDD5FD1-EE3D-4288-65D8-3FB548B6F6B8}"/>
              </a:ext>
            </a:extLst>
          </p:cNvPr>
          <p:cNvSpPr/>
          <p:nvPr/>
        </p:nvSpPr>
        <p:spPr bwMode="auto">
          <a:xfrm>
            <a:off x="6969967" y="2498976"/>
            <a:ext cx="709127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E05CE-FFCD-6631-171F-E6617BB20A2B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5626C-A073-A92B-D6CE-566E61B3C3D0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F6071-77EE-1E16-D31E-F1B5B38A3F4D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22A14-952E-09E7-81AC-E9B966857EAA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C8588-6EB7-E809-F7DA-2A2895F06403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65FB9-A464-77C5-6075-C5E5A6FAC65D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0AF70F-EA1B-057F-7602-B680381242D8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5D593-5D15-DD8E-641C-FED7C05CCD22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68FC6F-517A-3CF8-B4F2-503775A9CE44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69E553-707F-8857-0E2B-E801F1F78F44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BD3FF7-ECF4-F92C-B5B4-60B836A82124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12245-A90E-CD48-6045-005F4EB44C45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0B81F-4748-B3EA-E561-6CFA637E17C1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0206A4-8592-AACD-3999-37BE0D679E9E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BCEACC-78D6-762C-B438-62808FDCD9A9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9631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D7F8-15DD-9E79-2C3C-489E4B10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CC11030-8577-E732-8456-E38505A43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46284"/>
              </p:ext>
            </p:extLst>
          </p:nvPr>
        </p:nvGraphicFramePr>
        <p:xfrm>
          <a:off x="7950791" y="981075"/>
          <a:ext cx="4121873" cy="3150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상세내용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기본정보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사업자정보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계좌정보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한도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5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가지 카테고리 상세내용 확인 가능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하며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             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버튼을 통해  상세내용 수정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각 영업점에게 계정은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등록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카테고리가 아닌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목록</a:t>
                      </a:r>
                      <a:b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카테고리의 상세보기에서 계정 생성하여 제공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기재 후            버튼 클릭 시 임시비밀번호는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E-Mail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로 발송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임시비밀번호로 로그인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시도시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비밀번호 변경 안내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미변경시 로그인 불가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계정 비밀번호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5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회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실패시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Lock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계정 비밀번호는             버튼을 통해 임시비밀번호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E-Mail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로 발송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EE48F664-7BE2-5265-D1A6-1515270A1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상세내용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287254E-4CE4-1997-B241-C5E4EF49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82CD0F0-8C35-A65A-A2C0-5D031202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96259D4-50B4-F5B5-ACA8-EDE70F6BEE1E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7F3413B-77AF-8C3A-1236-830DD1DDEB43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70FA1EF-1F56-99E1-850E-98300443FB1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93F884-C1EB-7AC6-D4F8-8538419A5679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5A03ED-1411-0309-3286-C3FDF9BDFDAB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2B8DC0-31C1-D17B-64D2-014844D6F230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C6EC21-0364-6D86-E922-31445DE08C53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FE472E-DFCB-D879-122E-6259D9D974FD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7CF71B0-79C3-6764-6BBC-B9F62843EE3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EF5F4F-31CC-E7F7-F31D-D6B6994A0B9A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157B8-1086-C79B-A681-FE93240176EA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FCC5D-63D8-FF6A-7A8F-CDD2717FA6A8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F8DCB7-C77A-92C4-C74D-527390C2B7B3}"/>
              </a:ext>
            </a:extLst>
          </p:cNvPr>
          <p:cNvSpPr/>
          <p:nvPr/>
        </p:nvSpPr>
        <p:spPr bwMode="auto">
          <a:xfrm>
            <a:off x="6558" y="2376847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2C1E95-40C8-51E0-45AF-D341D20BEAAB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3B4F94-2FE9-A404-01A9-9FAEB696D636}"/>
              </a:ext>
            </a:extLst>
          </p:cNvPr>
          <p:cNvSpPr/>
          <p:nvPr/>
        </p:nvSpPr>
        <p:spPr bwMode="auto">
          <a:xfrm>
            <a:off x="1703512" y="1834119"/>
            <a:ext cx="738527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상세내용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1CEE78-7F45-51C0-0D3D-7C73068B1017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18040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75CF11-9B21-4907-431E-A00D7702920D}"/>
              </a:ext>
            </a:extLst>
          </p:cNvPr>
          <p:cNvSpPr/>
          <p:nvPr/>
        </p:nvSpPr>
        <p:spPr bwMode="auto">
          <a:xfrm>
            <a:off x="1742712" y="2307325"/>
            <a:ext cx="2769112" cy="21297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38AEEF5-DAF8-373D-7637-CE81221A0B65}"/>
              </a:ext>
            </a:extLst>
          </p:cNvPr>
          <p:cNvSpPr/>
          <p:nvPr/>
        </p:nvSpPr>
        <p:spPr bwMode="auto">
          <a:xfrm>
            <a:off x="1799117" y="2372913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195CD13-EEE7-673C-9018-908A82F460A9}"/>
              </a:ext>
            </a:extLst>
          </p:cNvPr>
          <p:cNvSpPr/>
          <p:nvPr/>
        </p:nvSpPr>
        <p:spPr bwMode="auto">
          <a:xfrm>
            <a:off x="1799117" y="2740673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코드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D-KOR1137                  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0BC8EEF-45B1-64D6-CB1E-66A1BF95B9FA}"/>
              </a:ext>
            </a:extLst>
          </p:cNvPr>
          <p:cNvSpPr/>
          <p:nvPr/>
        </p:nvSpPr>
        <p:spPr bwMode="auto">
          <a:xfrm>
            <a:off x="1799117" y="3092055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9DB871E-A063-3C67-0DAB-8E81A88FB530}"/>
              </a:ext>
            </a:extLst>
          </p:cNvPr>
          <p:cNvSpPr/>
          <p:nvPr/>
        </p:nvSpPr>
        <p:spPr bwMode="auto">
          <a:xfrm>
            <a:off x="1806918" y="3428438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KorpayForever77                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DA17769-D1C9-A31D-A798-93C24C45E1EA}"/>
              </a:ext>
            </a:extLst>
          </p:cNvPr>
          <p:cNvSpPr/>
          <p:nvPr/>
        </p:nvSpPr>
        <p:spPr bwMode="auto">
          <a:xfrm>
            <a:off x="1806918" y="3772431"/>
            <a:ext cx="1696793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************                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BB61FE5-D0CB-4F64-B77B-3179A32F858E}"/>
              </a:ext>
            </a:extLst>
          </p:cNvPr>
          <p:cNvSpPr/>
          <p:nvPr/>
        </p:nvSpPr>
        <p:spPr bwMode="auto">
          <a:xfrm>
            <a:off x="1806919" y="4114802"/>
            <a:ext cx="169679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등록일자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2026. 01. 14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80011-2626-B1DF-FE7E-B95FC4B49795}"/>
              </a:ext>
            </a:extLst>
          </p:cNvPr>
          <p:cNvSpPr/>
          <p:nvPr/>
        </p:nvSpPr>
        <p:spPr bwMode="auto">
          <a:xfrm>
            <a:off x="3575719" y="4124131"/>
            <a:ext cx="86409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B03CE60-0E2A-0607-7961-DB1AAB050280}"/>
              </a:ext>
            </a:extLst>
          </p:cNvPr>
          <p:cNvSpPr/>
          <p:nvPr/>
        </p:nvSpPr>
        <p:spPr bwMode="auto">
          <a:xfrm>
            <a:off x="3935760" y="3764821"/>
            <a:ext cx="507640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en-US" altLang="ko-KR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417FED4-BD79-B2B5-9728-1E821B7784FA}"/>
              </a:ext>
            </a:extLst>
          </p:cNvPr>
          <p:cNvSpPr/>
          <p:nvPr/>
        </p:nvSpPr>
        <p:spPr bwMode="auto">
          <a:xfrm>
            <a:off x="4600964" y="2295849"/>
            <a:ext cx="3079212" cy="21297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2E73504-8A59-1460-8BA3-A79CF245823D}"/>
              </a:ext>
            </a:extLst>
          </p:cNvPr>
          <p:cNvSpPr/>
          <p:nvPr/>
        </p:nvSpPr>
        <p:spPr bwMode="auto">
          <a:xfrm>
            <a:off x="4657370" y="2361437"/>
            <a:ext cx="867894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939E452-52EA-3056-8E58-5D71F019272C}"/>
              </a:ext>
            </a:extLst>
          </p:cNvPr>
          <p:cNvSpPr/>
          <p:nvPr/>
        </p:nvSpPr>
        <p:spPr bwMode="auto">
          <a:xfrm>
            <a:off x="4657371" y="2729197"/>
            <a:ext cx="122260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법인사업자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14D040C-E1A8-1C2C-AB3E-EA8B65BFDE18}"/>
              </a:ext>
            </a:extLst>
          </p:cNvPr>
          <p:cNvSpPr/>
          <p:nvPr/>
        </p:nvSpPr>
        <p:spPr bwMode="auto">
          <a:xfrm>
            <a:off x="6512768" y="3081056"/>
            <a:ext cx="107858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73973EE-F82F-0C93-2B23-0E45220143F0}"/>
              </a:ext>
            </a:extLst>
          </p:cNvPr>
          <p:cNvSpPr/>
          <p:nvPr/>
        </p:nvSpPr>
        <p:spPr bwMode="auto">
          <a:xfrm>
            <a:off x="4665171" y="3428438"/>
            <a:ext cx="108979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860D311-6AEF-24C9-2958-80FB27BAACD9}"/>
              </a:ext>
            </a:extLst>
          </p:cNvPr>
          <p:cNvSpPr/>
          <p:nvPr/>
        </p:nvSpPr>
        <p:spPr bwMode="auto">
          <a:xfrm>
            <a:off x="5858899" y="3433899"/>
            <a:ext cx="161559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010-0000-0000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B5C5537-B178-750D-2424-09C6BA37481D}"/>
              </a:ext>
            </a:extLst>
          </p:cNvPr>
          <p:cNvSpPr/>
          <p:nvPr/>
        </p:nvSpPr>
        <p:spPr bwMode="auto">
          <a:xfrm>
            <a:off x="4675644" y="3786742"/>
            <a:ext cx="291571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성동구 성수일로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77, 609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F1D256C-1E60-A64C-A7E3-0FE4226A0E0D}"/>
              </a:ext>
            </a:extLst>
          </p:cNvPr>
          <p:cNvSpPr/>
          <p:nvPr/>
        </p:nvSpPr>
        <p:spPr bwMode="auto">
          <a:xfrm>
            <a:off x="4655840" y="4111711"/>
            <a:ext cx="109912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김효정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5CD07B3-0A6C-8635-6A86-0A09773A2CE7}"/>
              </a:ext>
            </a:extLst>
          </p:cNvPr>
          <p:cNvSpPr/>
          <p:nvPr/>
        </p:nvSpPr>
        <p:spPr bwMode="auto">
          <a:xfrm>
            <a:off x="4644771" y="3071568"/>
            <a:ext cx="178920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123-81-12345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2D4238D-07EC-0920-D07F-C0FE6D92EA98}"/>
              </a:ext>
            </a:extLst>
          </p:cNvPr>
          <p:cNvSpPr/>
          <p:nvPr/>
        </p:nvSpPr>
        <p:spPr bwMode="auto">
          <a:xfrm>
            <a:off x="5840237" y="4114802"/>
            <a:ext cx="161559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010-0000-0001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265FA2-187F-45EB-ABC6-BE46B2673A39}"/>
              </a:ext>
            </a:extLst>
          </p:cNvPr>
          <p:cNvSpPr/>
          <p:nvPr/>
        </p:nvSpPr>
        <p:spPr bwMode="auto">
          <a:xfrm>
            <a:off x="1736574" y="4532428"/>
            <a:ext cx="5943602" cy="768780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2BE8B52-46D9-2176-94EF-FEA677B955C0}"/>
              </a:ext>
            </a:extLst>
          </p:cNvPr>
          <p:cNvSpPr/>
          <p:nvPr/>
        </p:nvSpPr>
        <p:spPr bwMode="auto">
          <a:xfrm>
            <a:off x="1803213" y="4591007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계좌정보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C9ECD3E-099B-B90A-E27E-2390CBBDE717}"/>
              </a:ext>
            </a:extLst>
          </p:cNvPr>
          <p:cNvSpPr/>
          <p:nvPr/>
        </p:nvSpPr>
        <p:spPr bwMode="auto">
          <a:xfrm>
            <a:off x="1799117" y="4924152"/>
            <a:ext cx="1704594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은행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37A10EE-C5CE-8EF7-BBF7-A0FF1D9FF9EA}"/>
              </a:ext>
            </a:extLst>
          </p:cNvPr>
          <p:cNvSpPr/>
          <p:nvPr/>
        </p:nvSpPr>
        <p:spPr bwMode="auto">
          <a:xfrm>
            <a:off x="3594382" y="4916818"/>
            <a:ext cx="266429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110-117-35350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A02B2F3-8175-C62C-E6AA-90BE0E7BAA79}"/>
              </a:ext>
            </a:extLst>
          </p:cNvPr>
          <p:cNvSpPr/>
          <p:nvPr/>
        </p:nvSpPr>
        <p:spPr bwMode="auto">
          <a:xfrm>
            <a:off x="6338298" y="4918262"/>
            <a:ext cx="127320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예금주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15CB5CE-6BE8-0B72-489B-6CE0AB38B659}"/>
              </a:ext>
            </a:extLst>
          </p:cNvPr>
          <p:cNvSpPr/>
          <p:nvPr/>
        </p:nvSpPr>
        <p:spPr bwMode="auto">
          <a:xfrm>
            <a:off x="7145695" y="1814242"/>
            <a:ext cx="487245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EA0FBEC-2D1F-EF86-DC3A-C68FC71DB699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C5F040-ACD8-283D-67BA-18F89B06288D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F20CB5B1-E4C0-3D33-04EF-C11D6A93D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39E5E9-4689-5DAB-DAE5-3B7EEB5C7A49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5B8A3-65E8-CE7D-BD20-196440320248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40CE1-7708-B9E5-6821-7F9C601823AD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01A3AF-A22A-1905-255D-EC098A637C79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EC6D1-460A-6D58-273C-43B441C63B24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7E17C4-1006-CFC8-EEFE-B6E7BBFD3BDD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484FCE-5399-6715-353D-4EA6750E323D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440592-746B-65EE-4B63-30EF0E5AF367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D59286-D4EE-90D3-008B-8ECF1969732D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2B1C47-1234-9042-FED5-84331BCAE175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2AD943-4B72-5795-1BD4-BA412F360031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2C8EDE-30D7-6433-1B24-2FCD99401B2A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6D2E54-0041-D346-4C95-D20A61ADD14D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D8DA43-79FC-B789-2309-C2972586050E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EBD5B57-9DCC-14CD-26F4-2F392CB8AAC1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71F907A-3541-D188-B65D-C5363DE237B4}"/>
              </a:ext>
            </a:extLst>
          </p:cNvPr>
          <p:cNvSpPr/>
          <p:nvPr/>
        </p:nvSpPr>
        <p:spPr bwMode="auto">
          <a:xfrm>
            <a:off x="2537373" y="5417800"/>
            <a:ext cx="4206699" cy="298772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544EA4C-F98C-197D-FA37-FA2F2EA468AB}"/>
              </a:ext>
            </a:extLst>
          </p:cNvPr>
          <p:cNvSpPr/>
          <p:nvPr/>
        </p:nvSpPr>
        <p:spPr bwMode="auto">
          <a:xfrm>
            <a:off x="3566389" y="5744564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E2E16A-C6BA-6B6E-B9D1-00C143409F0B}"/>
              </a:ext>
            </a:extLst>
          </p:cNvPr>
          <p:cNvSpPr/>
          <p:nvPr/>
        </p:nvSpPr>
        <p:spPr bwMode="auto">
          <a:xfrm>
            <a:off x="4462499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2DAD54A-1271-178F-B4A8-3E4ED85F6231}"/>
              </a:ext>
            </a:extLst>
          </p:cNvPr>
          <p:cNvSpPr/>
          <p:nvPr/>
        </p:nvSpPr>
        <p:spPr bwMode="auto">
          <a:xfrm>
            <a:off x="5282580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8D09D37-CE32-39D6-B1A9-B8FE16963AC2}"/>
              </a:ext>
            </a:extLst>
          </p:cNvPr>
          <p:cNvSpPr/>
          <p:nvPr/>
        </p:nvSpPr>
        <p:spPr bwMode="auto">
          <a:xfrm>
            <a:off x="2683631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6B74865-3F90-D0C7-ADD7-D0EB7642966C}"/>
              </a:ext>
            </a:extLst>
          </p:cNvPr>
          <p:cNvSpPr/>
          <p:nvPr/>
        </p:nvSpPr>
        <p:spPr bwMode="auto">
          <a:xfrm>
            <a:off x="1806422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2F24E1C-BF3A-ED38-9A8B-C7AE2C71F9BB}"/>
              </a:ext>
            </a:extLst>
          </p:cNvPr>
          <p:cNvSpPr/>
          <p:nvPr/>
        </p:nvSpPr>
        <p:spPr bwMode="auto">
          <a:xfrm>
            <a:off x="1748512" y="5375258"/>
            <a:ext cx="5943602" cy="115008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A856132-E025-382B-8A85-1949A902B393}"/>
              </a:ext>
            </a:extLst>
          </p:cNvPr>
          <p:cNvSpPr/>
          <p:nvPr/>
        </p:nvSpPr>
        <p:spPr bwMode="auto">
          <a:xfrm>
            <a:off x="1806918" y="5426761"/>
            <a:ext cx="63512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A6A384D-67AE-FCB3-8376-DFCDEAC044D4}"/>
              </a:ext>
            </a:extLst>
          </p:cNvPr>
          <p:cNvSpPr/>
          <p:nvPr/>
        </p:nvSpPr>
        <p:spPr bwMode="auto">
          <a:xfrm>
            <a:off x="1830421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3F1D5A4A-F338-C4F0-75A6-90A8CA642C18}"/>
              </a:ext>
            </a:extLst>
          </p:cNvPr>
          <p:cNvSpPr/>
          <p:nvPr/>
        </p:nvSpPr>
        <p:spPr bwMode="auto">
          <a:xfrm>
            <a:off x="2718416" y="5808859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A812540-4218-9DA2-A301-D7BAE8BC9D28}"/>
              </a:ext>
            </a:extLst>
          </p:cNvPr>
          <p:cNvSpPr/>
          <p:nvPr/>
        </p:nvSpPr>
        <p:spPr bwMode="auto">
          <a:xfrm>
            <a:off x="3589648" y="5805822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B7B7FF3C-1E85-1BAA-84DF-33C0BF1854C2}"/>
              </a:ext>
            </a:extLst>
          </p:cNvPr>
          <p:cNvSpPr/>
          <p:nvPr/>
        </p:nvSpPr>
        <p:spPr bwMode="auto">
          <a:xfrm>
            <a:off x="4486595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D4549A66-1FAF-E004-6062-34EC96D8D1FE}"/>
              </a:ext>
            </a:extLst>
          </p:cNvPr>
          <p:cNvSpPr/>
          <p:nvPr/>
        </p:nvSpPr>
        <p:spPr bwMode="auto">
          <a:xfrm>
            <a:off x="5305263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79DDE3F-82CA-01B9-8453-40EBF495DCF8}"/>
              </a:ext>
            </a:extLst>
          </p:cNvPr>
          <p:cNvSpPr/>
          <p:nvPr/>
        </p:nvSpPr>
        <p:spPr bwMode="auto">
          <a:xfrm>
            <a:off x="1835180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2.50%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FCDD66C3-859C-1B35-7687-4B07C6B751D3}"/>
              </a:ext>
            </a:extLst>
          </p:cNvPr>
          <p:cNvSpPr/>
          <p:nvPr/>
        </p:nvSpPr>
        <p:spPr bwMode="auto">
          <a:xfrm>
            <a:off x="2718416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0.60%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878AE687-4862-5ECF-3FD6-C2C505C7977C}"/>
              </a:ext>
            </a:extLst>
          </p:cNvPr>
          <p:cNvSpPr/>
          <p:nvPr/>
        </p:nvSpPr>
        <p:spPr bwMode="auto">
          <a:xfrm>
            <a:off x="3589418" y="6157204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1.35%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AD775541-40B9-6015-71C3-7C7C6B5D8A2B}"/>
              </a:ext>
            </a:extLst>
          </p:cNvPr>
          <p:cNvSpPr/>
          <p:nvPr/>
        </p:nvSpPr>
        <p:spPr bwMode="auto">
          <a:xfrm>
            <a:off x="4492517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1.60%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811CAD1E-1F35-580F-230F-49BE4669F016}"/>
              </a:ext>
            </a:extLst>
          </p:cNvPr>
          <p:cNvSpPr/>
          <p:nvPr/>
        </p:nvSpPr>
        <p:spPr bwMode="auto">
          <a:xfrm>
            <a:off x="5305263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1.85%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66CF417D-1324-927C-9013-047886DD2F3F}"/>
              </a:ext>
            </a:extLst>
          </p:cNvPr>
          <p:cNvSpPr/>
          <p:nvPr/>
        </p:nvSpPr>
        <p:spPr bwMode="auto">
          <a:xfrm>
            <a:off x="3249840" y="5450404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590D6C0-94CB-E538-F6C0-8EE00CBB5C65}"/>
              </a:ext>
            </a:extLst>
          </p:cNvPr>
          <p:cNvSpPr/>
          <p:nvPr/>
        </p:nvSpPr>
        <p:spPr bwMode="auto">
          <a:xfrm>
            <a:off x="3838533" y="5450404"/>
            <a:ext cx="648195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07F270D4-9116-F08F-5C3A-372F715851BE}"/>
              </a:ext>
            </a:extLst>
          </p:cNvPr>
          <p:cNvSpPr/>
          <p:nvPr/>
        </p:nvSpPr>
        <p:spPr bwMode="auto">
          <a:xfrm>
            <a:off x="5162671" y="5452000"/>
            <a:ext cx="701388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861ABB53-5D4E-BEDC-6748-0FEE8DE18A02}"/>
              </a:ext>
            </a:extLst>
          </p:cNvPr>
          <p:cNvSpPr/>
          <p:nvPr/>
        </p:nvSpPr>
        <p:spPr bwMode="auto">
          <a:xfrm>
            <a:off x="5926766" y="5452993"/>
            <a:ext cx="720080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정기과금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F84564CA-43BB-93B2-D4ED-E139173D3AD5}"/>
              </a:ext>
            </a:extLst>
          </p:cNvPr>
          <p:cNvSpPr/>
          <p:nvPr/>
        </p:nvSpPr>
        <p:spPr bwMode="auto">
          <a:xfrm>
            <a:off x="4530620" y="5450404"/>
            <a:ext cx="576064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620AB2AA-6850-0920-4B8D-ADEFDAD7E245}"/>
              </a:ext>
            </a:extLst>
          </p:cNvPr>
          <p:cNvSpPr/>
          <p:nvPr/>
        </p:nvSpPr>
        <p:spPr bwMode="auto">
          <a:xfrm>
            <a:off x="6888088" y="5445224"/>
            <a:ext cx="51017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046AAD97-18A3-1787-CDA9-F46A03092D52}"/>
              </a:ext>
            </a:extLst>
          </p:cNvPr>
          <p:cNvSpPr/>
          <p:nvPr/>
        </p:nvSpPr>
        <p:spPr bwMode="auto">
          <a:xfrm>
            <a:off x="6894203" y="5823897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33D160BD-8BF5-B34D-81BE-741339CE117B}"/>
              </a:ext>
            </a:extLst>
          </p:cNvPr>
          <p:cNvSpPr/>
          <p:nvPr/>
        </p:nvSpPr>
        <p:spPr bwMode="auto">
          <a:xfrm>
            <a:off x="7506270" y="5827514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2C403A56-F330-B626-906A-A8D4C5A2CF77}"/>
              </a:ext>
            </a:extLst>
          </p:cNvPr>
          <p:cNvSpPr/>
          <p:nvPr/>
        </p:nvSpPr>
        <p:spPr bwMode="auto">
          <a:xfrm>
            <a:off x="8123208" y="5827514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1BA4E4EE-4A13-E802-ED5A-0D067CE22D96}"/>
              </a:ext>
            </a:extLst>
          </p:cNvPr>
          <p:cNvSpPr/>
          <p:nvPr/>
        </p:nvSpPr>
        <p:spPr bwMode="auto">
          <a:xfrm>
            <a:off x="8711250" y="5833461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EF673006-0DB1-0A87-E26F-53D48C3EA76E}"/>
              </a:ext>
            </a:extLst>
          </p:cNvPr>
          <p:cNvSpPr/>
          <p:nvPr/>
        </p:nvSpPr>
        <p:spPr bwMode="auto">
          <a:xfrm>
            <a:off x="6901219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468D7FD1-3BA4-8E3F-EFAF-51ADBA6EACF7}"/>
              </a:ext>
            </a:extLst>
          </p:cNvPr>
          <p:cNvSpPr/>
          <p:nvPr/>
        </p:nvSpPr>
        <p:spPr bwMode="auto">
          <a:xfrm>
            <a:off x="8552629" y="5463112"/>
            <a:ext cx="751922" cy="259095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백만원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816B1AB6-4FE7-13A8-892D-E3C29809052D}"/>
              </a:ext>
            </a:extLst>
          </p:cNvPr>
          <p:cNvSpPr/>
          <p:nvPr/>
        </p:nvSpPr>
        <p:spPr bwMode="auto">
          <a:xfrm>
            <a:off x="7506270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0A491CC6-41DC-24BF-6DAE-C1904CF9CCC1}"/>
              </a:ext>
            </a:extLst>
          </p:cNvPr>
          <p:cNvSpPr/>
          <p:nvPr/>
        </p:nvSpPr>
        <p:spPr bwMode="auto">
          <a:xfrm>
            <a:off x="8138635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6376B98-5F13-50CC-D04A-C14D935ED445}"/>
              </a:ext>
            </a:extLst>
          </p:cNvPr>
          <p:cNvSpPr/>
          <p:nvPr/>
        </p:nvSpPr>
        <p:spPr bwMode="auto">
          <a:xfrm>
            <a:off x="8711250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CB5C4C5D-C265-64DC-E5E8-642CEB74144C}"/>
              </a:ext>
            </a:extLst>
          </p:cNvPr>
          <p:cNvSpPr/>
          <p:nvPr/>
        </p:nvSpPr>
        <p:spPr bwMode="auto">
          <a:xfrm>
            <a:off x="2636202" y="5450404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7A88FC67-4712-B7BC-1775-2937B89152A7}"/>
              </a:ext>
            </a:extLst>
          </p:cNvPr>
          <p:cNvSpPr/>
          <p:nvPr/>
        </p:nvSpPr>
        <p:spPr bwMode="auto">
          <a:xfrm>
            <a:off x="6083999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A144D81C-1388-9465-6D18-DEF2C6EFA1C7}"/>
              </a:ext>
            </a:extLst>
          </p:cNvPr>
          <p:cNvSpPr/>
          <p:nvPr/>
        </p:nvSpPr>
        <p:spPr bwMode="auto">
          <a:xfrm>
            <a:off x="6106682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해외카드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1A27B83B-0199-0694-F092-FEADAEDED363}"/>
              </a:ext>
            </a:extLst>
          </p:cNvPr>
          <p:cNvSpPr/>
          <p:nvPr/>
        </p:nvSpPr>
        <p:spPr bwMode="auto">
          <a:xfrm>
            <a:off x="6106682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4.20%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BE7BF8D3-1253-37F9-296E-ECF300A8DA19}"/>
              </a:ext>
            </a:extLst>
          </p:cNvPr>
          <p:cNvSpPr/>
          <p:nvPr/>
        </p:nvSpPr>
        <p:spPr bwMode="auto">
          <a:xfrm>
            <a:off x="10624090" y="2231889"/>
            <a:ext cx="487245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63604A28-64DF-F15D-9E27-9828C68111A3}"/>
              </a:ext>
            </a:extLst>
          </p:cNvPr>
          <p:cNvSpPr/>
          <p:nvPr/>
        </p:nvSpPr>
        <p:spPr bwMode="auto">
          <a:xfrm>
            <a:off x="3534421" y="3765022"/>
            <a:ext cx="375106" cy="259095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altLang="ko-KR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02CF527-B052-AFD6-6AD8-518A20578103}"/>
              </a:ext>
            </a:extLst>
          </p:cNvPr>
          <p:cNvSpPr/>
          <p:nvPr/>
        </p:nvSpPr>
        <p:spPr bwMode="auto">
          <a:xfrm>
            <a:off x="9072483" y="3065165"/>
            <a:ext cx="375106" cy="259095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altLang="ko-KR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4F506B13-92F4-52D3-40FF-34FB5267977A}"/>
              </a:ext>
            </a:extLst>
          </p:cNvPr>
          <p:cNvSpPr/>
          <p:nvPr/>
        </p:nvSpPr>
        <p:spPr bwMode="auto">
          <a:xfrm>
            <a:off x="9338497" y="3879256"/>
            <a:ext cx="507640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en-US" altLang="ko-KR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174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7396-2A20-9C90-5BC6-16F07272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E0930F-7577-77E5-201D-8D8416B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538816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정보 수정을 위해               버튼 클릭 시 정보 수정 가능토록 기능 구현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변경해야 할 정보 변경 후              버튼 클릭하여 수정 완료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B7C245F8-9F90-3DCB-DE9E-BB4751F8A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적용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CD793B5-227A-C2EE-C416-BCC488A0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77FDC07-E274-B5B6-F047-4B0872A7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94AF9E3-6C18-2A27-8503-1A2267439268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C60E1D7-5674-E76E-AE73-E72371E4EF58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ADB5032-76ED-3346-C02E-1E1DA77EDC29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571EC8-8468-EDE4-AA42-CAAE407EC0F7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6BB068-D0FB-982D-01B2-CD4535D8FECD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4923D-6D9B-5EEC-5C6D-49100D8964C6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19F508-F43C-D9C9-975E-6E417FC0E977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A0D2-434D-3FDF-F690-195B0C0F0FA3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71A6C10-9CC7-6FBE-3ABF-2F21FA94AED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EB89C70-D6D7-F54B-39BD-223FB93395CA}"/>
              </a:ext>
            </a:extLst>
          </p:cNvPr>
          <p:cNvSpPr txBox="1"/>
          <p:nvPr/>
        </p:nvSpPr>
        <p:spPr>
          <a:xfrm>
            <a:off x="983432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0060C-10B5-9300-67A1-E1F17E1BBDDE}"/>
              </a:ext>
            </a:extLst>
          </p:cNvPr>
          <p:cNvSpPr txBox="1"/>
          <p:nvPr/>
        </p:nvSpPr>
        <p:spPr>
          <a:xfrm>
            <a:off x="263352" y="2387297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📝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목록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B7C31-9E0E-1B93-03D1-4D751C1216A6}"/>
              </a:ext>
            </a:extLst>
          </p:cNvPr>
          <p:cNvSpPr txBox="1"/>
          <p:nvPr/>
        </p:nvSpPr>
        <p:spPr>
          <a:xfrm>
            <a:off x="263352" y="2176145"/>
            <a:ext cx="10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❗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97AF45-8E7A-D467-2302-BB5CDB9F3F74}"/>
              </a:ext>
            </a:extLst>
          </p:cNvPr>
          <p:cNvSpPr/>
          <p:nvPr/>
        </p:nvSpPr>
        <p:spPr bwMode="auto">
          <a:xfrm>
            <a:off x="6558" y="2376847"/>
            <a:ext cx="161183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4CFFAE-BFF7-0171-8DE1-C5F0DB9748AC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9518C0-8503-B28A-BBBE-36C01E348D2D}"/>
              </a:ext>
            </a:extLst>
          </p:cNvPr>
          <p:cNvSpPr/>
          <p:nvPr/>
        </p:nvSpPr>
        <p:spPr bwMode="auto">
          <a:xfrm>
            <a:off x="1703512" y="1834119"/>
            <a:ext cx="738527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상세내용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CB82DC-E412-E929-6B27-E06A7BD527F0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18040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3D6150-26EC-4B8B-CB2C-0601C8B2D6BC}"/>
              </a:ext>
            </a:extLst>
          </p:cNvPr>
          <p:cNvSpPr/>
          <p:nvPr/>
        </p:nvSpPr>
        <p:spPr bwMode="auto">
          <a:xfrm>
            <a:off x="1742712" y="2307325"/>
            <a:ext cx="2769112" cy="21297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0DA93-962B-920C-75A7-96B4D7DFC076}"/>
              </a:ext>
            </a:extLst>
          </p:cNvPr>
          <p:cNvSpPr/>
          <p:nvPr/>
        </p:nvSpPr>
        <p:spPr bwMode="auto">
          <a:xfrm>
            <a:off x="1799117" y="2372913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AD8969F-4F5E-5B97-45C6-3B2278CC81CB}"/>
              </a:ext>
            </a:extLst>
          </p:cNvPr>
          <p:cNvSpPr/>
          <p:nvPr/>
        </p:nvSpPr>
        <p:spPr bwMode="auto">
          <a:xfrm>
            <a:off x="1799117" y="2740673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코드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D-KOR1137                  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13CAB1C-F17B-F119-D2D5-11E909A3C121}"/>
              </a:ext>
            </a:extLst>
          </p:cNvPr>
          <p:cNvSpPr/>
          <p:nvPr/>
        </p:nvSpPr>
        <p:spPr bwMode="auto">
          <a:xfrm>
            <a:off x="1799117" y="3092055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0DBE41A-7212-D52E-E29B-226D1F5712E6}"/>
              </a:ext>
            </a:extLst>
          </p:cNvPr>
          <p:cNvSpPr/>
          <p:nvPr/>
        </p:nvSpPr>
        <p:spPr bwMode="auto">
          <a:xfrm>
            <a:off x="1806918" y="3428438"/>
            <a:ext cx="26406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KorpayForever77                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C7932B-FE6F-4320-30B1-9A0E1F442F17}"/>
              </a:ext>
            </a:extLst>
          </p:cNvPr>
          <p:cNvSpPr/>
          <p:nvPr/>
        </p:nvSpPr>
        <p:spPr bwMode="auto">
          <a:xfrm>
            <a:off x="1806918" y="3772431"/>
            <a:ext cx="1696793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************                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BA81422-739D-8C69-CBF6-A788AD5EE38E}"/>
              </a:ext>
            </a:extLst>
          </p:cNvPr>
          <p:cNvSpPr/>
          <p:nvPr/>
        </p:nvSpPr>
        <p:spPr bwMode="auto">
          <a:xfrm>
            <a:off x="1806919" y="4114802"/>
            <a:ext cx="169679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등록일자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2026. 01. 14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0B8E1FA-C873-EDFF-4A19-B4448FB01F1F}"/>
              </a:ext>
            </a:extLst>
          </p:cNvPr>
          <p:cNvSpPr/>
          <p:nvPr/>
        </p:nvSpPr>
        <p:spPr bwMode="auto">
          <a:xfrm>
            <a:off x="3575719" y="4124131"/>
            <a:ext cx="86409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5C5AADD-DB9D-61F3-09CB-9004CC2F3D2D}"/>
              </a:ext>
            </a:extLst>
          </p:cNvPr>
          <p:cNvSpPr/>
          <p:nvPr/>
        </p:nvSpPr>
        <p:spPr bwMode="auto">
          <a:xfrm>
            <a:off x="3791744" y="3764821"/>
            <a:ext cx="651656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A5DB37-F6FE-EA64-A118-FE39E9D81112}"/>
              </a:ext>
            </a:extLst>
          </p:cNvPr>
          <p:cNvSpPr/>
          <p:nvPr/>
        </p:nvSpPr>
        <p:spPr bwMode="auto">
          <a:xfrm>
            <a:off x="4600964" y="2295849"/>
            <a:ext cx="3079212" cy="212978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3FF3AE2-FE34-57BA-F61A-AB01A8BEB307}"/>
              </a:ext>
            </a:extLst>
          </p:cNvPr>
          <p:cNvSpPr/>
          <p:nvPr/>
        </p:nvSpPr>
        <p:spPr bwMode="auto">
          <a:xfrm>
            <a:off x="4657370" y="2361437"/>
            <a:ext cx="867894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B5FF52-09C2-D5DD-489D-2254BFC51004}"/>
              </a:ext>
            </a:extLst>
          </p:cNvPr>
          <p:cNvSpPr/>
          <p:nvPr/>
        </p:nvSpPr>
        <p:spPr bwMode="auto">
          <a:xfrm>
            <a:off x="4657371" y="2729197"/>
            <a:ext cx="122260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법인사업자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A6ED487-DE45-08C9-9AD6-CBA2620C043A}"/>
              </a:ext>
            </a:extLst>
          </p:cNvPr>
          <p:cNvSpPr/>
          <p:nvPr/>
        </p:nvSpPr>
        <p:spPr bwMode="auto">
          <a:xfrm>
            <a:off x="6512768" y="3081056"/>
            <a:ext cx="107858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김효준</a:t>
            </a:r>
            <a:endParaRPr lang="en-US" altLang="ko-KR" sz="1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7B1988F-37F4-8C1C-F419-B016E109F9E7}"/>
              </a:ext>
            </a:extLst>
          </p:cNvPr>
          <p:cNvSpPr/>
          <p:nvPr/>
        </p:nvSpPr>
        <p:spPr bwMode="auto">
          <a:xfrm>
            <a:off x="4665171" y="3428438"/>
            <a:ext cx="108979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김경준</a:t>
            </a:r>
            <a:endParaRPr lang="en-US" altLang="ko-KR" sz="1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89BB53B-0A4A-89BC-602E-F3E86F1E2AA0}"/>
              </a:ext>
            </a:extLst>
          </p:cNvPr>
          <p:cNvSpPr/>
          <p:nvPr/>
        </p:nvSpPr>
        <p:spPr bwMode="auto">
          <a:xfrm>
            <a:off x="5858899" y="3433899"/>
            <a:ext cx="161559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010-0230-0000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8C860C5-FB0A-F693-03B7-B9BB88445631}"/>
              </a:ext>
            </a:extLst>
          </p:cNvPr>
          <p:cNvSpPr/>
          <p:nvPr/>
        </p:nvSpPr>
        <p:spPr bwMode="auto">
          <a:xfrm>
            <a:off x="4675644" y="3786742"/>
            <a:ext cx="291571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성동구 성수일로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77, 609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F5ED96A-0EA3-629C-AC1C-481143A359BE}"/>
              </a:ext>
            </a:extLst>
          </p:cNvPr>
          <p:cNvSpPr/>
          <p:nvPr/>
        </p:nvSpPr>
        <p:spPr bwMode="auto">
          <a:xfrm>
            <a:off x="4655840" y="4111711"/>
            <a:ext cx="109912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신효정</a:t>
            </a:r>
            <a:endParaRPr lang="en-US" altLang="ko-KR" sz="1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B0C181A-10B4-E8B6-FA97-018F55421FBD}"/>
              </a:ext>
            </a:extLst>
          </p:cNvPr>
          <p:cNvSpPr/>
          <p:nvPr/>
        </p:nvSpPr>
        <p:spPr bwMode="auto">
          <a:xfrm>
            <a:off x="4644771" y="3071568"/>
            <a:ext cx="178920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123-81-12345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AE6617E-6909-A534-7514-2B43AB2C1B31}"/>
              </a:ext>
            </a:extLst>
          </p:cNvPr>
          <p:cNvSpPr/>
          <p:nvPr/>
        </p:nvSpPr>
        <p:spPr bwMode="auto">
          <a:xfrm>
            <a:off x="5840237" y="4114802"/>
            <a:ext cx="161559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010-0460-0001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783D68-D5C7-2475-2DCC-0CE7076D0306}"/>
              </a:ext>
            </a:extLst>
          </p:cNvPr>
          <p:cNvSpPr/>
          <p:nvPr/>
        </p:nvSpPr>
        <p:spPr bwMode="auto">
          <a:xfrm>
            <a:off x="1736574" y="4532428"/>
            <a:ext cx="5943602" cy="768780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5B66DB-0300-965F-D13E-B25F00657FDC}"/>
              </a:ext>
            </a:extLst>
          </p:cNvPr>
          <p:cNvSpPr/>
          <p:nvPr/>
        </p:nvSpPr>
        <p:spPr bwMode="auto">
          <a:xfrm>
            <a:off x="1803213" y="4591007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계좌정보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3063DDE-F812-F97B-DF23-2EDB69BE85BC}"/>
              </a:ext>
            </a:extLst>
          </p:cNvPr>
          <p:cNvSpPr/>
          <p:nvPr/>
        </p:nvSpPr>
        <p:spPr bwMode="auto">
          <a:xfrm>
            <a:off x="1799117" y="4924152"/>
            <a:ext cx="1704594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은행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283107C-0869-DE7F-C2E5-4D72291EBA57}"/>
              </a:ext>
            </a:extLst>
          </p:cNvPr>
          <p:cNvSpPr/>
          <p:nvPr/>
        </p:nvSpPr>
        <p:spPr bwMode="auto">
          <a:xfrm>
            <a:off x="3594382" y="4916818"/>
            <a:ext cx="266429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110-117-35350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613D371-4254-9095-0465-57651D7EF3BD}"/>
              </a:ext>
            </a:extLst>
          </p:cNvPr>
          <p:cNvSpPr/>
          <p:nvPr/>
        </p:nvSpPr>
        <p:spPr bwMode="auto">
          <a:xfrm>
            <a:off x="6338298" y="4918262"/>
            <a:ext cx="127320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예금주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50BCDDA6-3B7B-9200-A78F-65F1C659139A}"/>
              </a:ext>
            </a:extLst>
          </p:cNvPr>
          <p:cNvSpPr/>
          <p:nvPr/>
        </p:nvSpPr>
        <p:spPr bwMode="auto">
          <a:xfrm>
            <a:off x="7145695" y="1814242"/>
            <a:ext cx="487245" cy="259095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D20667-67BE-A864-15D5-191BCB893450}"/>
              </a:ext>
            </a:extLst>
          </p:cNvPr>
          <p:cNvSpPr/>
          <p:nvPr/>
        </p:nvSpPr>
        <p:spPr bwMode="auto">
          <a:xfrm>
            <a:off x="4545248" y="2257008"/>
            <a:ext cx="3182817" cy="222552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4DEC76-2ED7-1791-C3B1-E58D95C85CD8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A13DC-204F-CFC6-2B01-4B056AC9E0D4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B87E63D2-BEFE-574B-38FD-78E452D8C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36C80D0-37E5-579E-E763-F3255F7F1F22}"/>
              </a:ext>
            </a:extLst>
          </p:cNvPr>
          <p:cNvSpPr/>
          <p:nvPr/>
        </p:nvSpPr>
        <p:spPr bwMode="auto">
          <a:xfrm>
            <a:off x="2537373" y="5417800"/>
            <a:ext cx="4206699" cy="298772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B25551E-53C3-3031-0FD1-2E440F5738C0}"/>
              </a:ext>
            </a:extLst>
          </p:cNvPr>
          <p:cNvSpPr/>
          <p:nvPr/>
        </p:nvSpPr>
        <p:spPr bwMode="auto">
          <a:xfrm>
            <a:off x="3566389" y="5744564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C62D40E-A86C-4E35-58FE-85F8FEFB58A5}"/>
              </a:ext>
            </a:extLst>
          </p:cNvPr>
          <p:cNvSpPr/>
          <p:nvPr/>
        </p:nvSpPr>
        <p:spPr bwMode="auto">
          <a:xfrm>
            <a:off x="4462499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582897E-6015-2E52-91CD-E24FD58B532E}"/>
              </a:ext>
            </a:extLst>
          </p:cNvPr>
          <p:cNvSpPr/>
          <p:nvPr/>
        </p:nvSpPr>
        <p:spPr bwMode="auto">
          <a:xfrm>
            <a:off x="5282580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31EFDEF-582F-E856-66E4-B590494FF59F}"/>
              </a:ext>
            </a:extLst>
          </p:cNvPr>
          <p:cNvSpPr/>
          <p:nvPr/>
        </p:nvSpPr>
        <p:spPr bwMode="auto">
          <a:xfrm>
            <a:off x="2683631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78B3B94-739E-07B6-4A04-9001874C46DD}"/>
              </a:ext>
            </a:extLst>
          </p:cNvPr>
          <p:cNvSpPr/>
          <p:nvPr/>
        </p:nvSpPr>
        <p:spPr bwMode="auto">
          <a:xfrm>
            <a:off x="1806422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DAEDFBB-E96D-CD29-48B8-77ACE9FC416A}"/>
              </a:ext>
            </a:extLst>
          </p:cNvPr>
          <p:cNvSpPr/>
          <p:nvPr/>
        </p:nvSpPr>
        <p:spPr bwMode="auto">
          <a:xfrm>
            <a:off x="1748512" y="5375258"/>
            <a:ext cx="5943602" cy="115008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D57B61DD-F646-0B95-1AC7-4C3FF9ACDDF0}"/>
              </a:ext>
            </a:extLst>
          </p:cNvPr>
          <p:cNvSpPr/>
          <p:nvPr/>
        </p:nvSpPr>
        <p:spPr bwMode="auto">
          <a:xfrm>
            <a:off x="1806918" y="5426761"/>
            <a:ext cx="63512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D07791C7-6472-D8DE-2985-0FE77651B8C3}"/>
              </a:ext>
            </a:extLst>
          </p:cNvPr>
          <p:cNvSpPr/>
          <p:nvPr/>
        </p:nvSpPr>
        <p:spPr bwMode="auto">
          <a:xfrm>
            <a:off x="1830421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2AF13B05-79B7-ACB9-D226-B78AE91BB92B}"/>
              </a:ext>
            </a:extLst>
          </p:cNvPr>
          <p:cNvSpPr/>
          <p:nvPr/>
        </p:nvSpPr>
        <p:spPr bwMode="auto">
          <a:xfrm>
            <a:off x="2718416" y="5808859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633BF826-9EA0-AE23-0619-7867FC4D8BBB}"/>
              </a:ext>
            </a:extLst>
          </p:cNvPr>
          <p:cNvSpPr/>
          <p:nvPr/>
        </p:nvSpPr>
        <p:spPr bwMode="auto">
          <a:xfrm>
            <a:off x="3589648" y="5805822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F2B6977A-EAA8-9F9E-371A-7EA9B4F4DFB1}"/>
              </a:ext>
            </a:extLst>
          </p:cNvPr>
          <p:cNvSpPr/>
          <p:nvPr/>
        </p:nvSpPr>
        <p:spPr bwMode="auto">
          <a:xfrm>
            <a:off x="4486595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DB849B48-54CC-A3F6-AB33-BDD6EB3078C1}"/>
              </a:ext>
            </a:extLst>
          </p:cNvPr>
          <p:cNvSpPr/>
          <p:nvPr/>
        </p:nvSpPr>
        <p:spPr bwMode="auto">
          <a:xfrm>
            <a:off x="5305263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47A5A2C8-62C3-9D87-9658-56EA160B3A0C}"/>
              </a:ext>
            </a:extLst>
          </p:cNvPr>
          <p:cNvSpPr/>
          <p:nvPr/>
        </p:nvSpPr>
        <p:spPr bwMode="auto">
          <a:xfrm>
            <a:off x="1835180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2.50%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22FAFA21-FB1D-3BC3-D4B9-AEC25629391D}"/>
              </a:ext>
            </a:extLst>
          </p:cNvPr>
          <p:cNvSpPr/>
          <p:nvPr/>
        </p:nvSpPr>
        <p:spPr bwMode="auto">
          <a:xfrm>
            <a:off x="2718416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0.60%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3251C707-E254-BDCF-BE02-6FACFF48D115}"/>
              </a:ext>
            </a:extLst>
          </p:cNvPr>
          <p:cNvSpPr/>
          <p:nvPr/>
        </p:nvSpPr>
        <p:spPr bwMode="auto">
          <a:xfrm>
            <a:off x="3589418" y="6157204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1.35%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767C63B-17EB-6BD4-DBB4-02FC33C3176C}"/>
              </a:ext>
            </a:extLst>
          </p:cNvPr>
          <p:cNvSpPr/>
          <p:nvPr/>
        </p:nvSpPr>
        <p:spPr bwMode="auto">
          <a:xfrm>
            <a:off x="4492517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1.60%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7B2BFA2E-59BA-5BB7-A0C1-A8F92695A40C}"/>
              </a:ext>
            </a:extLst>
          </p:cNvPr>
          <p:cNvSpPr/>
          <p:nvPr/>
        </p:nvSpPr>
        <p:spPr bwMode="auto">
          <a:xfrm>
            <a:off x="5305263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1.85%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C5298461-10D0-130E-219B-A33C3F6ECE30}"/>
              </a:ext>
            </a:extLst>
          </p:cNvPr>
          <p:cNvSpPr/>
          <p:nvPr/>
        </p:nvSpPr>
        <p:spPr bwMode="auto">
          <a:xfrm>
            <a:off x="3249840" y="5450404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8E6BCB7-9680-E1B5-26CF-CAAC8404B3CE}"/>
              </a:ext>
            </a:extLst>
          </p:cNvPr>
          <p:cNvSpPr/>
          <p:nvPr/>
        </p:nvSpPr>
        <p:spPr bwMode="auto">
          <a:xfrm>
            <a:off x="3838533" y="5450404"/>
            <a:ext cx="648195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23F9887-B3A4-093F-56EA-3AE39592266D}"/>
              </a:ext>
            </a:extLst>
          </p:cNvPr>
          <p:cNvSpPr/>
          <p:nvPr/>
        </p:nvSpPr>
        <p:spPr bwMode="auto">
          <a:xfrm>
            <a:off x="5162671" y="5452000"/>
            <a:ext cx="701388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3412E72-9CDA-52E7-9B29-AE9ADB46CB68}"/>
              </a:ext>
            </a:extLst>
          </p:cNvPr>
          <p:cNvSpPr/>
          <p:nvPr/>
        </p:nvSpPr>
        <p:spPr bwMode="auto">
          <a:xfrm>
            <a:off x="5926766" y="5452993"/>
            <a:ext cx="720080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정기과금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11ACA5AF-D7C6-8F4B-BA73-7A75EAF37386}"/>
              </a:ext>
            </a:extLst>
          </p:cNvPr>
          <p:cNvSpPr/>
          <p:nvPr/>
        </p:nvSpPr>
        <p:spPr bwMode="auto">
          <a:xfrm>
            <a:off x="4530620" y="5450404"/>
            <a:ext cx="576064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253B0390-EB09-0155-AE57-A799DE431954}"/>
              </a:ext>
            </a:extLst>
          </p:cNvPr>
          <p:cNvSpPr/>
          <p:nvPr/>
        </p:nvSpPr>
        <p:spPr bwMode="auto">
          <a:xfrm>
            <a:off x="6888088" y="5445224"/>
            <a:ext cx="51017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A8B83973-B92C-641C-AB75-AFCD1769DA47}"/>
              </a:ext>
            </a:extLst>
          </p:cNvPr>
          <p:cNvSpPr/>
          <p:nvPr/>
        </p:nvSpPr>
        <p:spPr bwMode="auto">
          <a:xfrm>
            <a:off x="6894203" y="5823897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DC0747A-FBB3-9D06-F5CA-8BC2CE42AC5D}"/>
              </a:ext>
            </a:extLst>
          </p:cNvPr>
          <p:cNvSpPr/>
          <p:nvPr/>
        </p:nvSpPr>
        <p:spPr bwMode="auto">
          <a:xfrm>
            <a:off x="7506270" y="5827514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C7750280-3D1B-974F-2636-0D9F89E3C8A4}"/>
              </a:ext>
            </a:extLst>
          </p:cNvPr>
          <p:cNvSpPr/>
          <p:nvPr/>
        </p:nvSpPr>
        <p:spPr bwMode="auto">
          <a:xfrm>
            <a:off x="8123208" y="5827514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45A4F93C-C91C-E090-A1B9-5C4E0A890396}"/>
              </a:ext>
            </a:extLst>
          </p:cNvPr>
          <p:cNvSpPr/>
          <p:nvPr/>
        </p:nvSpPr>
        <p:spPr bwMode="auto">
          <a:xfrm>
            <a:off x="8711250" y="5833461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E682A544-E64A-0FA3-DB12-2DFACE9BE319}"/>
              </a:ext>
            </a:extLst>
          </p:cNvPr>
          <p:cNvSpPr/>
          <p:nvPr/>
        </p:nvSpPr>
        <p:spPr bwMode="auto">
          <a:xfrm>
            <a:off x="6901219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8491A3DC-FBAF-7A78-1A2B-FC6B2D24903E}"/>
              </a:ext>
            </a:extLst>
          </p:cNvPr>
          <p:cNvSpPr/>
          <p:nvPr/>
        </p:nvSpPr>
        <p:spPr bwMode="auto">
          <a:xfrm>
            <a:off x="8552629" y="5463112"/>
            <a:ext cx="751922" cy="259095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백만원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9B381B0-7D8E-B87C-DED1-28184F27C9AD}"/>
              </a:ext>
            </a:extLst>
          </p:cNvPr>
          <p:cNvSpPr/>
          <p:nvPr/>
        </p:nvSpPr>
        <p:spPr bwMode="auto">
          <a:xfrm>
            <a:off x="7506270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A2A06231-E573-2F7B-99C0-78C328361D5A}"/>
              </a:ext>
            </a:extLst>
          </p:cNvPr>
          <p:cNvSpPr/>
          <p:nvPr/>
        </p:nvSpPr>
        <p:spPr bwMode="auto">
          <a:xfrm>
            <a:off x="8138635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50207256-5D85-5C3C-904F-D9C5EB524CAE}"/>
              </a:ext>
            </a:extLst>
          </p:cNvPr>
          <p:cNvSpPr/>
          <p:nvPr/>
        </p:nvSpPr>
        <p:spPr bwMode="auto">
          <a:xfrm>
            <a:off x="8711250" y="6167167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642034D9-FDF1-E51D-F017-8613333BB973}"/>
              </a:ext>
            </a:extLst>
          </p:cNvPr>
          <p:cNvSpPr/>
          <p:nvPr/>
        </p:nvSpPr>
        <p:spPr bwMode="auto">
          <a:xfrm>
            <a:off x="2636202" y="5450404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5D9EB-6A5E-C553-654E-35DDD90CAD3D}"/>
              </a:ext>
            </a:extLst>
          </p:cNvPr>
          <p:cNvSpPr txBox="1"/>
          <p:nvPr/>
        </p:nvSpPr>
        <p:spPr>
          <a:xfrm>
            <a:off x="413903" y="39061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26108-1131-2948-0DCE-0817CA4C4EDE}"/>
              </a:ext>
            </a:extLst>
          </p:cNvPr>
          <p:cNvSpPr txBox="1"/>
          <p:nvPr/>
        </p:nvSpPr>
        <p:spPr>
          <a:xfrm>
            <a:off x="125871" y="385996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D2B102-B54E-E331-FC4A-79F8B7D20D91}"/>
              </a:ext>
            </a:extLst>
          </p:cNvPr>
          <p:cNvSpPr txBox="1"/>
          <p:nvPr/>
        </p:nvSpPr>
        <p:spPr>
          <a:xfrm>
            <a:off x="859002" y="389338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5A37A2-70BA-255D-6EBE-04990B9C5A6A}"/>
              </a:ext>
            </a:extLst>
          </p:cNvPr>
          <p:cNvSpPr txBox="1"/>
          <p:nvPr/>
        </p:nvSpPr>
        <p:spPr>
          <a:xfrm>
            <a:off x="112735" y="263691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BE275E-C643-3CD6-489F-F545EF06C181}"/>
              </a:ext>
            </a:extLst>
          </p:cNvPr>
          <p:cNvSpPr txBox="1"/>
          <p:nvPr/>
        </p:nvSpPr>
        <p:spPr>
          <a:xfrm>
            <a:off x="400667" y="271620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D9B849-03A4-43E1-6C1D-FBE437E0DE73}"/>
              </a:ext>
            </a:extLst>
          </p:cNvPr>
          <p:cNvSpPr txBox="1"/>
          <p:nvPr/>
        </p:nvSpPr>
        <p:spPr>
          <a:xfrm>
            <a:off x="982342" y="270527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D0715D-6133-D27E-3540-53683DD5462E}"/>
              </a:ext>
            </a:extLst>
          </p:cNvPr>
          <p:cNvSpPr txBox="1"/>
          <p:nvPr/>
        </p:nvSpPr>
        <p:spPr>
          <a:xfrm>
            <a:off x="125971" y="294659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F6CC2D-4017-9135-E0D6-30929863024E}"/>
              </a:ext>
            </a:extLst>
          </p:cNvPr>
          <p:cNvSpPr txBox="1"/>
          <p:nvPr/>
        </p:nvSpPr>
        <p:spPr>
          <a:xfrm>
            <a:off x="413903" y="302588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8BDF4E-07B0-1C0A-000F-496BA417D4CE}"/>
              </a:ext>
            </a:extLst>
          </p:cNvPr>
          <p:cNvSpPr txBox="1"/>
          <p:nvPr/>
        </p:nvSpPr>
        <p:spPr>
          <a:xfrm>
            <a:off x="878895" y="301495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CF107D-2250-11E7-A6AC-92339787A13E}"/>
              </a:ext>
            </a:extLst>
          </p:cNvPr>
          <p:cNvSpPr txBox="1"/>
          <p:nvPr/>
        </p:nvSpPr>
        <p:spPr>
          <a:xfrm>
            <a:off x="122911" y="35255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122791-8D1D-AFC5-A1F1-C14A9DDDD050}"/>
              </a:ext>
            </a:extLst>
          </p:cNvPr>
          <p:cNvSpPr txBox="1"/>
          <p:nvPr/>
        </p:nvSpPr>
        <p:spPr>
          <a:xfrm>
            <a:off x="410843" y="360479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2EEF9F-5C9D-EFD3-AEF7-8BAFE1773914}"/>
              </a:ext>
            </a:extLst>
          </p:cNvPr>
          <p:cNvSpPr txBox="1"/>
          <p:nvPr/>
        </p:nvSpPr>
        <p:spPr>
          <a:xfrm>
            <a:off x="875835" y="361501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D25108-5953-5207-F001-35EC12CD6357}"/>
              </a:ext>
            </a:extLst>
          </p:cNvPr>
          <p:cNvSpPr txBox="1"/>
          <p:nvPr/>
        </p:nvSpPr>
        <p:spPr>
          <a:xfrm>
            <a:off x="407368" y="328604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8A9176-A461-90D1-82BE-FAD89B39AB21}"/>
              </a:ext>
            </a:extLst>
          </p:cNvPr>
          <p:cNvSpPr txBox="1"/>
          <p:nvPr/>
        </p:nvSpPr>
        <p:spPr>
          <a:xfrm>
            <a:off x="881069" y="329626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5D72C5-97ED-E123-44CA-3B613A658630}"/>
              </a:ext>
            </a:extLst>
          </p:cNvPr>
          <p:cNvSpPr txBox="1"/>
          <p:nvPr/>
        </p:nvSpPr>
        <p:spPr>
          <a:xfrm>
            <a:off x="142389" y="323019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E20EE35-88E3-D47F-33D2-59F0CFE2C6D5}"/>
              </a:ext>
            </a:extLst>
          </p:cNvPr>
          <p:cNvSpPr/>
          <p:nvPr/>
        </p:nvSpPr>
        <p:spPr bwMode="auto">
          <a:xfrm>
            <a:off x="6083999" y="5751150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4D3C721-7E4F-84C0-499F-6EC6386D7F00}"/>
              </a:ext>
            </a:extLst>
          </p:cNvPr>
          <p:cNvSpPr/>
          <p:nvPr/>
        </p:nvSpPr>
        <p:spPr bwMode="auto">
          <a:xfrm>
            <a:off x="6106682" y="5803078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해외카드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5373AE4-CBD7-5432-A6CC-2C03CAAE6095}"/>
              </a:ext>
            </a:extLst>
          </p:cNvPr>
          <p:cNvSpPr/>
          <p:nvPr/>
        </p:nvSpPr>
        <p:spPr bwMode="auto">
          <a:xfrm>
            <a:off x="6106682" y="61544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4.20%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7C17F102-44B8-73A6-9630-D4DA3B084525}"/>
              </a:ext>
            </a:extLst>
          </p:cNvPr>
          <p:cNvSpPr/>
          <p:nvPr/>
        </p:nvSpPr>
        <p:spPr bwMode="auto">
          <a:xfrm>
            <a:off x="9806767" y="1220623"/>
            <a:ext cx="487245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3059963-4774-8BAA-A8F3-C88CDF62BEE2}"/>
              </a:ext>
            </a:extLst>
          </p:cNvPr>
          <p:cNvSpPr/>
          <p:nvPr/>
        </p:nvSpPr>
        <p:spPr bwMode="auto">
          <a:xfrm>
            <a:off x="9817361" y="1621409"/>
            <a:ext cx="487245" cy="259095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174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CEA9-8E02-4E63-F20D-B11DEB4E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B87448-FB98-E851-B0C0-DB00B9281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88492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1.1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선택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벤더를 선택하여 가맹점 등록 진행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5C6FE5C-706A-1A3C-E4DB-8C2172F60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-1.1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E030E94-5044-8306-142C-CD4D04BC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14C4423-E481-10B0-FA1D-1EA86600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2A9E4FC-D8C3-0F37-766C-921578C92AB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96149EF-32F2-C67C-C628-C508C3B46E1D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8A22511-B484-46AC-FF2A-B15C41E6332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18EC23-8FA2-110E-532E-9062AAA6163C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DC88A1-A355-E332-3B92-BDBBD809DFF8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069613-E13C-CB40-BD85-87958D0A7B3F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C3B00E-2821-2C11-92DF-A0763955F35B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4837A1-20A2-6FA0-1D84-A7EE0C52854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661F69-983E-C3EA-4B14-EC049AE71274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2C63CC-AA82-1909-21C8-E1025CCC35AB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6AD560-ABE1-59B3-0285-9680452F7AB5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0D97B62-664C-59A7-EEFE-A6087541DAFB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B113DE-3DD5-DC0B-6919-7C7404977D60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97784-9A98-C91D-5EDC-77769127D311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77517-9E71-221A-7C00-5F87CB7B563F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51AAC-2676-6E42-E3F3-C5C2A5C402B3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BF736-1DB0-1CDC-8B65-148E38A8A2B0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A4803-831C-EF69-3C32-343A7093B1EC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9234513-AC62-EBE6-E3A3-31D2A502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1E9E33-93DB-0BB8-CF5C-78596D659612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ⓧ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AA67A1-955C-5DA0-1F92-FBA9A3DF7D7A}"/>
              </a:ext>
            </a:extLst>
          </p:cNvPr>
          <p:cNvSpPr/>
          <p:nvPr/>
        </p:nvSpPr>
        <p:spPr bwMode="auto">
          <a:xfrm>
            <a:off x="33987" y="24888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E454B8-D2D8-28B2-5908-01B1FAA1F473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06AB540-6EE4-D33B-0E37-0600B2EC0801}"/>
              </a:ext>
            </a:extLst>
          </p:cNvPr>
          <p:cNvSpPr/>
          <p:nvPr/>
        </p:nvSpPr>
        <p:spPr bwMode="auto">
          <a:xfrm>
            <a:off x="1703512" y="1834119"/>
            <a:ext cx="92325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439AB1C-F971-6D27-DA74-F745989B0CD2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18040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195591-6044-22DE-0859-3E81E8C3083D}"/>
              </a:ext>
            </a:extLst>
          </p:cNvPr>
          <p:cNvSpPr/>
          <p:nvPr/>
        </p:nvSpPr>
        <p:spPr bwMode="auto">
          <a:xfrm>
            <a:off x="1742711" y="2276872"/>
            <a:ext cx="5955044" cy="223223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45BFC593-E479-165E-147A-C40821C19D23}"/>
              </a:ext>
            </a:extLst>
          </p:cNvPr>
          <p:cNvSpPr/>
          <p:nvPr/>
        </p:nvSpPr>
        <p:spPr bwMode="auto">
          <a:xfrm>
            <a:off x="6600057" y="1833706"/>
            <a:ext cx="1097698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대량 등록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2F1FF0-D5E9-A41D-E4C7-D158614EEB32}"/>
              </a:ext>
            </a:extLst>
          </p:cNvPr>
          <p:cNvSpPr txBox="1"/>
          <p:nvPr/>
        </p:nvSpPr>
        <p:spPr>
          <a:xfrm>
            <a:off x="413903" y="41755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C70A53-CFF3-9157-7060-0DC4804804FE}"/>
              </a:ext>
            </a:extLst>
          </p:cNvPr>
          <p:cNvSpPr txBox="1"/>
          <p:nvPr/>
        </p:nvSpPr>
        <p:spPr>
          <a:xfrm>
            <a:off x="125871" y="412933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7B122B-6E17-02BC-212A-74BC9B36E3B2}"/>
              </a:ext>
            </a:extLst>
          </p:cNvPr>
          <p:cNvSpPr txBox="1"/>
          <p:nvPr/>
        </p:nvSpPr>
        <p:spPr>
          <a:xfrm>
            <a:off x="859002" y="416275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AA9DF3-BE87-E3C9-5137-2B17D5A2C07C}"/>
              </a:ext>
            </a:extLst>
          </p:cNvPr>
          <p:cNvSpPr txBox="1"/>
          <p:nvPr/>
        </p:nvSpPr>
        <p:spPr>
          <a:xfrm>
            <a:off x="125971" y="321596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A44349-60B6-9763-0E0E-78BDB31AC3C3}"/>
              </a:ext>
            </a:extLst>
          </p:cNvPr>
          <p:cNvSpPr txBox="1"/>
          <p:nvPr/>
        </p:nvSpPr>
        <p:spPr>
          <a:xfrm>
            <a:off x="413903" y="329525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E1342B-452D-6134-802D-158A83603EFC}"/>
              </a:ext>
            </a:extLst>
          </p:cNvPr>
          <p:cNvSpPr txBox="1"/>
          <p:nvPr/>
        </p:nvSpPr>
        <p:spPr>
          <a:xfrm>
            <a:off x="878895" y="328432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879A98-76DE-2BBA-38D3-1A0491334207}"/>
              </a:ext>
            </a:extLst>
          </p:cNvPr>
          <p:cNvSpPr txBox="1"/>
          <p:nvPr/>
        </p:nvSpPr>
        <p:spPr>
          <a:xfrm>
            <a:off x="122911" y="379487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53B18C-76E5-A23C-8C5C-B3324FB510FF}"/>
              </a:ext>
            </a:extLst>
          </p:cNvPr>
          <p:cNvSpPr txBox="1"/>
          <p:nvPr/>
        </p:nvSpPr>
        <p:spPr>
          <a:xfrm>
            <a:off x="410843" y="387416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0150C3-727C-1AB4-01CE-B42C2303D4F4}"/>
              </a:ext>
            </a:extLst>
          </p:cNvPr>
          <p:cNvSpPr txBox="1"/>
          <p:nvPr/>
        </p:nvSpPr>
        <p:spPr>
          <a:xfrm>
            <a:off x="875835" y="388438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B67B90-9022-3419-CADD-9ACB26518521}"/>
              </a:ext>
            </a:extLst>
          </p:cNvPr>
          <p:cNvSpPr txBox="1"/>
          <p:nvPr/>
        </p:nvSpPr>
        <p:spPr>
          <a:xfrm>
            <a:off x="407368" y="355541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7E3A95-AE3A-82C0-0043-4E7B63307DE6}"/>
              </a:ext>
            </a:extLst>
          </p:cNvPr>
          <p:cNvSpPr txBox="1"/>
          <p:nvPr/>
        </p:nvSpPr>
        <p:spPr>
          <a:xfrm>
            <a:off x="881069" y="356563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8A3871-40DB-52A2-80F8-7E2EA7E2265C}"/>
              </a:ext>
            </a:extLst>
          </p:cNvPr>
          <p:cNvSpPr txBox="1"/>
          <p:nvPr/>
        </p:nvSpPr>
        <p:spPr>
          <a:xfrm>
            <a:off x="142389" y="349956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E47E15D-491A-2981-684F-4B6FEC2779D0}"/>
              </a:ext>
            </a:extLst>
          </p:cNvPr>
          <p:cNvSpPr/>
          <p:nvPr/>
        </p:nvSpPr>
        <p:spPr bwMode="auto">
          <a:xfrm>
            <a:off x="1799117" y="2342460"/>
            <a:ext cx="937479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선택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30D1802-FEAD-2F1C-EF07-20CAFA680A82}"/>
              </a:ext>
            </a:extLst>
          </p:cNvPr>
          <p:cNvSpPr/>
          <p:nvPr/>
        </p:nvSpPr>
        <p:spPr bwMode="auto">
          <a:xfrm>
            <a:off x="2087344" y="2691557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03CBB87-35AC-E53D-C2F1-2676726F5264}"/>
              </a:ext>
            </a:extLst>
          </p:cNvPr>
          <p:cNvSpPr/>
          <p:nvPr/>
        </p:nvSpPr>
        <p:spPr bwMode="auto">
          <a:xfrm>
            <a:off x="2087344" y="3070995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505CD60-4D59-2DCD-06EC-268B07DBF547}"/>
              </a:ext>
            </a:extLst>
          </p:cNvPr>
          <p:cNvSpPr/>
          <p:nvPr/>
        </p:nvSpPr>
        <p:spPr bwMode="auto">
          <a:xfrm>
            <a:off x="2087344" y="3429000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8F33434-E66D-7297-91D8-906BF1A614AF}"/>
              </a:ext>
            </a:extLst>
          </p:cNvPr>
          <p:cNvSpPr/>
          <p:nvPr/>
        </p:nvSpPr>
        <p:spPr bwMode="auto">
          <a:xfrm>
            <a:off x="2087344" y="3808902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06DE313-A3D0-48BE-41C3-17FA7D8E3008}"/>
              </a:ext>
            </a:extLst>
          </p:cNvPr>
          <p:cNvSpPr/>
          <p:nvPr/>
        </p:nvSpPr>
        <p:spPr bwMode="auto">
          <a:xfrm>
            <a:off x="2087344" y="4174591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C382AA2A-7C0E-FD76-0B43-67446E26EBDB}"/>
              </a:ext>
            </a:extLst>
          </p:cNvPr>
          <p:cNvSpPr/>
          <p:nvPr/>
        </p:nvSpPr>
        <p:spPr bwMode="auto">
          <a:xfrm>
            <a:off x="3290935" y="2691192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9A95F4F-AF14-C556-DC31-54D285B376C5}"/>
              </a:ext>
            </a:extLst>
          </p:cNvPr>
          <p:cNvSpPr/>
          <p:nvPr/>
        </p:nvSpPr>
        <p:spPr bwMode="auto">
          <a:xfrm>
            <a:off x="3290935" y="3086413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A0FE5485-FF0D-540C-F2F5-1B37AD8AB462}"/>
              </a:ext>
            </a:extLst>
          </p:cNvPr>
          <p:cNvSpPr/>
          <p:nvPr/>
        </p:nvSpPr>
        <p:spPr bwMode="auto">
          <a:xfrm>
            <a:off x="3290935" y="3436089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FEFA9CF-C8A6-37CB-F1AF-F5C7B1BFEA49}"/>
              </a:ext>
            </a:extLst>
          </p:cNvPr>
          <p:cNvSpPr/>
          <p:nvPr/>
        </p:nvSpPr>
        <p:spPr bwMode="auto">
          <a:xfrm>
            <a:off x="3288364" y="3808903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B4DB1F2F-AC16-7753-EB83-85C85C5C223D}"/>
              </a:ext>
            </a:extLst>
          </p:cNvPr>
          <p:cNvSpPr/>
          <p:nvPr/>
        </p:nvSpPr>
        <p:spPr bwMode="auto">
          <a:xfrm>
            <a:off x="3297072" y="4174592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2258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91CA-1B31-D0CD-6890-EEE0D67C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2FE06BB-4C43-930B-8A2E-BE5080094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267789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1.2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선택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각 영업잠에 해당하는 정보 선택하여 등록 진행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359799F-E84B-850A-F14B-FE8956313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-1.2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D1C238D-1940-DB38-35EE-B2202392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36AAFFE-68D2-7847-CD74-6179446FC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C4D2393-8A1A-AE67-934B-A9DD4B014DF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BEA4335-62CD-B204-E3DF-EBC9056BFF2D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B594FD6-CF61-CAA1-217D-C6B15E3C6A99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C4975B-0440-67AB-279E-F5AF08888EE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4C3808-2CEA-99AF-843D-57E18A44DE5C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2859B0-B303-D1F1-FA95-99E8BED5C615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284F3F-E3E7-90DA-2DDE-0F9EA55D0CD2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CC76A1-3423-7D3D-BD0F-14DF0BF502C4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DC4498-8A6C-B0ED-D8E0-60C12C1F2E3C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D0577-8EE9-9AA9-4A25-22F8633531C6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124C49-53B1-6761-D40A-5FFDCBE7541D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ED04464-06D8-4C81-6254-CA5B22855C50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692D71-0E7D-7306-42F4-6E81E1BDC96A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E9B89-CD0D-B831-198D-6493122FA07A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FF14F-12EF-F7DB-D9B9-D84AFD2A161E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FBFBA-95B8-D036-3BBC-6B2F9C4D1ADF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0E849-D3C2-5D38-0E3B-1A1352A13FDC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54199-14FE-0731-DA48-B5CC1D8A0378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829A45-BECC-399F-397F-8BCBA1840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CBEB34-59B5-3D8B-3BCE-F9D5F1B1BF98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ⓧ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CE4652-269D-DE2B-D141-2CAE1B3D70E3}"/>
              </a:ext>
            </a:extLst>
          </p:cNvPr>
          <p:cNvSpPr/>
          <p:nvPr/>
        </p:nvSpPr>
        <p:spPr bwMode="auto">
          <a:xfrm>
            <a:off x="33987" y="24888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CF0023-1171-C13F-E735-61EAAB67A8AA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4F66633-0B32-BBD2-E6DE-B98FDAE6BB23}"/>
              </a:ext>
            </a:extLst>
          </p:cNvPr>
          <p:cNvSpPr/>
          <p:nvPr/>
        </p:nvSpPr>
        <p:spPr bwMode="auto">
          <a:xfrm>
            <a:off x="1703512" y="1834119"/>
            <a:ext cx="92325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86EC0A4-0942-B649-62FA-BB2FF682AAF4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18040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AA70AF-EB4B-8A24-9267-55F986ED7AC9}"/>
              </a:ext>
            </a:extLst>
          </p:cNvPr>
          <p:cNvSpPr/>
          <p:nvPr/>
        </p:nvSpPr>
        <p:spPr bwMode="auto">
          <a:xfrm>
            <a:off x="1742711" y="2276872"/>
            <a:ext cx="5955044" cy="223223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87170E31-9F53-B460-699D-A190F6902EF2}"/>
              </a:ext>
            </a:extLst>
          </p:cNvPr>
          <p:cNvSpPr/>
          <p:nvPr/>
        </p:nvSpPr>
        <p:spPr bwMode="auto">
          <a:xfrm>
            <a:off x="6600057" y="1833706"/>
            <a:ext cx="1097698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대량 등록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57D91E9-CE87-A174-8756-1E7302727F5C}"/>
              </a:ext>
            </a:extLst>
          </p:cNvPr>
          <p:cNvSpPr txBox="1"/>
          <p:nvPr/>
        </p:nvSpPr>
        <p:spPr>
          <a:xfrm>
            <a:off x="413903" y="41755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549EF2-CD43-9BA2-BEA8-ECAEF0892F6E}"/>
              </a:ext>
            </a:extLst>
          </p:cNvPr>
          <p:cNvSpPr txBox="1"/>
          <p:nvPr/>
        </p:nvSpPr>
        <p:spPr>
          <a:xfrm>
            <a:off x="125871" y="412933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A6563E-5FB1-E1A6-99A4-DE569CF94F84}"/>
              </a:ext>
            </a:extLst>
          </p:cNvPr>
          <p:cNvSpPr txBox="1"/>
          <p:nvPr/>
        </p:nvSpPr>
        <p:spPr>
          <a:xfrm>
            <a:off x="859002" y="416275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FAA056-8776-D0D2-6D8C-E9FB5E38C7C7}"/>
              </a:ext>
            </a:extLst>
          </p:cNvPr>
          <p:cNvSpPr txBox="1"/>
          <p:nvPr/>
        </p:nvSpPr>
        <p:spPr>
          <a:xfrm>
            <a:off x="125971" y="321596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708715-E336-4A6E-E5B5-A736D2DCC3E5}"/>
              </a:ext>
            </a:extLst>
          </p:cNvPr>
          <p:cNvSpPr txBox="1"/>
          <p:nvPr/>
        </p:nvSpPr>
        <p:spPr>
          <a:xfrm>
            <a:off x="413903" y="329525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7CDBE35-684F-E517-D98C-A8ECC54B1048}"/>
              </a:ext>
            </a:extLst>
          </p:cNvPr>
          <p:cNvSpPr txBox="1"/>
          <p:nvPr/>
        </p:nvSpPr>
        <p:spPr>
          <a:xfrm>
            <a:off x="878895" y="328432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BB45C8-0726-164C-C042-9CD0308D4A4A}"/>
              </a:ext>
            </a:extLst>
          </p:cNvPr>
          <p:cNvSpPr txBox="1"/>
          <p:nvPr/>
        </p:nvSpPr>
        <p:spPr>
          <a:xfrm>
            <a:off x="122911" y="379487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80D689-E9F1-D049-D62C-1348250841B7}"/>
              </a:ext>
            </a:extLst>
          </p:cNvPr>
          <p:cNvSpPr txBox="1"/>
          <p:nvPr/>
        </p:nvSpPr>
        <p:spPr>
          <a:xfrm>
            <a:off x="410843" y="387416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F1348E-6CDC-AE11-9BE2-1D342279C2D7}"/>
              </a:ext>
            </a:extLst>
          </p:cNvPr>
          <p:cNvSpPr txBox="1"/>
          <p:nvPr/>
        </p:nvSpPr>
        <p:spPr>
          <a:xfrm>
            <a:off x="875835" y="388438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308C78-1058-E2D5-F5AB-85127112F656}"/>
              </a:ext>
            </a:extLst>
          </p:cNvPr>
          <p:cNvSpPr txBox="1"/>
          <p:nvPr/>
        </p:nvSpPr>
        <p:spPr>
          <a:xfrm>
            <a:off x="407368" y="355541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8B88A3-5359-A31D-CC56-DF8099B73995}"/>
              </a:ext>
            </a:extLst>
          </p:cNvPr>
          <p:cNvSpPr txBox="1"/>
          <p:nvPr/>
        </p:nvSpPr>
        <p:spPr>
          <a:xfrm>
            <a:off x="881069" y="356563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912D8F5-DCCE-C924-798F-729680CBF614}"/>
              </a:ext>
            </a:extLst>
          </p:cNvPr>
          <p:cNvSpPr txBox="1"/>
          <p:nvPr/>
        </p:nvSpPr>
        <p:spPr>
          <a:xfrm>
            <a:off x="142389" y="349956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88050DE-9F19-C459-959F-581CB59E3C6B}"/>
              </a:ext>
            </a:extLst>
          </p:cNvPr>
          <p:cNvSpPr/>
          <p:nvPr/>
        </p:nvSpPr>
        <p:spPr bwMode="auto">
          <a:xfrm>
            <a:off x="1799117" y="2342460"/>
            <a:ext cx="937479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선택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B9EBC5F-C103-F105-B0E9-838BDA1AE6D5}"/>
              </a:ext>
            </a:extLst>
          </p:cNvPr>
          <p:cNvSpPr/>
          <p:nvPr/>
        </p:nvSpPr>
        <p:spPr bwMode="auto">
          <a:xfrm>
            <a:off x="2087344" y="2691557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31E586C-6798-8B63-90AC-106B5AC71C92}"/>
              </a:ext>
            </a:extLst>
          </p:cNvPr>
          <p:cNvSpPr/>
          <p:nvPr/>
        </p:nvSpPr>
        <p:spPr bwMode="auto">
          <a:xfrm>
            <a:off x="2087344" y="3070995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7B36765-5A2D-063D-3CAD-729EE15D471C}"/>
              </a:ext>
            </a:extLst>
          </p:cNvPr>
          <p:cNvSpPr/>
          <p:nvPr/>
        </p:nvSpPr>
        <p:spPr bwMode="auto">
          <a:xfrm>
            <a:off x="2087344" y="3429000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DF542CB-A720-C25A-D213-31C258007DE8}"/>
              </a:ext>
            </a:extLst>
          </p:cNvPr>
          <p:cNvSpPr/>
          <p:nvPr/>
        </p:nvSpPr>
        <p:spPr bwMode="auto">
          <a:xfrm>
            <a:off x="2087344" y="3808902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CB61E0D-5DCF-0440-4DED-6F51F26D49B5}"/>
              </a:ext>
            </a:extLst>
          </p:cNvPr>
          <p:cNvSpPr/>
          <p:nvPr/>
        </p:nvSpPr>
        <p:spPr bwMode="auto">
          <a:xfrm>
            <a:off x="2087344" y="4174591"/>
            <a:ext cx="1055134" cy="25909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D19AED7B-6E45-0924-5E20-EC18C6C1E31A}"/>
              </a:ext>
            </a:extLst>
          </p:cNvPr>
          <p:cNvSpPr/>
          <p:nvPr/>
        </p:nvSpPr>
        <p:spPr bwMode="auto">
          <a:xfrm>
            <a:off x="3290935" y="2691192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8D88154-D3C6-DF05-B24F-FFD5EC827996}"/>
              </a:ext>
            </a:extLst>
          </p:cNvPr>
          <p:cNvSpPr/>
          <p:nvPr/>
        </p:nvSpPr>
        <p:spPr bwMode="auto">
          <a:xfrm>
            <a:off x="3290935" y="3086413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2A6BB94-2FE8-9A8D-E4EE-CC5BE3018946}"/>
              </a:ext>
            </a:extLst>
          </p:cNvPr>
          <p:cNvSpPr/>
          <p:nvPr/>
        </p:nvSpPr>
        <p:spPr bwMode="auto">
          <a:xfrm>
            <a:off x="3290935" y="3436089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3010E0E-E451-D4FD-9257-9450AF442565}"/>
              </a:ext>
            </a:extLst>
          </p:cNvPr>
          <p:cNvSpPr/>
          <p:nvPr/>
        </p:nvSpPr>
        <p:spPr bwMode="auto">
          <a:xfrm>
            <a:off x="3288364" y="3808903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6DB8107-0438-2EA7-9EB3-D55D60765561}"/>
              </a:ext>
            </a:extLst>
          </p:cNvPr>
          <p:cNvSpPr/>
          <p:nvPr/>
        </p:nvSpPr>
        <p:spPr bwMode="auto">
          <a:xfrm>
            <a:off x="3297072" y="4174592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E22892DC-6BE7-8E56-84CF-1052D84C85D2}"/>
              </a:ext>
            </a:extLst>
          </p:cNvPr>
          <p:cNvSpPr/>
          <p:nvPr/>
        </p:nvSpPr>
        <p:spPr bwMode="auto">
          <a:xfrm>
            <a:off x="9013464" y="4405232"/>
            <a:ext cx="1934784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 선택                    ▼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CA5A6B1-515A-6190-722F-457935AAD036}"/>
              </a:ext>
            </a:extLst>
          </p:cNvPr>
          <p:cNvSpPr/>
          <p:nvPr/>
        </p:nvSpPr>
        <p:spPr bwMode="auto">
          <a:xfrm>
            <a:off x="9013464" y="4664327"/>
            <a:ext cx="1934784" cy="13569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신경준대리점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D-KOR1318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신경준대리점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 / D-KOR3895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신경준대리점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 / D-KOR1029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신경준대리점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 / D-KOR0030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신경준대리점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 / D-KOR1121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3FAE90C-0DC4-4C36-FEAB-68AD61FDB026}"/>
              </a:ext>
            </a:extLst>
          </p:cNvPr>
          <p:cNvCxnSpPr>
            <a:cxnSpLocks/>
          </p:cNvCxnSpPr>
          <p:nvPr/>
        </p:nvCxnSpPr>
        <p:spPr bwMode="auto">
          <a:xfrm>
            <a:off x="5015880" y="2852936"/>
            <a:ext cx="3893005" cy="148629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4C1D3D9-A87B-887E-DC30-5051D0D8283F}"/>
              </a:ext>
            </a:extLst>
          </p:cNvPr>
          <p:cNvCxnSpPr>
            <a:cxnSpLocks/>
          </p:cNvCxnSpPr>
          <p:nvPr/>
        </p:nvCxnSpPr>
        <p:spPr bwMode="auto">
          <a:xfrm>
            <a:off x="5015880" y="2852936"/>
            <a:ext cx="5986959" cy="148629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7B4F348-C749-DB06-0907-EC9AAFB25147}"/>
              </a:ext>
            </a:extLst>
          </p:cNvPr>
          <p:cNvSpPr/>
          <p:nvPr/>
        </p:nvSpPr>
        <p:spPr bwMode="auto">
          <a:xfrm>
            <a:off x="8908885" y="4328335"/>
            <a:ext cx="2107458" cy="175895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89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FC0F-0E25-C986-B9D1-DD87893C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BBC156-0BD6-9FC1-6F5B-488945EF3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70104"/>
              </p:ext>
            </p:extLst>
          </p:nvPr>
        </p:nvGraphicFramePr>
        <p:xfrm>
          <a:off x="7950791" y="981075"/>
          <a:ext cx="4121873" cy="2945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- 2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기본정보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버튼을 통해 사업자 블랙리스트 확인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 등 필요정보 기입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계정정보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필수요소가 아님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버튼을 통해 계정 중복확인 진행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상세정보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결제유형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결제방식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CAT_ID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는 필수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입력값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수기 및 온라인 결제는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CAT_ID, Serial Num,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제품명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개통일자 비활성화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가맹점 대량등록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버튼을 통해 가맹점 대량 등록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엑셀시트 내 기입 정보는 상세내용과 동일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8396756A-0BE4-3DAA-597C-98E499E88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-2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991D681-F13A-C445-3A48-FA07A879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406A9C-DAAE-BE99-FD4D-32146718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11BD04C-1A92-6887-8460-ACF20C7C87FB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E55D65C-393E-3576-69CA-336482A5B8E1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3D755C-A561-F3E0-961E-5ECC12318A39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63D5F0-D26B-25D1-E5EF-DD2E9C6EFEB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05FBFB-2E47-D804-D2F8-3B095A67D7D8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1DC687-320A-24AC-E374-700E66D0C1C8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A37581-0F57-630E-1523-6FB61CA7BAC5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D3365E-23A6-34E1-1437-F9C7FE5E95AB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C0329A-E0D9-321B-C298-8FEA9E08CE5B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F2C03-296E-5E9A-D186-82CF202632FE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632D5A-3424-FA40-78FD-D83D026886A7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32B8CFF-332C-5DEF-97CD-FE5D2599AB1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CBEDF3-2854-9877-E0E5-9A679225A880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96FA2-260E-822F-7D32-B55807FFBD0B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CC6CD-C6D4-FCB5-996F-F1B5FF3503A9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41769-8BB9-4CFB-98CA-577F5885C389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E6F85-86E0-A47D-6084-F16628BB37AA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643DE-C6ED-F95F-22F0-1F6166F039A9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29F38F-CD9B-D8BE-15A7-C0FDD1919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808141-74B3-C955-7323-6B15CA3B6DE9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ⓧ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D07E1A-E3F3-B661-5AF6-EAFDA6DC5561}"/>
              </a:ext>
            </a:extLst>
          </p:cNvPr>
          <p:cNvSpPr/>
          <p:nvPr/>
        </p:nvSpPr>
        <p:spPr bwMode="auto">
          <a:xfrm>
            <a:off x="33987" y="24888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D409FC-B0AB-CE60-4C5A-DD39A5448E53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1C27CD2-1A9A-9C2E-D241-BB9861972D85}"/>
              </a:ext>
            </a:extLst>
          </p:cNvPr>
          <p:cNvSpPr/>
          <p:nvPr/>
        </p:nvSpPr>
        <p:spPr bwMode="auto">
          <a:xfrm>
            <a:off x="1703512" y="1834119"/>
            <a:ext cx="92325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77E6890-90F5-8BE4-91C3-97BC1D086155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18040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5C1ABB-B62C-6F13-7897-03E3A1934E6D}"/>
              </a:ext>
            </a:extLst>
          </p:cNvPr>
          <p:cNvSpPr/>
          <p:nvPr/>
        </p:nvSpPr>
        <p:spPr bwMode="auto">
          <a:xfrm>
            <a:off x="1799117" y="2342460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A33812-63FD-DC1B-CF39-F11E24C93EF7}"/>
              </a:ext>
            </a:extLst>
          </p:cNvPr>
          <p:cNvSpPr/>
          <p:nvPr/>
        </p:nvSpPr>
        <p:spPr bwMode="auto">
          <a:xfrm>
            <a:off x="1742712" y="2276872"/>
            <a:ext cx="4280814" cy="2799590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265FF13-79A4-21B5-4939-FEC8BDFEA642}"/>
              </a:ext>
            </a:extLst>
          </p:cNvPr>
          <p:cNvSpPr/>
          <p:nvPr/>
        </p:nvSpPr>
        <p:spPr bwMode="auto">
          <a:xfrm>
            <a:off x="1799118" y="2708920"/>
            <a:ext cx="1172384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법인사업자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CA8237-B85D-F98A-67F5-1A5D5AB0F5A6}"/>
              </a:ext>
            </a:extLst>
          </p:cNvPr>
          <p:cNvSpPr/>
          <p:nvPr/>
        </p:nvSpPr>
        <p:spPr bwMode="auto">
          <a:xfrm>
            <a:off x="3008987" y="2708920"/>
            <a:ext cx="183360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117-88-11771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F0492EE-CCEE-9D60-2B2B-C23EAD7735A6}"/>
              </a:ext>
            </a:extLst>
          </p:cNvPr>
          <p:cNvSpPr/>
          <p:nvPr/>
        </p:nvSpPr>
        <p:spPr bwMode="auto">
          <a:xfrm>
            <a:off x="1799117" y="3024995"/>
            <a:ext cx="148857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신경준김치찌개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042E92-4EEB-1A0E-55FD-C2FDAC7E8A35}"/>
              </a:ext>
            </a:extLst>
          </p:cNvPr>
          <p:cNvSpPr/>
          <p:nvPr/>
        </p:nvSpPr>
        <p:spPr bwMode="auto">
          <a:xfrm>
            <a:off x="4871864" y="2708920"/>
            <a:ext cx="1062416" cy="259095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블랙리스트 🔎</a:t>
            </a:r>
            <a:endParaRPr lang="en-US" altLang="ko-KR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3C3D6F9-6BD7-5FB6-059C-FD96EE8DD985}"/>
              </a:ext>
            </a:extLst>
          </p:cNvPr>
          <p:cNvSpPr/>
          <p:nvPr/>
        </p:nvSpPr>
        <p:spPr bwMode="auto">
          <a:xfrm>
            <a:off x="3357424" y="3024995"/>
            <a:ext cx="103250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대표자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301E98B-C700-7573-56B9-F8EB071793FE}"/>
              </a:ext>
            </a:extLst>
          </p:cNvPr>
          <p:cNvSpPr/>
          <p:nvPr/>
        </p:nvSpPr>
        <p:spPr bwMode="auto">
          <a:xfrm>
            <a:off x="4459666" y="3024995"/>
            <a:ext cx="1474614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생년월일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4C1529C-45D0-28AB-7622-1745E6FF0FDE}"/>
              </a:ext>
            </a:extLst>
          </p:cNvPr>
          <p:cNvSpPr/>
          <p:nvPr/>
        </p:nvSpPr>
        <p:spPr bwMode="auto">
          <a:xfrm>
            <a:off x="3351117" y="4015648"/>
            <a:ext cx="1632483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010-0010-1010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D9C78B6-5414-35AE-EEB6-2FE103FDF886}"/>
              </a:ext>
            </a:extLst>
          </p:cNvPr>
          <p:cNvSpPr/>
          <p:nvPr/>
        </p:nvSpPr>
        <p:spPr bwMode="auto">
          <a:xfrm>
            <a:off x="3357423" y="3351552"/>
            <a:ext cx="257685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18519C5-7C42-2CCE-6890-B51073323E2E}"/>
              </a:ext>
            </a:extLst>
          </p:cNvPr>
          <p:cNvSpPr/>
          <p:nvPr/>
        </p:nvSpPr>
        <p:spPr bwMode="auto">
          <a:xfrm>
            <a:off x="1799117" y="3341076"/>
            <a:ext cx="148857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69F04C6-F4A1-C719-1FB5-5D8DB8A8C09F}"/>
              </a:ext>
            </a:extLst>
          </p:cNvPr>
          <p:cNvSpPr/>
          <p:nvPr/>
        </p:nvSpPr>
        <p:spPr bwMode="auto">
          <a:xfrm>
            <a:off x="3357423" y="3669641"/>
            <a:ext cx="257685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53DB88A-CE7A-89AD-534E-E4C2FC1541BD}"/>
              </a:ext>
            </a:extLst>
          </p:cNvPr>
          <p:cNvSpPr/>
          <p:nvPr/>
        </p:nvSpPr>
        <p:spPr bwMode="auto">
          <a:xfrm>
            <a:off x="1818306" y="4015649"/>
            <a:ext cx="148857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A044FEF-525B-CA36-C543-E1C6E77324EB}"/>
              </a:ext>
            </a:extLst>
          </p:cNvPr>
          <p:cNvSpPr/>
          <p:nvPr/>
        </p:nvSpPr>
        <p:spPr bwMode="auto">
          <a:xfrm>
            <a:off x="5077199" y="4015649"/>
            <a:ext cx="85708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047155A-5649-2EAF-4092-DBECBB059D6E}"/>
              </a:ext>
            </a:extLst>
          </p:cNvPr>
          <p:cNvSpPr/>
          <p:nvPr/>
        </p:nvSpPr>
        <p:spPr bwMode="auto">
          <a:xfrm>
            <a:off x="1742711" y="5229200"/>
            <a:ext cx="5955043" cy="1108855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9DEF08-95AA-6E02-237D-A854032E6331}"/>
              </a:ext>
            </a:extLst>
          </p:cNvPr>
          <p:cNvSpPr/>
          <p:nvPr/>
        </p:nvSpPr>
        <p:spPr bwMode="auto">
          <a:xfrm>
            <a:off x="1818306" y="5305542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80EC0C3-C02B-A533-84D8-84DE5548BF69}"/>
              </a:ext>
            </a:extLst>
          </p:cNvPr>
          <p:cNvSpPr/>
          <p:nvPr/>
        </p:nvSpPr>
        <p:spPr bwMode="auto">
          <a:xfrm>
            <a:off x="1812692" y="5626353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결제유형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FE10030-134E-C0F7-4823-91888E27E689}"/>
              </a:ext>
            </a:extLst>
          </p:cNvPr>
          <p:cNvSpPr/>
          <p:nvPr/>
        </p:nvSpPr>
        <p:spPr bwMode="auto">
          <a:xfrm>
            <a:off x="3158237" y="5626353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결제방식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78DB68D-3E96-7D0A-2866-AE5B4CB777CA}"/>
              </a:ext>
            </a:extLst>
          </p:cNvPr>
          <p:cNvSpPr/>
          <p:nvPr/>
        </p:nvSpPr>
        <p:spPr bwMode="auto">
          <a:xfrm>
            <a:off x="4496702" y="5626353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CAT_ID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99D545E-6943-74A8-4B10-36073B3C06B6}"/>
              </a:ext>
            </a:extLst>
          </p:cNvPr>
          <p:cNvSpPr/>
          <p:nvPr/>
        </p:nvSpPr>
        <p:spPr bwMode="auto">
          <a:xfrm>
            <a:off x="5814602" y="5626353"/>
            <a:ext cx="1845830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Serial Num :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FF2631F-B10F-19FB-AA56-DACD9E4F64FE}"/>
              </a:ext>
            </a:extLst>
          </p:cNvPr>
          <p:cNvSpPr/>
          <p:nvPr/>
        </p:nvSpPr>
        <p:spPr bwMode="auto">
          <a:xfrm>
            <a:off x="3152381" y="5972405"/>
            <a:ext cx="182661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개통일자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B785A22-AB36-E43D-2004-6A10814FDAB1}"/>
              </a:ext>
            </a:extLst>
          </p:cNvPr>
          <p:cNvSpPr/>
          <p:nvPr/>
        </p:nvSpPr>
        <p:spPr bwMode="auto">
          <a:xfrm>
            <a:off x="6093261" y="2280922"/>
            <a:ext cx="1604493" cy="1731241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193B5B04-DD2B-37BB-7A9C-7DC0F0F84BEE}"/>
              </a:ext>
            </a:extLst>
          </p:cNvPr>
          <p:cNvSpPr/>
          <p:nvPr/>
        </p:nvSpPr>
        <p:spPr bwMode="auto">
          <a:xfrm>
            <a:off x="6188277" y="2332861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계정정보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8F3CADDB-6DE7-FE16-1ADF-9AD896001F9B}"/>
              </a:ext>
            </a:extLst>
          </p:cNvPr>
          <p:cNvSpPr/>
          <p:nvPr/>
        </p:nvSpPr>
        <p:spPr bwMode="auto">
          <a:xfrm>
            <a:off x="6188458" y="2675773"/>
            <a:ext cx="138048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 : 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3FA0E06-FCB6-44CE-3C35-7785F7B7F876}"/>
              </a:ext>
            </a:extLst>
          </p:cNvPr>
          <p:cNvSpPr/>
          <p:nvPr/>
        </p:nvSpPr>
        <p:spPr bwMode="auto">
          <a:xfrm>
            <a:off x="6188458" y="3338518"/>
            <a:ext cx="138048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 : 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F6A7ACAF-03DB-D946-E925-523FDA27BC1B}"/>
              </a:ext>
            </a:extLst>
          </p:cNvPr>
          <p:cNvSpPr/>
          <p:nvPr/>
        </p:nvSpPr>
        <p:spPr bwMode="auto">
          <a:xfrm>
            <a:off x="6188458" y="3673961"/>
            <a:ext cx="1380482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59840FD-1A68-0433-D578-E28219EA68BE}"/>
              </a:ext>
            </a:extLst>
          </p:cNvPr>
          <p:cNvSpPr/>
          <p:nvPr/>
        </p:nvSpPr>
        <p:spPr bwMode="auto">
          <a:xfrm>
            <a:off x="6816080" y="3009003"/>
            <a:ext cx="752860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482E5C09-A8D0-0EA8-74BD-5087BE0350B7}"/>
              </a:ext>
            </a:extLst>
          </p:cNvPr>
          <p:cNvSpPr/>
          <p:nvPr/>
        </p:nvSpPr>
        <p:spPr bwMode="auto">
          <a:xfrm>
            <a:off x="1818306" y="4331724"/>
            <a:ext cx="2530293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 : 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78A01331-01FC-3A33-9ED3-E16F2D4E64FD}"/>
              </a:ext>
            </a:extLst>
          </p:cNvPr>
          <p:cNvSpPr/>
          <p:nvPr/>
        </p:nvSpPr>
        <p:spPr bwMode="auto">
          <a:xfrm>
            <a:off x="1818306" y="4676238"/>
            <a:ext cx="1884191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담당자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E8C9D6C-F59A-C71F-FC54-064147B53507}"/>
              </a:ext>
            </a:extLst>
          </p:cNvPr>
          <p:cNvSpPr/>
          <p:nvPr/>
        </p:nvSpPr>
        <p:spPr bwMode="auto">
          <a:xfrm>
            <a:off x="3778091" y="4676237"/>
            <a:ext cx="215618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세금계산서 연락처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A6C8997C-A6D6-EBD1-3CFC-50B143360EF2}"/>
              </a:ext>
            </a:extLst>
          </p:cNvPr>
          <p:cNvSpPr/>
          <p:nvPr/>
        </p:nvSpPr>
        <p:spPr bwMode="auto">
          <a:xfrm>
            <a:off x="6600057" y="1833706"/>
            <a:ext cx="1097698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대량 등록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CE2E8E-7D59-6877-F077-14F11D90D4FD}"/>
              </a:ext>
            </a:extLst>
          </p:cNvPr>
          <p:cNvSpPr txBox="1"/>
          <p:nvPr/>
        </p:nvSpPr>
        <p:spPr>
          <a:xfrm>
            <a:off x="413903" y="41755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C491CB-9AEF-617C-90D6-39CA24F582D1}"/>
              </a:ext>
            </a:extLst>
          </p:cNvPr>
          <p:cNvSpPr txBox="1"/>
          <p:nvPr/>
        </p:nvSpPr>
        <p:spPr>
          <a:xfrm>
            <a:off x="125871" y="4129335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23B08E-AECD-3A15-D03A-B00FA5EDAA6A}"/>
              </a:ext>
            </a:extLst>
          </p:cNvPr>
          <p:cNvSpPr txBox="1"/>
          <p:nvPr/>
        </p:nvSpPr>
        <p:spPr>
          <a:xfrm>
            <a:off x="859002" y="416275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07D329-29D6-11F4-5B65-5A7E7F3EE95A}"/>
              </a:ext>
            </a:extLst>
          </p:cNvPr>
          <p:cNvSpPr txBox="1"/>
          <p:nvPr/>
        </p:nvSpPr>
        <p:spPr>
          <a:xfrm>
            <a:off x="125971" y="321596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40DADC-3D55-5421-281C-C430FBA96398}"/>
              </a:ext>
            </a:extLst>
          </p:cNvPr>
          <p:cNvSpPr txBox="1"/>
          <p:nvPr/>
        </p:nvSpPr>
        <p:spPr>
          <a:xfrm>
            <a:off x="413903" y="329525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32FD73-F293-C39F-7135-73ED25552CE6}"/>
              </a:ext>
            </a:extLst>
          </p:cNvPr>
          <p:cNvSpPr txBox="1"/>
          <p:nvPr/>
        </p:nvSpPr>
        <p:spPr>
          <a:xfrm>
            <a:off x="878895" y="328432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D07729-8D73-E829-7C1B-ED17E1415711}"/>
              </a:ext>
            </a:extLst>
          </p:cNvPr>
          <p:cNvSpPr txBox="1"/>
          <p:nvPr/>
        </p:nvSpPr>
        <p:spPr>
          <a:xfrm>
            <a:off x="122911" y="379487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57FF98-21F7-82B5-CA37-76328E845CB9}"/>
              </a:ext>
            </a:extLst>
          </p:cNvPr>
          <p:cNvSpPr txBox="1"/>
          <p:nvPr/>
        </p:nvSpPr>
        <p:spPr>
          <a:xfrm>
            <a:off x="410843" y="387416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BECBC8-2922-07AB-1B2B-28CF428640C9}"/>
              </a:ext>
            </a:extLst>
          </p:cNvPr>
          <p:cNvSpPr txBox="1"/>
          <p:nvPr/>
        </p:nvSpPr>
        <p:spPr>
          <a:xfrm>
            <a:off x="875835" y="388438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7DDA046-3F36-BC56-FCFB-0ED48C876ED3}"/>
              </a:ext>
            </a:extLst>
          </p:cNvPr>
          <p:cNvSpPr txBox="1"/>
          <p:nvPr/>
        </p:nvSpPr>
        <p:spPr>
          <a:xfrm>
            <a:off x="407368" y="355541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EA5653-9F3A-621E-1F61-693D11B10500}"/>
              </a:ext>
            </a:extLst>
          </p:cNvPr>
          <p:cNvSpPr txBox="1"/>
          <p:nvPr/>
        </p:nvSpPr>
        <p:spPr>
          <a:xfrm>
            <a:off x="881069" y="356563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8B707F-6207-F6D3-1C02-5C1C21474F8B}"/>
              </a:ext>
            </a:extLst>
          </p:cNvPr>
          <p:cNvSpPr txBox="1"/>
          <p:nvPr/>
        </p:nvSpPr>
        <p:spPr>
          <a:xfrm>
            <a:off x="142389" y="349956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144674D-F4CC-BA2B-71A3-C9345FD5046D}"/>
              </a:ext>
            </a:extLst>
          </p:cNvPr>
          <p:cNvSpPr/>
          <p:nvPr/>
        </p:nvSpPr>
        <p:spPr bwMode="auto">
          <a:xfrm>
            <a:off x="8424936" y="1440223"/>
            <a:ext cx="911424" cy="185903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블랙리스트 🔎</a:t>
            </a:r>
            <a:endParaRPr lang="en-US" altLang="ko-KR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E92A29-45D3-CFD4-A337-2F4538CD2440}"/>
              </a:ext>
            </a:extLst>
          </p:cNvPr>
          <p:cNvSpPr/>
          <p:nvPr/>
        </p:nvSpPr>
        <p:spPr bwMode="auto">
          <a:xfrm>
            <a:off x="8424936" y="2072306"/>
            <a:ext cx="695400" cy="185903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en-US" altLang="ko-KR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B018D23-B38D-787C-EAE1-CF8EA4CA0597}"/>
              </a:ext>
            </a:extLst>
          </p:cNvPr>
          <p:cNvSpPr/>
          <p:nvPr/>
        </p:nvSpPr>
        <p:spPr bwMode="auto">
          <a:xfrm>
            <a:off x="8424936" y="3471641"/>
            <a:ext cx="1097698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대량 등록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D2485BF-9815-DB83-E499-7C817DA85478}"/>
              </a:ext>
            </a:extLst>
          </p:cNvPr>
          <p:cNvSpPr/>
          <p:nvPr/>
        </p:nvSpPr>
        <p:spPr bwMode="auto">
          <a:xfrm>
            <a:off x="1812692" y="5947164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649212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C7DA-64A9-F362-CA9D-501E48FF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1E736DF9-9C24-4DED-D076-CD77F8E1EB70}"/>
              </a:ext>
            </a:extLst>
          </p:cNvPr>
          <p:cNvSpPr/>
          <p:nvPr/>
        </p:nvSpPr>
        <p:spPr bwMode="auto">
          <a:xfrm>
            <a:off x="1789313" y="5108540"/>
            <a:ext cx="243745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58BD7C-09F6-5E91-0D44-B679E3688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774547"/>
              </p:ext>
            </p:extLst>
          </p:nvPr>
        </p:nvGraphicFramePr>
        <p:xfrm>
          <a:off x="7950791" y="981075"/>
          <a:ext cx="4121873" cy="3562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3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계좌정보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은행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계좌번호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예금주는 필수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입력값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정산정보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정산주기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정산유형은 필수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입력값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정산주기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(D1, D3)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정산유형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(D1, D1(11), D3, D1(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선지급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), D1(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자동선지급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수수료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한도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 수수료 등록 방식과 동일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첨부파일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업로드 확장자는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PDF,JPG,JPEG,PNG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만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업로드 용량은 가맹점당 최대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100KB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제공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특이사항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총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8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개의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Main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카테고리 구성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필수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입력값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입력 후                  버튼을 통해 가맹점 등록 완료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가맹점 등록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완료시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가맹점 목록으로 데이터 누적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83A03930-2DDC-52F4-1582-A43C6AA9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-3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FD15A1E-5734-57FD-1249-52E5BB494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1EAD3B3-AA58-4564-D060-9619A986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8D2C840-08CA-2A4D-54B6-7A5A59A704EF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ED66CE6-BA9D-8CF9-5368-639575BAF542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B5EC47D-782C-B668-C117-EB9FED92F962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237930-CB26-46E4-7442-1476DA96B6AE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029B8E-52D7-7462-D2C7-46EDF7D17819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73615D-25D1-1D34-A3C6-ADFE8E86432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6B2250-DBCE-8179-452C-195012652444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4AAD64-D228-96B2-C8E3-9A8ADCCE1EA8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27D910-1E88-5352-D8EC-0C2EC6C323E1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A70A18-B92F-AAA8-2619-5C5A37BB779C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87A93A-8ED0-96FC-CD8B-FD80D431704B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6ECD18-B7F2-3675-D4E4-84DA626BCF18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524CB8-E180-2CAC-88C2-70337438B914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3E3F0C-BF5B-E95A-BFB6-97957D29AAB8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E069104-0FA4-6938-A205-1288C64DC4D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0544D1-61E9-D1CF-D8B5-232E772B276A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0716B-973E-DEF7-0915-C69235E184C2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366914-8088-FF36-8940-BD1C334479C1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5E754-3B93-1AB8-DEEA-E99712E51A10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1F0F0-DA0D-198C-CFFF-BC7D5F129444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9EB0B-E7FD-0CF4-CBC5-B202CFD76C3C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BDCFAE4-E31E-DEA5-7AA6-72FD51CAC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DB5CA3-B882-0F46-FF5A-6BBC02BEFACF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8CF523-1A8F-F6A3-FD82-2D92EC273E24}"/>
              </a:ext>
            </a:extLst>
          </p:cNvPr>
          <p:cNvSpPr/>
          <p:nvPr/>
        </p:nvSpPr>
        <p:spPr bwMode="auto">
          <a:xfrm>
            <a:off x="33987" y="24888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76C549-E1D7-6C43-4CBA-3F0FA731CE5C}"/>
              </a:ext>
            </a:extLst>
          </p:cNvPr>
          <p:cNvSpPr/>
          <p:nvPr/>
        </p:nvSpPr>
        <p:spPr bwMode="auto">
          <a:xfrm>
            <a:off x="1638292" y="1728801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4B3817-609A-B1B8-A939-45222694B913}"/>
              </a:ext>
            </a:extLst>
          </p:cNvPr>
          <p:cNvSpPr/>
          <p:nvPr/>
        </p:nvSpPr>
        <p:spPr bwMode="auto">
          <a:xfrm>
            <a:off x="1742712" y="1828510"/>
            <a:ext cx="5955042" cy="756070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597A54-1FD1-3E95-4F1B-EBAA8929E3EF}"/>
              </a:ext>
            </a:extLst>
          </p:cNvPr>
          <p:cNvSpPr/>
          <p:nvPr/>
        </p:nvSpPr>
        <p:spPr bwMode="auto">
          <a:xfrm>
            <a:off x="1807121" y="1900656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계좌정보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F14C722-8753-00B1-F273-09A85E119F53}"/>
              </a:ext>
            </a:extLst>
          </p:cNvPr>
          <p:cNvSpPr/>
          <p:nvPr/>
        </p:nvSpPr>
        <p:spPr bwMode="auto">
          <a:xfrm>
            <a:off x="1803025" y="2233801"/>
            <a:ext cx="1704594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은행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215919E-B3A8-1CBE-EB13-C9360BA6214F}"/>
              </a:ext>
            </a:extLst>
          </p:cNvPr>
          <p:cNvSpPr/>
          <p:nvPr/>
        </p:nvSpPr>
        <p:spPr bwMode="auto">
          <a:xfrm>
            <a:off x="3598290" y="2226467"/>
            <a:ext cx="266429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계좌번호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110-117-35350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0C08C38-05D2-6C21-421B-63F3E0CF8FDC}"/>
              </a:ext>
            </a:extLst>
          </p:cNvPr>
          <p:cNvSpPr/>
          <p:nvPr/>
        </p:nvSpPr>
        <p:spPr bwMode="auto">
          <a:xfrm>
            <a:off x="6342206" y="2227911"/>
            <a:ext cx="127320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예금주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3B19FD5-2205-D7AB-83A1-FAC119B90C22}"/>
              </a:ext>
            </a:extLst>
          </p:cNvPr>
          <p:cNvSpPr/>
          <p:nvPr/>
        </p:nvSpPr>
        <p:spPr bwMode="auto">
          <a:xfrm>
            <a:off x="1806422" y="2727582"/>
            <a:ext cx="763475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AC7743C-F201-5975-A269-94BC6557D3F3}"/>
              </a:ext>
            </a:extLst>
          </p:cNvPr>
          <p:cNvSpPr/>
          <p:nvPr/>
        </p:nvSpPr>
        <p:spPr bwMode="auto">
          <a:xfrm>
            <a:off x="1801216" y="3070928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정산주기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4653DF9-474A-B029-4D5B-71521C9FE752}"/>
              </a:ext>
            </a:extLst>
          </p:cNvPr>
          <p:cNvSpPr/>
          <p:nvPr/>
        </p:nvSpPr>
        <p:spPr bwMode="auto">
          <a:xfrm>
            <a:off x="1742711" y="2660000"/>
            <a:ext cx="2717321" cy="756070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33F1359-6950-58E3-9575-84512D105F6F}"/>
              </a:ext>
            </a:extLst>
          </p:cNvPr>
          <p:cNvSpPr/>
          <p:nvPr/>
        </p:nvSpPr>
        <p:spPr bwMode="auto">
          <a:xfrm>
            <a:off x="3132920" y="3070927"/>
            <a:ext cx="1267899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정산유형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B9EF99D-0630-843E-0D99-490EE65E71A1}"/>
              </a:ext>
            </a:extLst>
          </p:cNvPr>
          <p:cNvSpPr/>
          <p:nvPr/>
        </p:nvSpPr>
        <p:spPr bwMode="auto">
          <a:xfrm>
            <a:off x="1840195" y="4797152"/>
            <a:ext cx="51017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8B849DA-62F2-71BD-C08C-05EDA25865E0}"/>
              </a:ext>
            </a:extLst>
          </p:cNvPr>
          <p:cNvSpPr/>
          <p:nvPr/>
        </p:nvSpPr>
        <p:spPr bwMode="auto">
          <a:xfrm>
            <a:off x="1846310" y="5175825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EA8DEF9F-1A70-1AE5-C16B-0731CB59C7BD}"/>
              </a:ext>
            </a:extLst>
          </p:cNvPr>
          <p:cNvSpPr/>
          <p:nvPr/>
        </p:nvSpPr>
        <p:spPr bwMode="auto">
          <a:xfrm>
            <a:off x="2458377" y="5179442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BCEA231B-4121-8982-E9B2-872C22A35E25}"/>
              </a:ext>
            </a:extLst>
          </p:cNvPr>
          <p:cNvSpPr/>
          <p:nvPr/>
        </p:nvSpPr>
        <p:spPr bwMode="auto">
          <a:xfrm>
            <a:off x="3075315" y="5179442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66B8049D-3E4A-3622-C836-B2FB4F4F586C}"/>
              </a:ext>
            </a:extLst>
          </p:cNvPr>
          <p:cNvSpPr/>
          <p:nvPr/>
        </p:nvSpPr>
        <p:spPr bwMode="auto">
          <a:xfrm>
            <a:off x="3663357" y="5185389"/>
            <a:ext cx="504056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4C0BC92-94BE-06B7-3A7F-6464B5259B88}"/>
              </a:ext>
            </a:extLst>
          </p:cNvPr>
          <p:cNvSpPr/>
          <p:nvPr/>
        </p:nvSpPr>
        <p:spPr bwMode="auto">
          <a:xfrm>
            <a:off x="1853326" y="5519095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7B4F099A-8924-D386-C4D9-E54DB2D6BEEB}"/>
              </a:ext>
            </a:extLst>
          </p:cNvPr>
          <p:cNvSpPr/>
          <p:nvPr/>
        </p:nvSpPr>
        <p:spPr bwMode="auto">
          <a:xfrm>
            <a:off x="3504736" y="4815040"/>
            <a:ext cx="751922" cy="259095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백만원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0D9A9403-FC57-19CE-0503-C778CC3F63F1}"/>
              </a:ext>
            </a:extLst>
          </p:cNvPr>
          <p:cNvSpPr/>
          <p:nvPr/>
        </p:nvSpPr>
        <p:spPr bwMode="auto">
          <a:xfrm>
            <a:off x="2458377" y="5519095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70711F60-B1C0-D9D2-63FD-391FAEFECD67}"/>
              </a:ext>
            </a:extLst>
          </p:cNvPr>
          <p:cNvSpPr/>
          <p:nvPr/>
        </p:nvSpPr>
        <p:spPr bwMode="auto">
          <a:xfrm>
            <a:off x="3090742" y="5519095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6A9FF6E5-A37B-351F-61BB-1B6AEB28ACA1}"/>
              </a:ext>
            </a:extLst>
          </p:cNvPr>
          <p:cNvSpPr/>
          <p:nvPr/>
        </p:nvSpPr>
        <p:spPr bwMode="auto">
          <a:xfrm>
            <a:off x="3663357" y="5519095"/>
            <a:ext cx="504056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52B637D7-CD92-3805-BFD6-D15939B7049B}"/>
              </a:ext>
            </a:extLst>
          </p:cNvPr>
          <p:cNvSpPr/>
          <p:nvPr/>
        </p:nvSpPr>
        <p:spPr bwMode="auto">
          <a:xfrm>
            <a:off x="1748512" y="4723869"/>
            <a:ext cx="2508146" cy="115008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287A11C5-FD1F-1198-7D91-1F9AAD9B7AFD}"/>
              </a:ext>
            </a:extLst>
          </p:cNvPr>
          <p:cNvCxnSpPr>
            <a:cxnSpLocks/>
          </p:cNvCxnSpPr>
          <p:nvPr/>
        </p:nvCxnSpPr>
        <p:spPr bwMode="auto">
          <a:xfrm>
            <a:off x="1703939" y="609329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277715A4-95B1-784C-CA35-2B18C1F50445}"/>
              </a:ext>
            </a:extLst>
          </p:cNvPr>
          <p:cNvSpPr/>
          <p:nvPr/>
        </p:nvSpPr>
        <p:spPr bwMode="auto">
          <a:xfrm>
            <a:off x="7021175" y="6256693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E1A60186-BDF7-F4D9-A880-2FD25E773CF8}"/>
              </a:ext>
            </a:extLst>
          </p:cNvPr>
          <p:cNvSpPr/>
          <p:nvPr/>
        </p:nvSpPr>
        <p:spPr bwMode="auto">
          <a:xfrm>
            <a:off x="4315274" y="4725537"/>
            <a:ext cx="3382480" cy="115008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6BC3891E-C85C-1CBD-F583-52BD29B52A86}"/>
              </a:ext>
            </a:extLst>
          </p:cNvPr>
          <p:cNvSpPr/>
          <p:nvPr/>
        </p:nvSpPr>
        <p:spPr bwMode="auto">
          <a:xfrm>
            <a:off x="4389929" y="4796384"/>
            <a:ext cx="741973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첨부파일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3CCF59B9-3168-CFB0-A53C-D554630CABAB}"/>
              </a:ext>
            </a:extLst>
          </p:cNvPr>
          <p:cNvSpPr/>
          <p:nvPr/>
        </p:nvSpPr>
        <p:spPr bwMode="auto">
          <a:xfrm>
            <a:off x="4389929" y="5144107"/>
            <a:ext cx="3225484" cy="6340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F4BEDE1F-51E8-1F86-0BA7-980F9077BD12}"/>
              </a:ext>
            </a:extLst>
          </p:cNvPr>
          <p:cNvSpPr/>
          <p:nvPr/>
        </p:nvSpPr>
        <p:spPr bwMode="auto">
          <a:xfrm>
            <a:off x="4474114" y="5319977"/>
            <a:ext cx="3062046" cy="259095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선택 및 드래그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E0DAD1-A289-5C1C-B1B2-A5DF4801B843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03026-81B5-67ED-2DCA-0B4ABE5C0B9A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BBAD9A-D6F4-E209-0A22-33D2AE9725DB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2CE584-3277-35E4-C710-29E7BDADF366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22CD18-C51D-0083-8809-618D326A0F7D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A999E7-65AA-417B-0E9F-0423C1C15798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842222-DE5B-F980-7715-8547F648C5AF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AD2718-646E-25C7-2CF4-05CF02A56FC7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EE4CDC-BD08-3B48-1B95-3646B9870422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1FF800A-FEBE-D53E-2781-88F2419D8981}"/>
              </a:ext>
            </a:extLst>
          </p:cNvPr>
          <p:cNvSpPr/>
          <p:nvPr/>
        </p:nvSpPr>
        <p:spPr bwMode="auto">
          <a:xfrm>
            <a:off x="2550016" y="3517425"/>
            <a:ext cx="4206699" cy="298772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993627F-866D-311D-A7BA-9AB9259A7D45}"/>
              </a:ext>
            </a:extLst>
          </p:cNvPr>
          <p:cNvSpPr/>
          <p:nvPr/>
        </p:nvSpPr>
        <p:spPr bwMode="auto">
          <a:xfrm>
            <a:off x="3491711" y="3844189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B74E2E4-FECD-35B8-62E7-C6712748E7DC}"/>
              </a:ext>
            </a:extLst>
          </p:cNvPr>
          <p:cNvSpPr/>
          <p:nvPr/>
        </p:nvSpPr>
        <p:spPr bwMode="auto">
          <a:xfrm>
            <a:off x="4337145" y="3850775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E1BFDEF-564F-6143-15CC-278DF873CC37}"/>
              </a:ext>
            </a:extLst>
          </p:cNvPr>
          <p:cNvSpPr/>
          <p:nvPr/>
        </p:nvSpPr>
        <p:spPr bwMode="auto">
          <a:xfrm>
            <a:off x="5219903" y="3850775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012D8C8-9FB3-73A3-3E2A-7AC52263296A}"/>
              </a:ext>
            </a:extLst>
          </p:cNvPr>
          <p:cNvSpPr/>
          <p:nvPr/>
        </p:nvSpPr>
        <p:spPr bwMode="auto">
          <a:xfrm>
            <a:off x="2655608" y="3850775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13CDE44-F7B8-2B53-143D-7D1591CB6F37}"/>
              </a:ext>
            </a:extLst>
          </p:cNvPr>
          <p:cNvSpPr/>
          <p:nvPr/>
        </p:nvSpPr>
        <p:spPr bwMode="auto">
          <a:xfrm>
            <a:off x="1819065" y="3850775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0F1DA7D-C884-56C2-477B-D32895152109}"/>
              </a:ext>
            </a:extLst>
          </p:cNvPr>
          <p:cNvSpPr/>
          <p:nvPr/>
        </p:nvSpPr>
        <p:spPr bwMode="auto">
          <a:xfrm>
            <a:off x="1819561" y="3526386"/>
            <a:ext cx="63512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CDCFC0C3-04C9-6589-1A25-0EFBC8E81156}"/>
              </a:ext>
            </a:extLst>
          </p:cNvPr>
          <p:cNvSpPr/>
          <p:nvPr/>
        </p:nvSpPr>
        <p:spPr bwMode="auto">
          <a:xfrm>
            <a:off x="1843064" y="3902703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E0B07AF8-9FC2-EBA7-DA45-5765A51F90A6}"/>
              </a:ext>
            </a:extLst>
          </p:cNvPr>
          <p:cNvSpPr/>
          <p:nvPr/>
        </p:nvSpPr>
        <p:spPr bwMode="auto">
          <a:xfrm>
            <a:off x="2690393" y="3908484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E1190691-9304-E21C-B246-FCCE24615F56}"/>
              </a:ext>
            </a:extLst>
          </p:cNvPr>
          <p:cNvSpPr/>
          <p:nvPr/>
        </p:nvSpPr>
        <p:spPr bwMode="auto">
          <a:xfrm>
            <a:off x="3514970" y="390544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5B9776F9-FCC6-AE3E-1B4B-00443CFA553E}"/>
              </a:ext>
            </a:extLst>
          </p:cNvPr>
          <p:cNvSpPr/>
          <p:nvPr/>
        </p:nvSpPr>
        <p:spPr bwMode="auto">
          <a:xfrm>
            <a:off x="4361241" y="3902703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D7FC2507-9D47-D7A6-6BA3-FEA1AF975504}"/>
              </a:ext>
            </a:extLst>
          </p:cNvPr>
          <p:cNvSpPr/>
          <p:nvPr/>
        </p:nvSpPr>
        <p:spPr bwMode="auto">
          <a:xfrm>
            <a:off x="5242586" y="3902703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C0E6DB0-927B-D433-2FAE-EE36A923A5F7}"/>
              </a:ext>
            </a:extLst>
          </p:cNvPr>
          <p:cNvSpPr/>
          <p:nvPr/>
        </p:nvSpPr>
        <p:spPr bwMode="auto">
          <a:xfrm>
            <a:off x="1847823" y="4254085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2.50%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91887B1-B6E8-9602-28FC-55D9FD244B72}"/>
              </a:ext>
            </a:extLst>
          </p:cNvPr>
          <p:cNvSpPr/>
          <p:nvPr/>
        </p:nvSpPr>
        <p:spPr bwMode="auto">
          <a:xfrm>
            <a:off x="2690393" y="4254085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0.60%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C582A1F-4F5A-2922-EAF9-794BD76C6631}"/>
              </a:ext>
            </a:extLst>
          </p:cNvPr>
          <p:cNvSpPr/>
          <p:nvPr/>
        </p:nvSpPr>
        <p:spPr bwMode="auto">
          <a:xfrm>
            <a:off x="3514740" y="425682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1.35%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0B6E0F96-DA4A-15FD-26D0-C707703C0A77}"/>
              </a:ext>
            </a:extLst>
          </p:cNvPr>
          <p:cNvSpPr/>
          <p:nvPr/>
        </p:nvSpPr>
        <p:spPr bwMode="auto">
          <a:xfrm>
            <a:off x="4367163" y="4254085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1.60%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86CB18D9-B497-73EA-C93E-5C5975132371}"/>
              </a:ext>
            </a:extLst>
          </p:cNvPr>
          <p:cNvSpPr/>
          <p:nvPr/>
        </p:nvSpPr>
        <p:spPr bwMode="auto">
          <a:xfrm>
            <a:off x="5242586" y="4254085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1.85%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69C0DEA1-4FE6-389B-A61E-988F016D50F3}"/>
              </a:ext>
            </a:extLst>
          </p:cNvPr>
          <p:cNvSpPr/>
          <p:nvPr/>
        </p:nvSpPr>
        <p:spPr bwMode="auto">
          <a:xfrm>
            <a:off x="3262483" y="3550029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D8B42BF-5997-20DC-53C1-34E0D9125D9E}"/>
              </a:ext>
            </a:extLst>
          </p:cNvPr>
          <p:cNvSpPr/>
          <p:nvPr/>
        </p:nvSpPr>
        <p:spPr bwMode="auto">
          <a:xfrm>
            <a:off x="3851176" y="3550029"/>
            <a:ext cx="648195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FF015B0-9B8B-F1D8-B063-EA398B7DDC05}"/>
              </a:ext>
            </a:extLst>
          </p:cNvPr>
          <p:cNvSpPr/>
          <p:nvPr/>
        </p:nvSpPr>
        <p:spPr bwMode="auto">
          <a:xfrm>
            <a:off x="5175314" y="3551625"/>
            <a:ext cx="701388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F8544F4-909F-A10A-8BB5-E196876ABB69}"/>
              </a:ext>
            </a:extLst>
          </p:cNvPr>
          <p:cNvSpPr/>
          <p:nvPr/>
        </p:nvSpPr>
        <p:spPr bwMode="auto">
          <a:xfrm>
            <a:off x="5939409" y="3552618"/>
            <a:ext cx="720080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정기과금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FEB124D0-2939-4403-4DD5-7A6E42F39CD7}"/>
              </a:ext>
            </a:extLst>
          </p:cNvPr>
          <p:cNvSpPr/>
          <p:nvPr/>
        </p:nvSpPr>
        <p:spPr bwMode="auto">
          <a:xfrm>
            <a:off x="4543263" y="3550029"/>
            <a:ext cx="576064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E0E4EB49-4C47-C261-9006-0729EB72662C}"/>
              </a:ext>
            </a:extLst>
          </p:cNvPr>
          <p:cNvSpPr/>
          <p:nvPr/>
        </p:nvSpPr>
        <p:spPr bwMode="auto">
          <a:xfrm>
            <a:off x="2648845" y="3550029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CD3892D-A792-68B5-245D-16CD384FB5F4}"/>
              </a:ext>
            </a:extLst>
          </p:cNvPr>
          <p:cNvSpPr/>
          <p:nvPr/>
        </p:nvSpPr>
        <p:spPr bwMode="auto">
          <a:xfrm>
            <a:off x="6083999" y="3850775"/>
            <a:ext cx="669404" cy="7242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6A474722-432F-5ADC-C8FC-44776C57478A}"/>
              </a:ext>
            </a:extLst>
          </p:cNvPr>
          <p:cNvSpPr/>
          <p:nvPr/>
        </p:nvSpPr>
        <p:spPr bwMode="auto">
          <a:xfrm>
            <a:off x="6106682" y="3902703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해외카드</a:t>
            </a:r>
            <a:endParaRPr lang="en-US" altLang="ko-KR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AFB3263C-AA1C-9A1F-158B-F01536BD6874}"/>
              </a:ext>
            </a:extLst>
          </p:cNvPr>
          <p:cNvSpPr/>
          <p:nvPr/>
        </p:nvSpPr>
        <p:spPr bwMode="auto">
          <a:xfrm>
            <a:off x="6106682" y="4254085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4.20%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0E01177-D3EC-6737-790D-48EB26F037EB}"/>
              </a:ext>
            </a:extLst>
          </p:cNvPr>
          <p:cNvSpPr/>
          <p:nvPr/>
        </p:nvSpPr>
        <p:spPr bwMode="auto">
          <a:xfrm>
            <a:off x="1742711" y="3478820"/>
            <a:ext cx="5127944" cy="119039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6CD782F9-2081-D525-9D5F-F68BDD9B3071}"/>
              </a:ext>
            </a:extLst>
          </p:cNvPr>
          <p:cNvSpPr/>
          <p:nvPr/>
        </p:nvSpPr>
        <p:spPr bwMode="auto">
          <a:xfrm>
            <a:off x="11153844" y="3902093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265154B-AB72-D58F-DBE0-6C8CCAC5EC1C}"/>
              </a:ext>
            </a:extLst>
          </p:cNvPr>
          <p:cNvSpPr/>
          <p:nvPr/>
        </p:nvSpPr>
        <p:spPr bwMode="auto">
          <a:xfrm>
            <a:off x="6672064" y="4833514"/>
            <a:ext cx="979899" cy="259095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용량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100KB / 0KB</a:t>
            </a:r>
          </a:p>
        </p:txBody>
      </p:sp>
    </p:spTree>
    <p:extLst>
      <p:ext uri="{BB962C8B-B14F-4D97-AF65-F5344CB8AC3E}">
        <p14:creationId xmlns:p14="http://schemas.microsoft.com/office/powerpoint/2010/main" val="1076546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827B-37F6-9307-1EBB-D244E09A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3547C3-0C90-6700-E5FD-F1E0324D6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78292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기간별 조회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일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검색어 탭을 이용하여 가맹점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ID / </a:t>
                      </a:r>
                      <a:r>
                        <a:rPr lang="ko-KR" altLang="en-US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상호명 </a:t>
                      </a:r>
                      <a:r>
                        <a:rPr lang="en-US" altLang="ko-KR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대표자 </a:t>
                      </a:r>
                      <a:r>
                        <a:rPr lang="en-US" altLang="ko-KR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 </a:t>
                      </a:r>
                      <a:r>
                        <a:rPr lang="en-US" altLang="ko-KR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연락처로 조회 가능</a:t>
                      </a:r>
                      <a:endParaRPr lang="en-US" altLang="ko-KR" sz="900" b="1" dirty="0">
                        <a:solidFill>
                          <a:srgbClr val="2121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벤더를 통해 세부 목록 확인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각 영업점별 선택하여 엑셀다운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특이사항</a:t>
                      </a:r>
                      <a:endParaRPr lang="en-US" altLang="ko-KR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 리스트 다운에 대해서는 서버 과부화를 피하기 위해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미제공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292822F7-2337-5D1A-C827-41B2E14C3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리스트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38C578C-A2F7-02C6-BFBA-267F1D390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C2B05A0-2A8B-6E78-173B-4E7343ECC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F91553E-33FD-9B17-B04F-C6294160EC38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643E070-4435-7149-E2B7-53A3AC16F2B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B20896-56C0-55E9-0724-09E8A5FD4CCC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EEA2CC-FEC7-A5D9-F4AF-6F7CC40F7C9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10EC8A-A85C-3EC4-D0A2-C934B177B84A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913606-2183-F20C-ADBC-29FE943F1557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BAF35D-B00D-9E82-9C4D-C08506604D1D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BE16A1-19F6-D5BE-E967-E274F8B92C36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F599D7-A2EC-86F1-C986-3D8AD53ADBEA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26DB79-E6BF-0A6F-0C27-09A02BB6881A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4E7A3E-322F-2F4A-05CA-10BD7A970AB2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CE955E-9902-0BAF-6231-BD6EFE44A58A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23901C-E4BA-4672-D79F-3C4FE97EA568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60F1B0-07DE-1E7A-175A-1910B63152D2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668828E-E067-505B-B28B-D0D5ED051C1C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6467E9-46BD-52FE-2C64-411D64299F67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58288-4620-BADE-0211-756CD9D0E5EE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04C45-E79B-18B0-6D8F-6139E8F97A69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F7BC6-CF44-B122-3D4D-E527E481526E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B8FA3-1D63-8A18-59E2-3479534EA58D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B8241-9F3D-7E7A-7F8B-4575F9CCB048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0315EB-27A4-2E94-1BE6-5F2C6AED7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E5D9E0-D7CA-1D54-05F1-77A50F12AEC1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5619E7-058C-AAB3-534C-8061280E3278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6CE26D-021E-700E-389F-3DB5CD1418D3}"/>
              </a:ext>
            </a:extLst>
          </p:cNvPr>
          <p:cNvSpPr/>
          <p:nvPr/>
        </p:nvSpPr>
        <p:spPr bwMode="auto">
          <a:xfrm>
            <a:off x="1703512" y="1834119"/>
            <a:ext cx="94279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목록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202777A-1DAF-05CC-628A-44E982A2E1AD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299637-5C2C-CDFC-E618-C51BAD1D84CB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7A5383-710E-4A06-074A-67F702C95460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FD674A6-8CD7-5F12-F14D-75D789C5E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4938545"/>
            <a:ext cx="311294" cy="25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9A11E84-2128-8783-DA1E-A7863F266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4947876"/>
            <a:ext cx="305455" cy="25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23883FC-B234-5B27-BD68-C52872E5D5F8}"/>
              </a:ext>
            </a:extLst>
          </p:cNvPr>
          <p:cNvSpPr txBox="1"/>
          <p:nvPr/>
        </p:nvSpPr>
        <p:spPr>
          <a:xfrm>
            <a:off x="4330808" y="4910591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22854FC-2A4B-3892-3410-8D05608CD59A}"/>
              </a:ext>
            </a:extLst>
          </p:cNvPr>
          <p:cNvSpPr/>
          <p:nvPr/>
        </p:nvSpPr>
        <p:spPr bwMode="auto">
          <a:xfrm>
            <a:off x="4902744" y="250613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EE84F07-C990-D57C-5777-9C2549F92A6E}"/>
              </a:ext>
            </a:extLst>
          </p:cNvPr>
          <p:cNvSpPr/>
          <p:nvPr/>
        </p:nvSpPr>
        <p:spPr bwMode="auto">
          <a:xfrm>
            <a:off x="3467633" y="2506135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상호명          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051D86F-C011-3481-EACA-87FC56345422}"/>
              </a:ext>
            </a:extLst>
          </p:cNvPr>
          <p:cNvSpPr/>
          <p:nvPr/>
        </p:nvSpPr>
        <p:spPr bwMode="auto">
          <a:xfrm>
            <a:off x="6329725" y="250613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E3C09FA-2827-B151-86F4-803157BB62DE}"/>
              </a:ext>
            </a:extLst>
          </p:cNvPr>
          <p:cNvSpPr/>
          <p:nvPr/>
        </p:nvSpPr>
        <p:spPr bwMode="auto">
          <a:xfrm>
            <a:off x="6912954" y="2506135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07E5095-C287-599B-9E6C-FBB772F67BC7}"/>
              </a:ext>
            </a:extLst>
          </p:cNvPr>
          <p:cNvSpPr/>
          <p:nvPr/>
        </p:nvSpPr>
        <p:spPr bwMode="auto">
          <a:xfrm>
            <a:off x="1781890" y="2186353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206EF9A-C6C3-4406-D256-7A22B55D40E2}"/>
              </a:ext>
            </a:extLst>
          </p:cNvPr>
          <p:cNvSpPr/>
          <p:nvPr/>
        </p:nvSpPr>
        <p:spPr bwMode="auto">
          <a:xfrm>
            <a:off x="4102689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3B23CC0-5408-1180-B6C4-888AD5D1E6D0}"/>
              </a:ext>
            </a:extLst>
          </p:cNvPr>
          <p:cNvSpPr/>
          <p:nvPr/>
        </p:nvSpPr>
        <p:spPr bwMode="auto">
          <a:xfrm>
            <a:off x="4672699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86747BE-87BE-8CD5-98DF-BBF4B0B325BD}"/>
              </a:ext>
            </a:extLst>
          </p:cNvPr>
          <p:cNvSpPr/>
          <p:nvPr/>
        </p:nvSpPr>
        <p:spPr bwMode="auto">
          <a:xfrm>
            <a:off x="5232354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EDF87-F2AA-53EB-F578-B679B3CB2CF7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3F9A1F-A991-B29F-5952-B5A9931CEC58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4F6645-40C5-25B7-32E0-84DF11275670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57D347-7E52-5812-72B0-488D07B4DA60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395E39-9883-845A-4772-A7AF7858DD92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BC9819-FD16-54C9-EBA6-E8F621FFEAAE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3C67E9-4650-ABE6-49B6-413A847C4C66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DE1AEE-5CC8-7645-6B30-8D5F08E937A8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BE4AAE-C1E6-E306-0381-46ACA34C2EC6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5EAEA35-0164-9F06-AC4A-A3BBE11ED81D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     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A470D2A-2EDB-8A28-8AC3-D388DEF88C90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3C3415E-CFED-B9C9-479D-52DF27B516AA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▼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921EAF4-0F58-8AE7-8619-B3DA17361F7B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66EFF4A-964D-D799-D23F-131618CE8D1D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A11CA5AD-5BF2-F9AA-1B72-A998F918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042160"/>
              </p:ext>
            </p:extLst>
          </p:nvPr>
        </p:nvGraphicFramePr>
        <p:xfrm>
          <a:off x="1731960" y="3429000"/>
          <a:ext cx="5911594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30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722983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77275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491753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72755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843006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49175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351252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75191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512593">
                  <a:extLst>
                    <a:ext uri="{9D8B030D-6E8A-4147-A177-3AD203B41FA5}">
                      <a16:colId xmlns:a16="http://schemas.microsoft.com/office/drawing/2014/main" val="2696812762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상태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등록일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Korpayzzang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641-16-38573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KingKorpay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맹주원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된장찌개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131-57-59301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Korpay123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박규호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순대국밥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898-81-00013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해지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99BE62-6518-6F16-73D8-BB313026985D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8765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2CF06-0951-9709-D335-4BF8123D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8D7E5BB-64F1-9C59-CFF7-0486AC7D4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4382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 內 상세보기 버튼 클릭으로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CC353341-8862-451E-87DF-41B034DE8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리스트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2266AD5-C507-CFFF-AEC9-25DA76EDD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AF3D786-AB38-D5A1-DCE5-8F754B0B1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7D4A5FA-8530-A996-89E4-11A0790F2274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BECC3D0-4D72-9901-545F-2C9EF39FA41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8F8E53A-6B0F-3429-D899-9EA2ED86E026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8428D1-5137-89E7-8E15-A35C3B6C387C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992277-DE34-036F-FCFB-4F211675FB2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E092D4-1A80-7216-A94A-BBEFEF4436A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DB7DD-4119-F7F0-D623-5A8F984CFBA0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264661-6F70-0DDE-1E40-C90771F57EC4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736D26-5A57-ED2A-AC3A-61A185C7B73E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3162CF-3E83-CF4C-D3BF-6FCD9CB66E3F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6061CD-7EF8-A2B2-377E-C3ADA5755ADF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A35E4B-A737-7B30-BE6B-49B2D5568CD9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1B876F-50E4-2960-4716-415A91FB76F5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DAFFAC-90D4-779E-8615-9632E6129046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6C2A720-4265-A472-D701-90F5974A3C77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693EB4-BB8D-9888-1642-976FF6B04ED9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6D686-64D8-4D9D-EAAD-2D46E35C1F72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0AB73-7583-2D1A-9BC1-649ACAA308C0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BDFC0-CA34-315E-2EBC-B1D4F5E3FA8F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0691F-03C0-3D9A-7F13-873D4F4F7EE4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416CB-C101-C258-6E3C-9C9D660A4B7F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0940A09-7E60-E21C-6F73-BF380D253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50296-E7CB-1616-8091-C7A6AD4F5F4B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A027C1-ADCC-EE9C-8FDB-47574B7E8AFC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21EE7F3-8B16-B267-9F2B-DAA6A89A5CA3}"/>
              </a:ext>
            </a:extLst>
          </p:cNvPr>
          <p:cNvSpPr/>
          <p:nvPr/>
        </p:nvSpPr>
        <p:spPr bwMode="auto">
          <a:xfrm>
            <a:off x="1703512" y="1834119"/>
            <a:ext cx="94279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목록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BC83F6E-B673-2A03-E7A2-7C58145F4CD4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F536E2-991F-B1A7-4828-5CC24D9C77E9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67D10E-9E2F-0F70-4A22-024589E67958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4C21AE0-853C-D6FF-BA4E-B224660517BE}"/>
              </a:ext>
            </a:extLst>
          </p:cNvPr>
          <p:cNvSpPr/>
          <p:nvPr/>
        </p:nvSpPr>
        <p:spPr bwMode="auto">
          <a:xfrm>
            <a:off x="4902744" y="250613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EFE6125-2BF9-CD23-A222-E1F6C7EBE727}"/>
              </a:ext>
            </a:extLst>
          </p:cNvPr>
          <p:cNvSpPr/>
          <p:nvPr/>
        </p:nvSpPr>
        <p:spPr bwMode="auto">
          <a:xfrm>
            <a:off x="3467633" y="2506135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상호명          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9ADA1FD-41AE-E1A6-A0B3-200BF351EA5D}"/>
              </a:ext>
            </a:extLst>
          </p:cNvPr>
          <p:cNvSpPr/>
          <p:nvPr/>
        </p:nvSpPr>
        <p:spPr bwMode="auto">
          <a:xfrm>
            <a:off x="6329725" y="250613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1D1822-3037-6E5C-4CCB-1E66B63FFFD5}"/>
              </a:ext>
            </a:extLst>
          </p:cNvPr>
          <p:cNvSpPr/>
          <p:nvPr/>
        </p:nvSpPr>
        <p:spPr bwMode="auto">
          <a:xfrm>
            <a:off x="6912954" y="2506135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48973C-14DF-4EB9-1C89-9B35BA2BC2BD}"/>
              </a:ext>
            </a:extLst>
          </p:cNvPr>
          <p:cNvSpPr/>
          <p:nvPr/>
        </p:nvSpPr>
        <p:spPr bwMode="auto">
          <a:xfrm>
            <a:off x="1781890" y="2186353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55CA9A-954F-653E-FAB9-47F13E27667C}"/>
              </a:ext>
            </a:extLst>
          </p:cNvPr>
          <p:cNvSpPr/>
          <p:nvPr/>
        </p:nvSpPr>
        <p:spPr bwMode="auto">
          <a:xfrm>
            <a:off x="4102689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DDE9060-CCA9-C381-C127-FED158EA55D7}"/>
              </a:ext>
            </a:extLst>
          </p:cNvPr>
          <p:cNvSpPr/>
          <p:nvPr/>
        </p:nvSpPr>
        <p:spPr bwMode="auto">
          <a:xfrm>
            <a:off x="4672699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D86573E-A32B-56B5-52BB-2A85412F3BF0}"/>
              </a:ext>
            </a:extLst>
          </p:cNvPr>
          <p:cNvSpPr/>
          <p:nvPr/>
        </p:nvSpPr>
        <p:spPr bwMode="auto">
          <a:xfrm>
            <a:off x="5232354" y="2186353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BB8146-FFD7-4158-BFEB-5FB08F2907D2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17BEC5-68B1-1EF3-4074-496891BD741E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ADDEE2-C52E-56F5-A6FA-50C9A5A2886F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1440B1-2625-DD7D-1CE6-2E5348BB067D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D44B30-341E-BA1B-EC9D-53F1D7073E21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8B8747-B555-AEE8-A5E4-4471BD83A029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26B8D0-4166-A771-7C35-A1F55996E9ED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D1F85B-1C62-3818-6820-83AE9A338CF7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7BFCF2-1587-6F4C-CD73-DE53A76E0B38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89A450D3-AD5D-F040-460B-FE596AC1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789185"/>
              </p:ext>
            </p:extLst>
          </p:nvPr>
        </p:nvGraphicFramePr>
        <p:xfrm>
          <a:off x="1731960" y="3429000"/>
          <a:ext cx="5911594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30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722983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772755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491753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72755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843006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49175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351252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75191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512593">
                  <a:extLst>
                    <a:ext uri="{9D8B030D-6E8A-4147-A177-3AD203B41FA5}">
                      <a16:colId xmlns:a16="http://schemas.microsoft.com/office/drawing/2014/main" val="2696812762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상태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등록일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Korpayzzang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641-16-38573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KingKorpay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맹주원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된장찌개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131-57-59301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Korpay123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박규호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순대국밥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898-81-00013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해지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C6D12E80-2F34-323E-52EC-9D8FD39E0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4938545"/>
            <a:ext cx="311294" cy="2520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DFEBE0A-C6A7-F0DC-2869-FA3AF25DA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4947876"/>
            <a:ext cx="305455" cy="252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29F8089-04FA-634E-7A5A-16B2ABD1B417}"/>
              </a:ext>
            </a:extLst>
          </p:cNvPr>
          <p:cNvSpPr txBox="1"/>
          <p:nvPr/>
        </p:nvSpPr>
        <p:spPr>
          <a:xfrm>
            <a:off x="4330808" y="4910591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52DA62E-81E6-9CFE-1D4B-68AF34AB47BF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     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FBB4817E-D29F-D6E9-4F99-53A675A7BF1A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968202C-111F-6E53-CD5A-4423CFA8073F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▼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0A12057-FC2C-4AC9-CDCD-C0C71E4C34F9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37E0E92-3664-BEC8-3A80-4CB7F37258AA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1825E8-442E-A51C-D2FE-164977C4562C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0F18ED-F8DF-8E87-00F3-EA228E6DE636}"/>
              </a:ext>
            </a:extLst>
          </p:cNvPr>
          <p:cNvSpPr/>
          <p:nvPr/>
        </p:nvSpPr>
        <p:spPr bwMode="auto">
          <a:xfrm>
            <a:off x="7078847" y="4347686"/>
            <a:ext cx="608581" cy="2874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B0CA8-6A69-E33A-9BFA-02848A9C8A93}"/>
              </a:ext>
            </a:extLst>
          </p:cNvPr>
          <p:cNvSpPr txBox="1"/>
          <p:nvPr/>
        </p:nvSpPr>
        <p:spPr>
          <a:xfrm>
            <a:off x="6896797" y="4392907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</p:spTree>
    <p:extLst>
      <p:ext uri="{BB962C8B-B14F-4D97-AF65-F5344CB8AC3E}">
        <p14:creationId xmlns:p14="http://schemas.microsoft.com/office/powerpoint/2010/main" val="1172673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306A-34FD-FEFD-779C-203E529E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90E293-11D3-E800-5590-5C7BC68B8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796326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기본정보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/ PASS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버튼을 통해 비밀번호 초기화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E-Mail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임시비밀번호 발급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사업자구분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영중소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등급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비사업자 표기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영중소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등급 표기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E-Mail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특이사항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 동일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등록서류 제외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버튼을 통해 정보 수정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수정범위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E-Mail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정보에 대한 이력은 비고란에 업데이트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FDBDA54-5AD3-9D62-5089-F618B6D85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기본정보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73231D-33C7-AE31-D2BD-42D7FFA34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AC4C510-77EF-98AC-319D-E4132FDA4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3166013-16A0-EA5D-1693-B76E4F89F038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E3815E0-968D-40BA-331A-A0636704117B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08C132-B318-CADC-9EC8-C31EDDA22FA2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3F50F7-63EF-7624-5D5A-04EF24D6298B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22EE46-E6F4-1313-55DA-D8F9888C9815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B7B0B6-7B70-0BBF-14B9-4E0EDCDAAF01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ED5BAD-BCCE-0684-3B09-2B1EEB0ECC50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A31103-F7E1-0C9F-4B7F-3D461D36807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BD179C-9FC8-35FB-15FA-32BD5A2249AA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014AA5-235C-FE2C-86E7-BB297B47B7AD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C24495-EB2C-F631-1729-64FDF0153958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36DB96-09E0-FBC8-7EF8-9B156E969180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5A7BFC-EEAE-ACB3-F69E-C0FF96ADB7D3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5BFD50-4DB4-FA53-9CAB-4DF54D2E5D4A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775BC46-FB05-9967-DBF3-3266F2EC6712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2C5BF36-4E73-EE00-E41B-C61776AF5A02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EA883-AEC0-83C7-C53E-25A72A8C49BF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C61A3-8ED3-A9AF-D013-271C724D9246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C64A6-A524-B665-D2C7-8EC7BBE76FD1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8C2A5A-D549-5A82-58DA-AAE31ABC4D42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9B048-2CAF-EE4B-D02C-33B8E8532BA9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A5B555-DDE6-8C02-68AA-41811782D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8AF7E4-4880-E4CA-D902-190578008B7D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111445-885B-B2C6-A580-5CD706396AC0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444AC1-0493-703A-DB7A-F5D630BF684A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상세보기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EE033-2A1A-5E79-466A-111DBF493B4A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DB76B9-6AA9-930F-73A4-CCE58C2C7C8E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0C67C8-BEB9-C648-E3D2-3C0112C9D54A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30A2AA8-3850-3B19-06B9-79B42D0335DF}"/>
              </a:ext>
            </a:extLst>
          </p:cNvPr>
          <p:cNvSpPr/>
          <p:nvPr/>
        </p:nvSpPr>
        <p:spPr bwMode="auto">
          <a:xfrm>
            <a:off x="183622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57DDED-7C68-F4B3-7196-F51A38C006E0}"/>
              </a:ext>
            </a:extLst>
          </p:cNvPr>
          <p:cNvSpPr/>
          <p:nvPr/>
        </p:nvSpPr>
        <p:spPr bwMode="auto">
          <a:xfrm>
            <a:off x="3387689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86C4BDD-5E63-3F8F-BA17-71608608F2A9}"/>
              </a:ext>
            </a:extLst>
          </p:cNvPr>
          <p:cNvSpPr/>
          <p:nvPr/>
        </p:nvSpPr>
        <p:spPr bwMode="auto">
          <a:xfrm>
            <a:off x="6448862" y="2304209"/>
            <a:ext cx="1104056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등록서류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3C95607-A3B2-EFFE-A431-C9E45274E579}"/>
              </a:ext>
            </a:extLst>
          </p:cNvPr>
          <p:cNvSpPr/>
          <p:nvPr/>
        </p:nvSpPr>
        <p:spPr bwMode="auto">
          <a:xfrm>
            <a:off x="492846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1DEE480-6FED-70A5-6F6F-9E5261CAEF48}"/>
              </a:ext>
            </a:extLst>
          </p:cNvPr>
          <p:cNvSpPr/>
          <p:nvPr/>
        </p:nvSpPr>
        <p:spPr bwMode="auto">
          <a:xfrm>
            <a:off x="1794834" y="2240399"/>
            <a:ext cx="1097656" cy="39651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2466B0-85A0-045C-8E8B-B1E2FD333789}"/>
              </a:ext>
            </a:extLst>
          </p:cNvPr>
          <p:cNvSpPr txBox="1"/>
          <p:nvPr/>
        </p:nvSpPr>
        <p:spPr>
          <a:xfrm>
            <a:off x="1194518" y="2101132"/>
            <a:ext cx="790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/>
              <a:t>👉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E2835B5-EAD8-0680-C5A0-DF6145906E84}"/>
              </a:ext>
            </a:extLst>
          </p:cNvPr>
          <p:cNvSpPr/>
          <p:nvPr/>
        </p:nvSpPr>
        <p:spPr bwMode="auto">
          <a:xfrm>
            <a:off x="1835631" y="2769315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E0C29C4-6FF4-A4A3-8C2A-E1BCB751EA4B}"/>
              </a:ext>
            </a:extLst>
          </p:cNvPr>
          <p:cNvSpPr/>
          <p:nvPr/>
        </p:nvSpPr>
        <p:spPr bwMode="auto">
          <a:xfrm>
            <a:off x="1793432" y="2717551"/>
            <a:ext cx="5761638" cy="342697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4FA9C725-1BE4-A681-1F04-12990F68B4B8}"/>
              </a:ext>
            </a:extLst>
          </p:cNvPr>
          <p:cNvSpPr/>
          <p:nvPr/>
        </p:nvSpPr>
        <p:spPr bwMode="auto">
          <a:xfrm>
            <a:off x="1835631" y="3114578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PASSWORD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BEE52DF-BA47-8AAE-C23B-2F847F9A7D46}"/>
              </a:ext>
            </a:extLst>
          </p:cNvPr>
          <p:cNvSpPr/>
          <p:nvPr/>
        </p:nvSpPr>
        <p:spPr bwMode="auto">
          <a:xfrm>
            <a:off x="1835631" y="3468020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사업자구분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2AEEDEF-C314-C346-6484-8B0D9E64CC3A}"/>
              </a:ext>
            </a:extLst>
          </p:cNvPr>
          <p:cNvSpPr/>
          <p:nvPr/>
        </p:nvSpPr>
        <p:spPr bwMode="auto">
          <a:xfrm>
            <a:off x="1835631" y="3804766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351B7F9-028D-5972-953E-7F168B28EBFA}"/>
              </a:ext>
            </a:extLst>
          </p:cNvPr>
          <p:cNvSpPr/>
          <p:nvPr/>
        </p:nvSpPr>
        <p:spPr bwMode="auto">
          <a:xfrm>
            <a:off x="1842645" y="4143110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E7AC817-C450-33CB-000A-796425FEBD4C}"/>
              </a:ext>
            </a:extLst>
          </p:cNvPr>
          <p:cNvSpPr/>
          <p:nvPr/>
        </p:nvSpPr>
        <p:spPr bwMode="auto">
          <a:xfrm>
            <a:off x="1842645" y="4479856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FFF35F3-D104-5F27-C428-79CD91153AA6}"/>
              </a:ext>
            </a:extLst>
          </p:cNvPr>
          <p:cNvSpPr/>
          <p:nvPr/>
        </p:nvSpPr>
        <p:spPr bwMode="auto">
          <a:xfrm>
            <a:off x="1835209" y="4815602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689D526-9649-0C91-8715-757CDCE6AE13}"/>
              </a:ext>
            </a:extLst>
          </p:cNvPr>
          <p:cNvSpPr/>
          <p:nvPr/>
        </p:nvSpPr>
        <p:spPr bwMode="auto">
          <a:xfrm>
            <a:off x="1842645" y="5151348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C72B829E-58D5-EAAA-285B-FD9C4E029824}"/>
              </a:ext>
            </a:extLst>
          </p:cNvPr>
          <p:cNvSpPr/>
          <p:nvPr/>
        </p:nvSpPr>
        <p:spPr bwMode="auto">
          <a:xfrm>
            <a:off x="5161688" y="3490934"/>
            <a:ext cx="1168314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영중소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FCAED26-2687-A033-211B-99BEA79702E6}"/>
              </a:ext>
            </a:extLst>
          </p:cNvPr>
          <p:cNvSpPr/>
          <p:nvPr/>
        </p:nvSpPr>
        <p:spPr bwMode="auto">
          <a:xfrm>
            <a:off x="3473313" y="278000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Korpayzzang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D7F8C4F-5E1D-11B0-6CFC-1256EBC9579B}"/>
              </a:ext>
            </a:extLst>
          </p:cNvPr>
          <p:cNvSpPr/>
          <p:nvPr/>
        </p:nvSpPr>
        <p:spPr bwMode="auto">
          <a:xfrm>
            <a:off x="3473313" y="3114578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************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8871313-70AA-4EF5-8F9A-FA756015A543}"/>
              </a:ext>
            </a:extLst>
          </p:cNvPr>
          <p:cNvSpPr/>
          <p:nvPr/>
        </p:nvSpPr>
        <p:spPr bwMode="auto">
          <a:xfrm>
            <a:off x="6365332" y="3490804"/>
            <a:ext cx="1139577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DB9F4C7-A278-F1F4-E147-87F3165C270C}"/>
              </a:ext>
            </a:extLst>
          </p:cNvPr>
          <p:cNvSpPr/>
          <p:nvPr/>
        </p:nvSpPr>
        <p:spPr bwMode="auto">
          <a:xfrm>
            <a:off x="5160205" y="3114367"/>
            <a:ext cx="752860" cy="259095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C0FC2DB-C021-3651-F85B-2C5FEF734C3B}"/>
              </a:ext>
            </a:extLst>
          </p:cNvPr>
          <p:cNvSpPr/>
          <p:nvPr/>
        </p:nvSpPr>
        <p:spPr bwMode="auto">
          <a:xfrm>
            <a:off x="3477854" y="3480979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개인사업자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873FB5C-762F-387B-17CF-BC1D57E1D713}"/>
              </a:ext>
            </a:extLst>
          </p:cNvPr>
          <p:cNvSpPr/>
          <p:nvPr/>
        </p:nvSpPr>
        <p:spPr bwMode="auto">
          <a:xfrm>
            <a:off x="3479038" y="380476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137-22-88947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36BE427-9781-8F01-2AF3-83DEC3DF8EC7}"/>
              </a:ext>
            </a:extLst>
          </p:cNvPr>
          <p:cNvSpPr/>
          <p:nvPr/>
        </p:nvSpPr>
        <p:spPr bwMode="auto">
          <a:xfrm>
            <a:off x="3473313" y="4143109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신경준김치찌개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C54C729-28DF-DD5C-66A0-D5237FBDB57B}"/>
              </a:ext>
            </a:extLst>
          </p:cNvPr>
          <p:cNvSpPr/>
          <p:nvPr/>
        </p:nvSpPr>
        <p:spPr bwMode="auto">
          <a:xfrm>
            <a:off x="3473313" y="448525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5347F5-7A59-F72A-A6E0-C6B9505467A6}"/>
              </a:ext>
            </a:extLst>
          </p:cNvPr>
          <p:cNvSpPr/>
          <p:nvPr/>
        </p:nvSpPr>
        <p:spPr bwMode="auto">
          <a:xfrm>
            <a:off x="3473313" y="482396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010-0001-0002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14D9B1C-E111-2FD5-AD0F-423983194500}"/>
              </a:ext>
            </a:extLst>
          </p:cNvPr>
          <p:cNvSpPr/>
          <p:nvPr/>
        </p:nvSpPr>
        <p:spPr bwMode="auto">
          <a:xfrm>
            <a:off x="3475830" y="5151223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inb12408@naver.com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EE4BC4C4-95FC-5CBA-1B35-46903801FB0F}"/>
              </a:ext>
            </a:extLst>
          </p:cNvPr>
          <p:cNvSpPr/>
          <p:nvPr/>
        </p:nvSpPr>
        <p:spPr bwMode="auto">
          <a:xfrm>
            <a:off x="6922130" y="6226476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 용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FF5FC575-D891-D321-D6BF-E210E8919595}"/>
              </a:ext>
            </a:extLst>
          </p:cNvPr>
          <p:cNvSpPr/>
          <p:nvPr/>
        </p:nvSpPr>
        <p:spPr bwMode="auto">
          <a:xfrm>
            <a:off x="1842645" y="5618177"/>
            <a:ext cx="54599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2ED1D0C-A15F-C96C-F3D6-F601A22723D2}"/>
              </a:ext>
            </a:extLst>
          </p:cNvPr>
          <p:cNvSpPr/>
          <p:nvPr/>
        </p:nvSpPr>
        <p:spPr bwMode="auto">
          <a:xfrm>
            <a:off x="2455092" y="5472734"/>
            <a:ext cx="5049817" cy="620561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D74986B1-39B1-8013-FE5E-74A7BEE90D30}"/>
              </a:ext>
            </a:extLst>
          </p:cNvPr>
          <p:cNvSpPr/>
          <p:nvPr/>
        </p:nvSpPr>
        <p:spPr bwMode="auto">
          <a:xfrm>
            <a:off x="2494442" y="5618177"/>
            <a:ext cx="4105614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20:03:55 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010-0002-0001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010-0001-0002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2AAAAAC2-536C-CB1B-6B06-C5F39C31E17E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CD578-586B-D863-82CA-47789D64A986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55740-E9C3-45F0-C622-9B5BD984D2A5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FD687-35D8-77DF-664F-31E88E743476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BF19A3-8298-64E3-E222-841F9C401AA4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84C2A8-A67B-D332-A460-005AB931B617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809AC-7417-E332-097C-4A3E34B6FF34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224E6-A975-EED6-41EC-D4D15245D7C4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773BE-BFAB-8BE6-6223-7D8B5ED178B1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A43C6C-077D-C215-8FEE-752D4149FEFE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C8D2696-1405-2228-E565-3BDA16B9F6B5}"/>
              </a:ext>
            </a:extLst>
          </p:cNvPr>
          <p:cNvSpPr/>
          <p:nvPr/>
        </p:nvSpPr>
        <p:spPr bwMode="auto">
          <a:xfrm>
            <a:off x="8408905" y="1441144"/>
            <a:ext cx="490392" cy="192463"/>
          </a:xfrm>
          <a:prstGeom prst="roundRect">
            <a:avLst/>
          </a:prstGeom>
          <a:solidFill>
            <a:schemeClr val="accent6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en-US" altLang="ko-KR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43C5E0C-CE1C-AF06-C9C6-17D9EF6FD169}"/>
              </a:ext>
            </a:extLst>
          </p:cNvPr>
          <p:cNvSpPr/>
          <p:nvPr/>
        </p:nvSpPr>
        <p:spPr bwMode="auto">
          <a:xfrm>
            <a:off x="6220719" y="6238738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464AE6B-B9F2-9CE5-529C-A9D643D83BAF}"/>
              </a:ext>
            </a:extLst>
          </p:cNvPr>
          <p:cNvSpPr/>
          <p:nvPr/>
        </p:nvSpPr>
        <p:spPr bwMode="auto">
          <a:xfrm>
            <a:off x="8408905" y="2700065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35C4075-79DF-A3D2-8C49-9FA10EC9FC0B}"/>
              </a:ext>
            </a:extLst>
          </p:cNvPr>
          <p:cNvCxnSpPr>
            <a:stCxn id="36" idx="0"/>
            <a:endCxn id="37" idx="1"/>
          </p:cNvCxnSpPr>
          <p:nvPr/>
        </p:nvCxnSpPr>
        <p:spPr bwMode="auto">
          <a:xfrm flipV="1">
            <a:off x="6528466" y="2790755"/>
            <a:ext cx="1880439" cy="344798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66885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F430-D27E-2A46-EA61-95D6078A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6B68BF-1BC7-1170-B15E-6D4993819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22567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 / D+3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정산유형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D+1 / D+1(11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/ D+3 / D+1(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선지급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/ D+1(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자동선지급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해당하는 정보 기재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특이사항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 동일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등록서류 제외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버튼을 통해 정보 수정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수정범위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정산유형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정보에 대한 이력은 비고란에 업데이트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메모 등록 기능을 통해 사유 히스토리 관리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53319FF-D951-6D01-00E5-4FD546E6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정산정보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77B933-4A89-33E5-717F-E7C06370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FAD5A5-7FE0-8F24-B705-1553F64E0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CC734DB-114E-AC76-58CD-0B214D3CAABA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45D5317-94A3-1C0D-476B-8D7A189FC614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CD1E31-A125-C9D4-94DB-24EF65AEAC7D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4542A1-7B27-009C-FAF9-C8E11D2CBC6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C123D7-4794-B3DF-9F8D-5A8B1C181168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F70878-740A-8B29-D4EA-0CF1091FEAF4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3047AC-9BDE-DF01-DAE0-8D6E20D1EEA2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1B8E81-3EDE-3BFD-FAD3-B31F033645EF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4F5AF5-AA98-36B3-18BF-FDBF510C451E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C4BEA2-80BE-5B1F-256A-645AB90D93F1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85ED89-5CE2-640C-25B6-5931EA5E1B3B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258173-2356-6401-9BAE-A91D328E9E86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047EA5-FD2D-8F00-1C40-32BF74E0EA86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880A2B-5EE2-A164-0787-E56C432515FA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D7B0848-848A-36EB-8EDD-D6D72F14BB1B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B4FAA6-A7F5-767C-70F0-DA38667BD428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20A9D-B55A-DCB4-C7A7-2DFE3945617A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C85DB-9532-9B80-3E49-C55018B00A17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A0AC9-4D03-6EEB-CA7D-00C93B609338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3854A-6EAD-11C4-91A5-F4892CC61E87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8B127-4678-BA52-C2C2-4419CE2E8D60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A50CBB1-DE2A-1A2D-CA67-A4775D9DF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9DB1C7-2819-30DD-1396-A1573D5DDDED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00D1B2-0EE6-B661-CEC8-60DAB87D2696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B2A1A25-563B-9C9C-D822-ADD0F3A3D32D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상세보기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E0A62-EB33-E0E4-6E22-9E9D07D72880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5B292F-16D0-55CE-BDD8-3D1192AA53F7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6C3922-7E14-10E5-F48B-E8705608A8AD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6E63FD2-30D1-B062-2300-55E14E0BED1A}"/>
              </a:ext>
            </a:extLst>
          </p:cNvPr>
          <p:cNvSpPr/>
          <p:nvPr/>
        </p:nvSpPr>
        <p:spPr bwMode="auto">
          <a:xfrm>
            <a:off x="183622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4E1939E-BFDE-D6F1-ADA2-CB795ACDC6B4}"/>
              </a:ext>
            </a:extLst>
          </p:cNvPr>
          <p:cNvSpPr/>
          <p:nvPr/>
        </p:nvSpPr>
        <p:spPr bwMode="auto">
          <a:xfrm>
            <a:off x="3387689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28F5B6-9F73-178D-931D-1AA704E85000}"/>
              </a:ext>
            </a:extLst>
          </p:cNvPr>
          <p:cNvSpPr/>
          <p:nvPr/>
        </p:nvSpPr>
        <p:spPr bwMode="auto">
          <a:xfrm>
            <a:off x="6448862" y="2304209"/>
            <a:ext cx="1104056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등록서류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D00864C-D553-D64B-7B12-768A183B3920}"/>
              </a:ext>
            </a:extLst>
          </p:cNvPr>
          <p:cNvSpPr/>
          <p:nvPr/>
        </p:nvSpPr>
        <p:spPr bwMode="auto">
          <a:xfrm>
            <a:off x="492846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20F6ADF-7EFE-201A-8AE0-A0B0561F2909}"/>
              </a:ext>
            </a:extLst>
          </p:cNvPr>
          <p:cNvSpPr/>
          <p:nvPr/>
        </p:nvSpPr>
        <p:spPr bwMode="auto">
          <a:xfrm>
            <a:off x="3327761" y="2232150"/>
            <a:ext cx="1097656" cy="39651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D481A5-4172-1D5D-AAEF-6E68EC2548E4}"/>
              </a:ext>
            </a:extLst>
          </p:cNvPr>
          <p:cNvSpPr txBox="1"/>
          <p:nvPr/>
        </p:nvSpPr>
        <p:spPr>
          <a:xfrm>
            <a:off x="2727445" y="2092883"/>
            <a:ext cx="790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/>
              <a:t>👉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A468F56-C7D4-7CD8-1E3B-F1793192608C}"/>
              </a:ext>
            </a:extLst>
          </p:cNvPr>
          <p:cNvSpPr/>
          <p:nvPr/>
        </p:nvSpPr>
        <p:spPr bwMode="auto">
          <a:xfrm>
            <a:off x="1835631" y="2769315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정산주기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C3A7067-5843-A7E5-0B5E-3B8C9CCC52C4}"/>
              </a:ext>
            </a:extLst>
          </p:cNvPr>
          <p:cNvSpPr/>
          <p:nvPr/>
        </p:nvSpPr>
        <p:spPr bwMode="auto">
          <a:xfrm>
            <a:off x="1793432" y="2717551"/>
            <a:ext cx="5761638" cy="3552084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FEFA812-F3C0-9337-D770-AB44078A8621}"/>
              </a:ext>
            </a:extLst>
          </p:cNvPr>
          <p:cNvSpPr/>
          <p:nvPr/>
        </p:nvSpPr>
        <p:spPr bwMode="auto">
          <a:xfrm>
            <a:off x="1835631" y="3114578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정산유형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19B0469-0EBB-12F7-67A3-7FFEE6FE7218}"/>
              </a:ext>
            </a:extLst>
          </p:cNvPr>
          <p:cNvSpPr/>
          <p:nvPr/>
        </p:nvSpPr>
        <p:spPr bwMode="auto">
          <a:xfrm>
            <a:off x="1835631" y="3458689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    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48ABF8F-6DEE-AAA9-C543-F033C958A56C}"/>
              </a:ext>
            </a:extLst>
          </p:cNvPr>
          <p:cNvSpPr/>
          <p:nvPr/>
        </p:nvSpPr>
        <p:spPr bwMode="auto">
          <a:xfrm>
            <a:off x="1835631" y="3804766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계좌번호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99D5C0D-092F-45EA-9DD2-897F0ECE26A1}"/>
              </a:ext>
            </a:extLst>
          </p:cNvPr>
          <p:cNvSpPr/>
          <p:nvPr/>
        </p:nvSpPr>
        <p:spPr bwMode="auto">
          <a:xfrm>
            <a:off x="1842645" y="4143110"/>
            <a:ext cx="1552058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 금 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7181127-C369-4286-C844-DCC08BC90CDC}"/>
              </a:ext>
            </a:extLst>
          </p:cNvPr>
          <p:cNvSpPr/>
          <p:nvPr/>
        </p:nvSpPr>
        <p:spPr bwMode="auto">
          <a:xfrm>
            <a:off x="3473313" y="278000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D+1          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B37A5C64-ED09-E219-5808-2570BCDE3064}"/>
              </a:ext>
            </a:extLst>
          </p:cNvPr>
          <p:cNvSpPr/>
          <p:nvPr/>
        </p:nvSpPr>
        <p:spPr bwMode="auto">
          <a:xfrm>
            <a:off x="3473313" y="3114578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D+1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849B59B-7E93-7B7C-1E4F-E78364471BC2}"/>
              </a:ext>
            </a:extLst>
          </p:cNvPr>
          <p:cNvSpPr/>
          <p:nvPr/>
        </p:nvSpPr>
        <p:spPr bwMode="auto">
          <a:xfrm>
            <a:off x="3477854" y="3471648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신한은행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8B1A274-2F69-5418-62FB-4394A2EB4B83}"/>
              </a:ext>
            </a:extLst>
          </p:cNvPr>
          <p:cNvSpPr/>
          <p:nvPr/>
        </p:nvSpPr>
        <p:spPr bwMode="auto">
          <a:xfrm>
            <a:off x="3479038" y="3804766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110-313-882121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7C25258-06F7-2E90-9AE2-E0C349CDB895}"/>
              </a:ext>
            </a:extLst>
          </p:cNvPr>
          <p:cNvSpPr/>
          <p:nvPr/>
        </p:nvSpPr>
        <p:spPr bwMode="auto">
          <a:xfrm>
            <a:off x="3473313" y="4143109"/>
            <a:ext cx="155205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BB7F12C-2344-5889-114E-AB6DBC696B2A}"/>
              </a:ext>
            </a:extLst>
          </p:cNvPr>
          <p:cNvSpPr/>
          <p:nvPr/>
        </p:nvSpPr>
        <p:spPr bwMode="auto">
          <a:xfrm>
            <a:off x="6922130" y="6331703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 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9D6BD08-940F-C8F6-9023-1144D0E43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32" y="2834932"/>
            <a:ext cx="181000" cy="15242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349E05-2473-E0CB-41A8-296E18664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32" y="3171158"/>
            <a:ext cx="181000" cy="15242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F1F036B-76DB-0D53-D7E6-8AF3F43E0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32" y="3544140"/>
            <a:ext cx="181000" cy="152421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56094830-2705-F174-B80A-F6851F0926CE}"/>
              </a:ext>
            </a:extLst>
          </p:cNvPr>
          <p:cNvSpPr/>
          <p:nvPr/>
        </p:nvSpPr>
        <p:spPr bwMode="auto">
          <a:xfrm>
            <a:off x="2455092" y="4528173"/>
            <a:ext cx="5049817" cy="99973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8548326-A3AF-18C3-9C82-9DA84D26D44E}"/>
              </a:ext>
            </a:extLst>
          </p:cNvPr>
          <p:cNvSpPr/>
          <p:nvPr/>
        </p:nvSpPr>
        <p:spPr bwMode="auto">
          <a:xfrm>
            <a:off x="1842645" y="4852844"/>
            <a:ext cx="54599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9399AC-D2E6-3DBC-2A84-415ACC4CB765}"/>
              </a:ext>
            </a:extLst>
          </p:cNvPr>
          <p:cNvSpPr/>
          <p:nvPr/>
        </p:nvSpPr>
        <p:spPr bwMode="auto">
          <a:xfrm>
            <a:off x="2494442" y="4600284"/>
            <a:ext cx="2953486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20:03:55 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정산주기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D+3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53E9243-1BBB-B847-2FAC-C35C74EFD808}"/>
              </a:ext>
            </a:extLst>
          </p:cNvPr>
          <p:cNvSpPr/>
          <p:nvPr/>
        </p:nvSpPr>
        <p:spPr bwMode="auto">
          <a:xfrm>
            <a:off x="2494442" y="4892991"/>
            <a:ext cx="3422858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20:05:15 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정산유형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D+1(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D+1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75FECCE-C6C7-2BCA-BA02-40411A9EB23E}"/>
              </a:ext>
            </a:extLst>
          </p:cNvPr>
          <p:cNvSpPr/>
          <p:nvPr/>
        </p:nvSpPr>
        <p:spPr bwMode="auto">
          <a:xfrm>
            <a:off x="2494442" y="5173228"/>
            <a:ext cx="5969552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20:11:33 –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계좌정보 국민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/123-123-12312312/</a:t>
            </a:r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최경준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▶ 신한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/110-313-882121/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신경준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6DDDFE5-1DAA-1F58-1191-8C2BA1550ED9}"/>
              </a:ext>
            </a:extLst>
          </p:cNvPr>
          <p:cNvSpPr/>
          <p:nvPr/>
        </p:nvSpPr>
        <p:spPr bwMode="auto">
          <a:xfrm>
            <a:off x="1842645" y="5762193"/>
            <a:ext cx="54599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B9EFA6C-4D53-9939-1B47-C7AD43D716BF}"/>
              </a:ext>
            </a:extLst>
          </p:cNvPr>
          <p:cNvSpPr/>
          <p:nvPr/>
        </p:nvSpPr>
        <p:spPr bwMode="auto">
          <a:xfrm>
            <a:off x="2455093" y="5611082"/>
            <a:ext cx="4467038" cy="600601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96B9DDD-6219-839C-E0FD-2B2A87BB6E7A}"/>
              </a:ext>
            </a:extLst>
          </p:cNvPr>
          <p:cNvSpPr/>
          <p:nvPr/>
        </p:nvSpPr>
        <p:spPr bwMode="auto">
          <a:xfrm>
            <a:off x="6982353" y="5762192"/>
            <a:ext cx="487245" cy="259095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4A310DE-8D5E-A7BD-8312-2EA750A4F325}"/>
              </a:ext>
            </a:extLst>
          </p:cNvPr>
          <p:cNvSpPr/>
          <p:nvPr/>
        </p:nvSpPr>
        <p:spPr bwMode="auto">
          <a:xfrm>
            <a:off x="2503739" y="5779358"/>
            <a:ext cx="3422858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20:15:03 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요청으로 변경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EAC6F670-9CC5-FFC8-9C2F-B13E38E78671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9E302-0E39-FD93-01F9-34B99C63461F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3CCDEC-13EF-E6FD-5934-8C708C68125C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EF142F-DFE4-1689-1E62-F7F1025A0716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58F25A-B81A-9FD9-3FA9-F6A5CB17C769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F40FE3-C00B-302B-5ACD-DA9ACBF6E4EB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D9A299-8B15-7000-AA96-274F515EC03A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8C1010-2EAF-A3F6-25BC-8B57FBB2E5DB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ED5EA4-0DA5-A0B1-02F0-DEB737A37217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DAF0CF-2164-0F67-D15A-1FBFCCB7F84D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868EEC6-61B0-3818-EF57-343B2D73E188}"/>
              </a:ext>
            </a:extLst>
          </p:cNvPr>
          <p:cNvSpPr/>
          <p:nvPr/>
        </p:nvSpPr>
        <p:spPr bwMode="auto">
          <a:xfrm>
            <a:off x="6220719" y="6343965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CC52CFA-0CF3-2119-FFEA-898B5AFF96E1}"/>
              </a:ext>
            </a:extLst>
          </p:cNvPr>
          <p:cNvSpPr/>
          <p:nvPr/>
        </p:nvSpPr>
        <p:spPr bwMode="auto">
          <a:xfrm>
            <a:off x="8408905" y="2896290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3852C0D9-6F34-27D4-1376-D4CDB00EBDD0}"/>
              </a:ext>
            </a:extLst>
          </p:cNvPr>
          <p:cNvCxnSpPr>
            <a:cxnSpLocks/>
            <a:stCxn id="46" idx="0"/>
          </p:cNvCxnSpPr>
          <p:nvPr/>
        </p:nvCxnSpPr>
        <p:spPr bwMode="auto">
          <a:xfrm flipV="1">
            <a:off x="6528466" y="2978028"/>
            <a:ext cx="1880439" cy="3365937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69852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1EB7-C638-424D-5125-11630616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A3FB7F-DD02-99EF-81D7-26098BFD8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2528"/>
              </p:ext>
            </p:extLst>
          </p:nvPr>
        </p:nvGraphicFramePr>
        <p:xfrm>
          <a:off x="7950791" y="981075"/>
          <a:ext cx="4121873" cy="37682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인증결제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정기과금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으로 수수료 등록 구분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전체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모든 결제유형의 수수료 동일적용을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단말기 수수료만 적용하기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구인증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수수료만 적용하기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비인증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수수료만 적용하기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인증결제 수수료만 적용하기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정기과금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정기과금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수수료만 적용하기 위한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TAP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★ 가맹점 수수료는 상위 영업점 제공 수수료 이하로 등록 불가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등록시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수수료 재확인 안내 팝업 제공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특이사항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정산정보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 동일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등록서류 제외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버튼을 통해 정보 수정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수정범위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정산유형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정보에 대한 이력은 비고란에 업데이트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메모 등록 기능을 통해 사유 히스토리 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E3E7023B-2689-8F04-8C7F-E65EEC511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수수료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591E80D-EA6A-779E-177E-749543DB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049D9D-5C26-07EA-8A31-58F05D59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7087476-E682-9C9D-D136-C6E3F41C4F68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9014E-BBFF-F463-4357-CB3738DB5C4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C461CA-487D-B872-51FA-5A42AD5229D5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9EDBB6-4880-B572-E115-2B7613F6D1D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10E153-8659-8B3B-E7E6-174964588B7E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F00A5F-D432-D911-8D03-4C3D058D13BA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929BC8-6D22-4382-E2FB-BB197EDAA744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217A49-8258-E201-53DD-25C01E51B26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6C30C1-E26E-22CC-A3FA-FF4E35C9E0D3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F148B1-7A98-E974-0821-F169CD837AA6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39E9A9-A67C-AD21-4212-321661C1E21A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CF4267-104C-39E3-2050-654C4028A11A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C407F7-D776-A625-2B6F-FF640AB1F385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F4103C-BF52-5EDF-12DA-9508064B59CC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DAF3C6E-9A95-810E-FB8D-7847A1F834A6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7CCCC8-7338-C28D-BA87-6D33F3D5330A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3E743-8C58-E5A9-AF49-2947F17D7A2A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4149B-04E4-FDEC-73AA-82B78BE57E35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DA81A-2EB2-79D3-6481-1CE69FD385AC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D0E98-7839-3CB3-5346-854510BAF3FD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97AEC-8036-48A8-827C-16206DECE076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E54493-2EFD-E374-F0E7-0317627BE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747229-78D8-0D71-A657-6265EE5F0EF2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B0DFB4-40F1-01AA-9446-49FCE00D3003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2C7D22-1785-5F9A-2F20-D36047039D77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상세보기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334F8-A024-E49C-DC35-7971C70A7454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CF455E-AE25-C7CF-4B45-F5A495C28CFC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20F576-2AF7-1854-2241-4DB94B28D957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BF788D-93F8-2900-8852-F034EA08EA08}"/>
              </a:ext>
            </a:extLst>
          </p:cNvPr>
          <p:cNvSpPr/>
          <p:nvPr/>
        </p:nvSpPr>
        <p:spPr bwMode="auto">
          <a:xfrm>
            <a:off x="183622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61D027A-F568-9C07-7BC9-7498C4D2D648}"/>
              </a:ext>
            </a:extLst>
          </p:cNvPr>
          <p:cNvSpPr/>
          <p:nvPr/>
        </p:nvSpPr>
        <p:spPr bwMode="auto">
          <a:xfrm>
            <a:off x="3387689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8ADAF93-AA60-098F-F5E2-A15B1EF1DE84}"/>
              </a:ext>
            </a:extLst>
          </p:cNvPr>
          <p:cNvSpPr/>
          <p:nvPr/>
        </p:nvSpPr>
        <p:spPr bwMode="auto">
          <a:xfrm>
            <a:off x="6448862" y="2304209"/>
            <a:ext cx="1104056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등록서류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1E7F1BC-3D16-855A-5FBC-410D8CF21116}"/>
              </a:ext>
            </a:extLst>
          </p:cNvPr>
          <p:cNvSpPr/>
          <p:nvPr/>
        </p:nvSpPr>
        <p:spPr bwMode="auto">
          <a:xfrm>
            <a:off x="492846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FEC8288-8886-2AE9-EBDF-E98064A23E5A}"/>
              </a:ext>
            </a:extLst>
          </p:cNvPr>
          <p:cNvSpPr/>
          <p:nvPr/>
        </p:nvSpPr>
        <p:spPr bwMode="auto">
          <a:xfrm>
            <a:off x="4879681" y="2232150"/>
            <a:ext cx="1097656" cy="39651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4BF7DA-CA38-43BD-679A-4CEAB0112D8A}"/>
              </a:ext>
            </a:extLst>
          </p:cNvPr>
          <p:cNvSpPr txBox="1"/>
          <p:nvPr/>
        </p:nvSpPr>
        <p:spPr>
          <a:xfrm>
            <a:off x="4279365" y="2092883"/>
            <a:ext cx="790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/>
              <a:t>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737686A-5BF5-367B-F6A9-F93EF45AEB29}"/>
              </a:ext>
            </a:extLst>
          </p:cNvPr>
          <p:cNvSpPr/>
          <p:nvPr/>
        </p:nvSpPr>
        <p:spPr bwMode="auto">
          <a:xfrm>
            <a:off x="1793432" y="2717551"/>
            <a:ext cx="5761638" cy="3552084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83EB9C5-8871-7564-A950-D0A4E3045939}"/>
              </a:ext>
            </a:extLst>
          </p:cNvPr>
          <p:cNvSpPr/>
          <p:nvPr/>
        </p:nvSpPr>
        <p:spPr bwMode="auto">
          <a:xfrm>
            <a:off x="6922130" y="6331703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 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AC4393-E86B-619D-EF3B-966E17647C8F}"/>
              </a:ext>
            </a:extLst>
          </p:cNvPr>
          <p:cNvSpPr/>
          <p:nvPr/>
        </p:nvSpPr>
        <p:spPr bwMode="auto">
          <a:xfrm>
            <a:off x="2455092" y="4815141"/>
            <a:ext cx="5049817" cy="712769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C7FF902-E28D-A5FC-1F63-FE5697E1424E}"/>
              </a:ext>
            </a:extLst>
          </p:cNvPr>
          <p:cNvSpPr/>
          <p:nvPr/>
        </p:nvSpPr>
        <p:spPr bwMode="auto">
          <a:xfrm>
            <a:off x="1842645" y="5042113"/>
            <a:ext cx="54599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6813593-9EDE-D7AD-F700-5F52AD9A8884}"/>
              </a:ext>
            </a:extLst>
          </p:cNvPr>
          <p:cNvSpPr/>
          <p:nvPr/>
        </p:nvSpPr>
        <p:spPr bwMode="auto">
          <a:xfrm>
            <a:off x="2476964" y="5042113"/>
            <a:ext cx="4915180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20:03:55 – “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 변경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(2.7)/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(0.7)/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1(1.4)/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2(1.6)/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3(1.9)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80308A-92DD-3756-D013-4F7E0A09C449}"/>
              </a:ext>
            </a:extLst>
          </p:cNvPr>
          <p:cNvSpPr/>
          <p:nvPr/>
        </p:nvSpPr>
        <p:spPr bwMode="auto">
          <a:xfrm>
            <a:off x="1842645" y="5762193"/>
            <a:ext cx="54599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E14B01A-4405-D93B-DF6F-4B180EA08151}"/>
              </a:ext>
            </a:extLst>
          </p:cNvPr>
          <p:cNvSpPr/>
          <p:nvPr/>
        </p:nvSpPr>
        <p:spPr bwMode="auto">
          <a:xfrm>
            <a:off x="2455093" y="5611082"/>
            <a:ext cx="4467038" cy="600601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ABEB17C-2667-455B-0B5D-96DB3198B725}"/>
              </a:ext>
            </a:extLst>
          </p:cNvPr>
          <p:cNvSpPr/>
          <p:nvPr/>
        </p:nvSpPr>
        <p:spPr bwMode="auto">
          <a:xfrm>
            <a:off x="6982353" y="5762192"/>
            <a:ext cx="487245" cy="259095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F277D0-0494-20E4-4019-DDE65D691F2C}"/>
              </a:ext>
            </a:extLst>
          </p:cNvPr>
          <p:cNvSpPr/>
          <p:nvPr/>
        </p:nvSpPr>
        <p:spPr bwMode="auto">
          <a:xfrm>
            <a:off x="3163078" y="3201386"/>
            <a:ext cx="4315579" cy="298772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62BE62C-1551-B365-C720-E6006F230A99}"/>
              </a:ext>
            </a:extLst>
          </p:cNvPr>
          <p:cNvSpPr/>
          <p:nvPr/>
        </p:nvSpPr>
        <p:spPr bwMode="auto">
          <a:xfrm>
            <a:off x="3162334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205542F-78AC-156D-59EF-F4D4FE4D38C6}"/>
              </a:ext>
            </a:extLst>
          </p:cNvPr>
          <p:cNvSpPr/>
          <p:nvPr/>
        </p:nvSpPr>
        <p:spPr bwMode="auto">
          <a:xfrm>
            <a:off x="3186333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A556627-428E-A8A9-5A9F-EAC0ACFF334B}"/>
              </a:ext>
            </a:extLst>
          </p:cNvPr>
          <p:cNvSpPr/>
          <p:nvPr/>
        </p:nvSpPr>
        <p:spPr bwMode="auto">
          <a:xfrm>
            <a:off x="3191092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6C40485-FF16-94DB-4456-880CF8B6BBB5}"/>
              </a:ext>
            </a:extLst>
          </p:cNvPr>
          <p:cNvSpPr/>
          <p:nvPr/>
        </p:nvSpPr>
        <p:spPr bwMode="auto">
          <a:xfrm>
            <a:off x="3888919" y="3233990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단말기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5766A8D-C6A0-9DAF-9B3F-CE1F416802DA}"/>
              </a:ext>
            </a:extLst>
          </p:cNvPr>
          <p:cNvSpPr/>
          <p:nvPr/>
        </p:nvSpPr>
        <p:spPr bwMode="auto">
          <a:xfrm>
            <a:off x="4511701" y="3233990"/>
            <a:ext cx="648195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05DCD83-FB77-3E8E-8AD3-3B17CBC24530}"/>
              </a:ext>
            </a:extLst>
          </p:cNvPr>
          <p:cNvSpPr/>
          <p:nvPr/>
        </p:nvSpPr>
        <p:spPr bwMode="auto">
          <a:xfrm>
            <a:off x="5898668" y="3235586"/>
            <a:ext cx="701388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인증결제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EC40923-F1FE-85F9-356A-E5771918A4A5}"/>
              </a:ext>
            </a:extLst>
          </p:cNvPr>
          <p:cNvSpPr/>
          <p:nvPr/>
        </p:nvSpPr>
        <p:spPr bwMode="auto">
          <a:xfrm>
            <a:off x="6672064" y="3236579"/>
            <a:ext cx="720080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정기과금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5119EA4-5AEC-5BF9-B1D5-A75A32F9D2D8}"/>
              </a:ext>
            </a:extLst>
          </p:cNvPr>
          <p:cNvSpPr/>
          <p:nvPr/>
        </p:nvSpPr>
        <p:spPr bwMode="auto">
          <a:xfrm>
            <a:off x="5231904" y="3233990"/>
            <a:ext cx="576064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비인증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CA2204E-2D7C-1367-1D2E-3E12E32FF04C}"/>
              </a:ext>
            </a:extLst>
          </p:cNvPr>
          <p:cNvSpPr/>
          <p:nvPr/>
        </p:nvSpPr>
        <p:spPr bwMode="auto">
          <a:xfrm>
            <a:off x="3240847" y="3233990"/>
            <a:ext cx="550897" cy="229100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CF5E975B-C210-D8E5-C931-65B3A7793AC3}"/>
              </a:ext>
            </a:extLst>
          </p:cNvPr>
          <p:cNvSpPr/>
          <p:nvPr/>
        </p:nvSpPr>
        <p:spPr bwMode="auto">
          <a:xfrm>
            <a:off x="2280582" y="3968068"/>
            <a:ext cx="791081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수수료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46DE921F-1336-74C9-E117-C6C63007B70F}"/>
              </a:ext>
            </a:extLst>
          </p:cNvPr>
          <p:cNvSpPr/>
          <p:nvPr/>
        </p:nvSpPr>
        <p:spPr bwMode="auto">
          <a:xfrm>
            <a:off x="2280582" y="4360249"/>
            <a:ext cx="791082" cy="259095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변경 수수료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5A67EC3C-3944-F862-E554-E6F7F04C27A0}"/>
              </a:ext>
            </a:extLst>
          </p:cNvPr>
          <p:cNvSpPr/>
          <p:nvPr/>
        </p:nvSpPr>
        <p:spPr bwMode="auto">
          <a:xfrm>
            <a:off x="1849299" y="3211524"/>
            <a:ext cx="1207830" cy="259095"/>
          </a:xfrm>
          <a:prstGeom prst="roundRect">
            <a:avLst/>
          </a:prstGeom>
          <a:solidFill>
            <a:schemeClr val="accent5">
              <a:lumMod val="2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수수료 적용일자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61E0EDC7-27C9-60EF-AD59-E3D24E85E923}"/>
              </a:ext>
            </a:extLst>
          </p:cNvPr>
          <p:cNvSpPr/>
          <p:nvPr/>
        </p:nvSpPr>
        <p:spPr bwMode="auto">
          <a:xfrm>
            <a:off x="1858547" y="3558847"/>
            <a:ext cx="1207830" cy="259095"/>
          </a:xfrm>
          <a:prstGeom prst="roundRect">
            <a:avLst/>
          </a:prstGeom>
          <a:solidFill>
            <a:schemeClr val="accent5">
              <a:lumMod val="2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2026. 01. 15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84D6125F-A00D-AADB-936A-4EC9D65E045E}"/>
              </a:ext>
            </a:extLst>
          </p:cNvPr>
          <p:cNvSpPr/>
          <p:nvPr/>
        </p:nvSpPr>
        <p:spPr bwMode="auto">
          <a:xfrm>
            <a:off x="6810634" y="2821225"/>
            <a:ext cx="869542" cy="324982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 (VAT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CC9DC23-07FD-8CC3-BC62-D78EF13E7CB3}"/>
              </a:ext>
            </a:extLst>
          </p:cNvPr>
          <p:cNvSpPr/>
          <p:nvPr/>
        </p:nvSpPr>
        <p:spPr bwMode="auto">
          <a:xfrm>
            <a:off x="3191092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2.7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A9C69441-ACEC-D8F6-ADA3-20D678841871}"/>
              </a:ext>
            </a:extLst>
          </p:cNvPr>
          <p:cNvSpPr/>
          <p:nvPr/>
        </p:nvSpPr>
        <p:spPr bwMode="auto">
          <a:xfrm>
            <a:off x="5995529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8469B48D-C8A1-F817-AF84-32C4165D9433}"/>
              </a:ext>
            </a:extLst>
          </p:cNvPr>
          <p:cNvSpPr/>
          <p:nvPr/>
        </p:nvSpPr>
        <p:spPr bwMode="auto">
          <a:xfrm>
            <a:off x="6019528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184B87D-B922-2B51-2523-DE3712AABD46}"/>
              </a:ext>
            </a:extLst>
          </p:cNvPr>
          <p:cNvSpPr/>
          <p:nvPr/>
        </p:nvSpPr>
        <p:spPr bwMode="auto">
          <a:xfrm>
            <a:off x="6024287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1.7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810FC20F-D463-E49C-EF02-7E83DADEC454}"/>
              </a:ext>
            </a:extLst>
          </p:cNvPr>
          <p:cNvSpPr/>
          <p:nvPr/>
        </p:nvSpPr>
        <p:spPr bwMode="auto">
          <a:xfrm>
            <a:off x="6024287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1.9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B25BE253-5D35-9052-62C2-CA811D6D25D9}"/>
              </a:ext>
            </a:extLst>
          </p:cNvPr>
          <p:cNvSpPr/>
          <p:nvPr/>
        </p:nvSpPr>
        <p:spPr bwMode="auto">
          <a:xfrm>
            <a:off x="4583832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6F43C78-4D0A-9030-364E-233B1C90EEE3}"/>
              </a:ext>
            </a:extLst>
          </p:cNvPr>
          <p:cNvSpPr/>
          <p:nvPr/>
        </p:nvSpPr>
        <p:spPr bwMode="auto">
          <a:xfrm>
            <a:off x="4607831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96241065-AF2A-9DC6-D18C-11292446B1C1}"/>
              </a:ext>
            </a:extLst>
          </p:cNvPr>
          <p:cNvSpPr/>
          <p:nvPr/>
        </p:nvSpPr>
        <p:spPr bwMode="auto">
          <a:xfrm>
            <a:off x="4612590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1.2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876E73B9-40B7-7EED-D237-016AA76C05E5}"/>
              </a:ext>
            </a:extLst>
          </p:cNvPr>
          <p:cNvSpPr/>
          <p:nvPr/>
        </p:nvSpPr>
        <p:spPr bwMode="auto">
          <a:xfrm>
            <a:off x="4612590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1.4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86218A16-3FED-8513-801F-A36E3885F957}"/>
              </a:ext>
            </a:extLst>
          </p:cNvPr>
          <p:cNvSpPr/>
          <p:nvPr/>
        </p:nvSpPr>
        <p:spPr bwMode="auto">
          <a:xfrm>
            <a:off x="3863752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55E666EF-A7A0-6BF1-9C8A-CEFE37D2A4D9}"/>
              </a:ext>
            </a:extLst>
          </p:cNvPr>
          <p:cNvSpPr/>
          <p:nvPr/>
        </p:nvSpPr>
        <p:spPr bwMode="auto">
          <a:xfrm>
            <a:off x="3887751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7D6E32A4-C262-3465-A844-32D775D9DA8B}"/>
              </a:ext>
            </a:extLst>
          </p:cNvPr>
          <p:cNvSpPr/>
          <p:nvPr/>
        </p:nvSpPr>
        <p:spPr bwMode="auto">
          <a:xfrm>
            <a:off x="3892510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0.5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170758F2-6F73-3D9C-6DDA-F2AA3C240154}"/>
              </a:ext>
            </a:extLst>
          </p:cNvPr>
          <p:cNvSpPr/>
          <p:nvPr/>
        </p:nvSpPr>
        <p:spPr bwMode="auto">
          <a:xfrm>
            <a:off x="3892510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0.7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3BBB8FCF-C931-3FD3-097B-9C213D3B72F6}"/>
              </a:ext>
            </a:extLst>
          </p:cNvPr>
          <p:cNvSpPr/>
          <p:nvPr/>
        </p:nvSpPr>
        <p:spPr bwMode="auto">
          <a:xfrm>
            <a:off x="5286494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C795F8EA-9F86-6ADC-DBE1-6705A0FF0FD1}"/>
              </a:ext>
            </a:extLst>
          </p:cNvPr>
          <p:cNvSpPr/>
          <p:nvPr/>
        </p:nvSpPr>
        <p:spPr bwMode="auto">
          <a:xfrm>
            <a:off x="5310493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51BB0C93-87A2-89CC-8FFD-6CE5E9B5B4E7}"/>
              </a:ext>
            </a:extLst>
          </p:cNvPr>
          <p:cNvSpPr/>
          <p:nvPr/>
        </p:nvSpPr>
        <p:spPr bwMode="auto">
          <a:xfrm>
            <a:off x="5315252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1.5</a:t>
            </a: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5E30D32C-17A2-FA22-CB3F-3C5A9EFE3E1A}"/>
              </a:ext>
            </a:extLst>
          </p:cNvPr>
          <p:cNvSpPr/>
          <p:nvPr/>
        </p:nvSpPr>
        <p:spPr bwMode="auto">
          <a:xfrm>
            <a:off x="5315252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B7DE01BA-576B-8EB2-42FA-D1FB37377A12}"/>
              </a:ext>
            </a:extLst>
          </p:cNvPr>
          <p:cNvSpPr/>
          <p:nvPr/>
        </p:nvSpPr>
        <p:spPr bwMode="auto">
          <a:xfrm>
            <a:off x="2513420" y="5781834"/>
            <a:ext cx="4915180" cy="2590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01. 13 20:04:05 –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프로모션 기간 종료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 원복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06220818-DBE7-47B3-ABC7-A433516B96ED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CF70E-E15C-7F47-3D38-57A9627FAB44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E27F5-E14A-00E8-8410-DBEFAAA76596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44DDB3-405D-D9CC-0F20-E950FD421C63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6C174E-874C-E093-749D-CC07234E10F2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C127A8-22B7-E493-33CE-E19EBC5DECBD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19FBC3-BAE4-E535-167A-6527664386DB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A6CD98-EBD0-BBC4-F805-F37A76EC9937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3079D8-1E76-0748-AC57-8BD8AD3FFE9E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52971E-7A38-3795-8484-FEB9E45430AC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0FB6552-CDBC-560F-A6A3-D6927BA8B0A7}"/>
              </a:ext>
            </a:extLst>
          </p:cNvPr>
          <p:cNvSpPr/>
          <p:nvPr/>
        </p:nvSpPr>
        <p:spPr bwMode="auto">
          <a:xfrm>
            <a:off x="6702312" y="3562730"/>
            <a:ext cx="669404" cy="1121238"/>
          </a:xfrm>
          <a:prstGeom prst="roundRect">
            <a:avLst/>
          </a:prstGeom>
          <a:solidFill>
            <a:schemeClr val="bg1">
              <a:lumMod val="7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6B09FDF-7B15-D50B-C272-7F3AAFB88A4B}"/>
              </a:ext>
            </a:extLst>
          </p:cNvPr>
          <p:cNvSpPr/>
          <p:nvPr/>
        </p:nvSpPr>
        <p:spPr bwMode="auto">
          <a:xfrm>
            <a:off x="6726311" y="3614657"/>
            <a:ext cx="611618" cy="2590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해외카드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B77A7BC-E626-C69A-5AF3-A49F4DDD3F6E}"/>
              </a:ext>
            </a:extLst>
          </p:cNvPr>
          <p:cNvSpPr/>
          <p:nvPr/>
        </p:nvSpPr>
        <p:spPr bwMode="auto">
          <a:xfrm>
            <a:off x="6731070" y="3966039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4.0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4F13695-0D09-B744-927F-95F1242AC3D4}"/>
              </a:ext>
            </a:extLst>
          </p:cNvPr>
          <p:cNvSpPr/>
          <p:nvPr/>
        </p:nvSpPr>
        <p:spPr bwMode="auto">
          <a:xfrm>
            <a:off x="6731070" y="4329560"/>
            <a:ext cx="611618" cy="2590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4.2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939D6D8-077A-06AB-1935-C3645E8D441B}"/>
              </a:ext>
            </a:extLst>
          </p:cNvPr>
          <p:cNvSpPr/>
          <p:nvPr/>
        </p:nvSpPr>
        <p:spPr bwMode="auto">
          <a:xfrm>
            <a:off x="6220719" y="6343965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29420A8-D464-CDC6-A478-A53FE2FAA92D}"/>
              </a:ext>
            </a:extLst>
          </p:cNvPr>
          <p:cNvSpPr/>
          <p:nvPr/>
        </p:nvSpPr>
        <p:spPr bwMode="auto">
          <a:xfrm>
            <a:off x="8408905" y="3717032"/>
            <a:ext cx="615493" cy="181379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 정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32EFB78-0058-1FF1-0148-252D563B6DA7}"/>
              </a:ext>
            </a:extLst>
          </p:cNvPr>
          <p:cNvCxnSpPr>
            <a:cxnSpLocks/>
            <a:endCxn id="64" idx="1"/>
          </p:cNvCxnSpPr>
          <p:nvPr/>
        </p:nvCxnSpPr>
        <p:spPr bwMode="auto">
          <a:xfrm flipV="1">
            <a:off x="6528466" y="3807722"/>
            <a:ext cx="1880439" cy="273504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82373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7834C-F510-259F-C317-2655DE46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BD75B3-73F6-9FEF-308C-3A640C963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92700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등록서류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기본 등록서류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신분증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통장사본 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가맹점당 최대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100KB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초과할 수 없음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확장자는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png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jpeg, pdf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등록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선택 및 드래그 기능으로 대량 등록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비고란을 통하여 첨부서류 삭제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2DA583EB-80CD-FE36-1C9D-A2CAD3DCC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등록서류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63C61D4-571B-E29A-0FAB-D09CB4363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E19622A-C38C-E312-3F71-8BD5B3AB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2A46F15-B607-BC70-4BC7-6BC014E47D68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8E7C6B4-4F63-21FF-006C-8E2375D88F7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393A86-40FF-89AB-5C71-7FC76EE23CF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2A2CA5-91C6-CE4C-BBD6-4B6E5EA67E2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E2A505-6A72-92FB-006F-E6AC2F15CBB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114AF7-BB43-BB44-2767-2C33AFBE5FF2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6CDC0C-44C5-098C-861B-54F5D7A43AA6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0A18E-8D57-2406-D405-E1ED61FC6EA7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DB3090-1AA7-AFE0-F5F5-2869763DF07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DF4E29-7D39-12DB-46EE-9B2460AE7624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738FF0-2210-E604-8929-4C90A9EE3530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6E3CBF-8417-592C-041B-B983B627535E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545C35-3623-DB28-6483-E48F70BB56BF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AC6C66-8A78-7D37-590C-21316A9A93BE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09BC810-0FCA-BA8E-79FB-96E16038B7A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9F1A53-5E84-C5A4-259F-300FE2391765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DE2BB-E8C0-2B14-A4D6-BDACA737585F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17646-7A5F-A419-E4C0-914C7694213F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5C0F0-5D14-B183-0C64-BE1F7E004C5E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1666D-8CBF-AD09-4F0B-1252A81BF33D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26880-54BD-6DCD-DE96-45AB400DF298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C495BB4-47F6-AF85-DB0D-53B437F3F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9281E1-F508-1E54-9821-C472209873B5}"/>
              </a:ext>
            </a:extLst>
          </p:cNvPr>
          <p:cNvSpPr/>
          <p:nvPr/>
        </p:nvSpPr>
        <p:spPr bwMode="auto">
          <a:xfrm>
            <a:off x="33987" y="2736913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543AA-D612-1694-E3CF-6FD5CC942CB6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D27C51-853F-E484-1CD8-724707046483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상세보기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72B75-D5F1-9838-BFE1-F958C5BB1F3E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F5FB48-26C6-7308-39F6-B2C03B45E556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99F6F6-6DA0-65ED-7141-E2735A4A5FE2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0B3B1C1-A8F3-02B4-4482-257DB66D1E8A}"/>
              </a:ext>
            </a:extLst>
          </p:cNvPr>
          <p:cNvSpPr/>
          <p:nvPr/>
        </p:nvSpPr>
        <p:spPr bwMode="auto">
          <a:xfrm>
            <a:off x="183622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D0313F5-E32C-7F4F-0DC7-570FAB6CEAE7}"/>
              </a:ext>
            </a:extLst>
          </p:cNvPr>
          <p:cNvSpPr/>
          <p:nvPr/>
        </p:nvSpPr>
        <p:spPr bwMode="auto">
          <a:xfrm>
            <a:off x="3387689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정산정보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7FCC572-1F8C-0AD0-F64C-9F6BEE351A7E}"/>
              </a:ext>
            </a:extLst>
          </p:cNvPr>
          <p:cNvSpPr/>
          <p:nvPr/>
        </p:nvSpPr>
        <p:spPr bwMode="auto">
          <a:xfrm>
            <a:off x="6448862" y="2304209"/>
            <a:ext cx="1104056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등록서류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EB6275-127E-38A2-32C7-A3CC331C356A}"/>
              </a:ext>
            </a:extLst>
          </p:cNvPr>
          <p:cNvSpPr/>
          <p:nvPr/>
        </p:nvSpPr>
        <p:spPr bwMode="auto">
          <a:xfrm>
            <a:off x="4928463" y="2298365"/>
            <a:ext cx="988837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수수료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BAC75A-8C6E-39B8-8F15-9761CF53A078}"/>
              </a:ext>
            </a:extLst>
          </p:cNvPr>
          <p:cNvSpPr/>
          <p:nvPr/>
        </p:nvSpPr>
        <p:spPr bwMode="auto">
          <a:xfrm>
            <a:off x="6408284" y="2258008"/>
            <a:ext cx="1187282" cy="37065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7D011F-AA57-D995-A0B6-72027DFAECED}"/>
              </a:ext>
            </a:extLst>
          </p:cNvPr>
          <p:cNvSpPr txBox="1"/>
          <p:nvPr/>
        </p:nvSpPr>
        <p:spPr>
          <a:xfrm>
            <a:off x="5807968" y="2092883"/>
            <a:ext cx="790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/>
              <a:t>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603DAB9-65DC-99A0-B3E6-F64FAD28C1BA}"/>
              </a:ext>
            </a:extLst>
          </p:cNvPr>
          <p:cNvSpPr/>
          <p:nvPr/>
        </p:nvSpPr>
        <p:spPr bwMode="auto">
          <a:xfrm>
            <a:off x="1793432" y="2717551"/>
            <a:ext cx="5761638" cy="3552084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ABD633-8466-0762-3D48-1A8AD34BC7E4}"/>
              </a:ext>
            </a:extLst>
          </p:cNvPr>
          <p:cNvSpPr/>
          <p:nvPr/>
        </p:nvSpPr>
        <p:spPr bwMode="auto">
          <a:xfrm>
            <a:off x="6922130" y="6331703"/>
            <a:ext cx="630788" cy="19364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 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1AA89E-2384-EA57-396E-F218B12F33F1}"/>
              </a:ext>
            </a:extLst>
          </p:cNvPr>
          <p:cNvSpPr/>
          <p:nvPr/>
        </p:nvSpPr>
        <p:spPr bwMode="auto">
          <a:xfrm>
            <a:off x="1915240" y="5531221"/>
            <a:ext cx="5530589" cy="634083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272F37C-FC24-26A9-9EA7-D740AC39164F}"/>
              </a:ext>
            </a:extLst>
          </p:cNvPr>
          <p:cNvSpPr/>
          <p:nvPr/>
        </p:nvSpPr>
        <p:spPr bwMode="auto">
          <a:xfrm>
            <a:off x="1999426" y="5707091"/>
            <a:ext cx="5250350" cy="259095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선택 및 드래그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E03569F-B9CC-417E-F48E-C32C02CCF61B}"/>
              </a:ext>
            </a:extLst>
          </p:cNvPr>
          <p:cNvSpPr/>
          <p:nvPr/>
        </p:nvSpPr>
        <p:spPr bwMode="auto">
          <a:xfrm>
            <a:off x="5422575" y="2842870"/>
            <a:ext cx="2002865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용량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100 KB / 58.3 KB      58.3%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B9BD916-52CF-33D4-9FEB-C504C4D38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66918"/>
              </p:ext>
            </p:extLst>
          </p:nvPr>
        </p:nvGraphicFramePr>
        <p:xfrm>
          <a:off x="1914106" y="3188226"/>
          <a:ext cx="5530590" cy="2191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6118">
                  <a:extLst>
                    <a:ext uri="{9D8B030D-6E8A-4147-A177-3AD203B41FA5}">
                      <a16:colId xmlns:a16="http://schemas.microsoft.com/office/drawing/2014/main" val="3168746725"/>
                    </a:ext>
                  </a:extLst>
                </a:gridCol>
                <a:gridCol w="1106118">
                  <a:extLst>
                    <a:ext uri="{9D8B030D-6E8A-4147-A177-3AD203B41FA5}">
                      <a16:colId xmlns:a16="http://schemas.microsoft.com/office/drawing/2014/main" val="3772332066"/>
                    </a:ext>
                  </a:extLst>
                </a:gridCol>
                <a:gridCol w="1106118">
                  <a:extLst>
                    <a:ext uri="{9D8B030D-6E8A-4147-A177-3AD203B41FA5}">
                      <a16:colId xmlns:a16="http://schemas.microsoft.com/office/drawing/2014/main" val="2164521971"/>
                    </a:ext>
                  </a:extLst>
                </a:gridCol>
                <a:gridCol w="1106118">
                  <a:extLst>
                    <a:ext uri="{9D8B030D-6E8A-4147-A177-3AD203B41FA5}">
                      <a16:colId xmlns:a16="http://schemas.microsoft.com/office/drawing/2014/main" val="1643311221"/>
                    </a:ext>
                  </a:extLst>
                </a:gridCol>
                <a:gridCol w="1106118">
                  <a:extLst>
                    <a:ext uri="{9D8B030D-6E8A-4147-A177-3AD203B41FA5}">
                      <a16:colId xmlns:a16="http://schemas.microsoft.com/office/drawing/2014/main" val="4205647101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05568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🍳</a:t>
                      </a:r>
                      <a:endParaRPr lang="en-US" altLang="ko-KR" sz="2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Image1.jpg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011152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🍟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Image2.png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0281968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🍿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Image3.jpeg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3602677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🌭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Image4.pdf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6199440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🍕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Image5.pdf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15016851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🍔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Image6.pdf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KB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🗑️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7022285"/>
                  </a:ext>
                </a:extLst>
              </a:tr>
            </a:tbl>
          </a:graphicData>
        </a:graphic>
      </p:graphicFrame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46C174-1052-9D3F-A3CD-2C7488BE8C0C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043348-7F32-C9CC-1393-7441D70055CD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66EEB5-8C27-F9E1-C101-8D3E3FDE6B5A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8E34BE-01D2-B65B-53F7-1302072D50C5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ABF90-6C8A-95CB-16AB-47AB2855F6B9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57D590-71EF-D212-DB82-91441C2B12C6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775C28-6075-5FD9-2CB6-2EE3205311B6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684184-BFE1-B3A7-EAE8-73E899B28CDC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25F66E-1C01-DCD2-5E7F-42CC1A8C83AC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BD39B-6B91-A2E0-63C9-8A7970282261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57330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A18A-FCF1-5B8D-4E9F-EED6E13C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ACE08CC-BEC4-4F78-C4B4-B134E0FF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10101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 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기간별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최대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일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딜러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셀러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벤더 영업점별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영업점별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조회시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목록 엑셀 다운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조회시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CAT_ID 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대표자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연락처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시리얼넘버로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세부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5BF27701-D17A-9EC2-5213-739478330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목록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단말기 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2C90186-3BEB-DD3B-92AF-42448AE86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CE295DC-9D7F-85A1-908A-A9DAB843E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895F675-68EB-36A8-5B83-ABD337FFD6E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CFB595B-3653-D690-3A44-725CE8B3E5D7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131BDA4-70FF-71DE-220F-8F2A0B50A38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344384-4CAB-F9B4-AC35-430432EA1A9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97DEF2-753C-73EE-B8D0-FFDF83B5E979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167430-8958-69CF-CF14-E8FB866D3810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09370B-9FDE-2E5C-CA8D-15A61256660E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F97DAB-9990-A775-8F11-6E83DEDEEEC6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684A71-2E45-FBA5-B75F-BA442A6C095F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57AB02-8D05-B3E0-5CD1-77EE110AF575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AD25B1-79A9-B370-C703-B53EB806EC01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66482D-AF2A-989D-CAAE-679ED5377F1C}"/>
              </a:ext>
            </a:extLst>
          </p:cNvPr>
          <p:cNvSpPr txBox="1"/>
          <p:nvPr/>
        </p:nvSpPr>
        <p:spPr>
          <a:xfrm>
            <a:off x="132572" y="3255908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447A0C-AA5A-3599-B4DF-C45B85C46EDB}"/>
              </a:ext>
            </a:extLst>
          </p:cNvPr>
          <p:cNvSpPr txBox="1"/>
          <p:nvPr/>
        </p:nvSpPr>
        <p:spPr>
          <a:xfrm>
            <a:off x="420504" y="331157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EE90DB-D4B6-9057-4756-725F105C6125}"/>
              </a:ext>
            </a:extLst>
          </p:cNvPr>
          <p:cNvSpPr txBox="1"/>
          <p:nvPr/>
        </p:nvSpPr>
        <p:spPr>
          <a:xfrm>
            <a:off x="885496" y="330065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4277181-4188-2A03-3618-8972055D5690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1E866F-E2CA-7F12-9612-D57BE1DFFD7F}"/>
              </a:ext>
            </a:extLst>
          </p:cNvPr>
          <p:cNvSpPr txBox="1"/>
          <p:nvPr/>
        </p:nvSpPr>
        <p:spPr>
          <a:xfrm>
            <a:off x="971682" y="227723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F48C0-3DB8-D904-981C-A09BB0B7F65B}"/>
              </a:ext>
            </a:extLst>
          </p:cNvPr>
          <p:cNvSpPr txBox="1"/>
          <p:nvPr/>
        </p:nvSpPr>
        <p:spPr>
          <a:xfrm>
            <a:off x="246091" y="251382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👱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360DC-0DB9-1334-5D37-A896AF3034D8}"/>
              </a:ext>
            </a:extLst>
          </p:cNvPr>
          <p:cNvSpPr txBox="1"/>
          <p:nvPr/>
        </p:nvSpPr>
        <p:spPr>
          <a:xfrm>
            <a:off x="246091" y="274029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🧔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B12FB-AA02-1B7B-A80A-BFC7162A22B7}"/>
              </a:ext>
            </a:extLst>
          </p:cNvPr>
          <p:cNvSpPr txBox="1"/>
          <p:nvPr/>
        </p:nvSpPr>
        <p:spPr>
          <a:xfrm>
            <a:off x="246091" y="2978028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🧑‍🦰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단말기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2CE16-2038-9764-429F-DF77D619E940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CE928-5F09-4C25-3620-F8DF7E413081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B78955-43F9-5561-F6D4-ECE418A49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48A51A-5F05-6AD3-4FB5-4BE482EA13BA}"/>
              </a:ext>
            </a:extLst>
          </p:cNvPr>
          <p:cNvSpPr/>
          <p:nvPr/>
        </p:nvSpPr>
        <p:spPr bwMode="auto">
          <a:xfrm>
            <a:off x="33987" y="297829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C72947-62B6-CC8B-240B-168E2E37CB00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9A9638B-CE76-9C5C-45E1-F7EAE49C44BE}"/>
              </a:ext>
            </a:extLst>
          </p:cNvPr>
          <p:cNvSpPr/>
          <p:nvPr/>
        </p:nvSpPr>
        <p:spPr bwMode="auto">
          <a:xfrm>
            <a:off x="1703512" y="1834119"/>
            <a:ext cx="910676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단말기 관리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62A82-64CB-30E6-6154-75083CC9C1E9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96068E-2FF8-F181-33F8-C8E13767A5B3}"/>
              </a:ext>
            </a:extLst>
          </p:cNvPr>
          <p:cNvSpPr txBox="1"/>
          <p:nvPr/>
        </p:nvSpPr>
        <p:spPr>
          <a:xfrm>
            <a:off x="5558243" y="1337403"/>
            <a:ext cx="1126984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E531BC-8542-E3BF-5EC2-CA25C2CDFBE0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F7082B1-A875-C833-A2AF-72CB13576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2049"/>
              </p:ext>
            </p:extLst>
          </p:nvPr>
        </p:nvGraphicFramePr>
        <p:xfrm>
          <a:off x="1775741" y="3528812"/>
          <a:ext cx="5904434" cy="119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137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685730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86243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548825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862439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686447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803220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392018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839179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CAT_ID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Num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상태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개통일자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1047531087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신경준김치찌개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LC-7212S+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jco241101619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1047831583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맹주원된장찌개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LC-7351QN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Jco241138575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1047334263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 err="1">
                          <a:effectLst/>
                        </a:rPr>
                        <a:t>박규호순대국밥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LC-7351QN</a:t>
                      </a:r>
                    </a:p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jco241110839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해지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2026-01-10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29" name="그림 28">
            <a:extLst>
              <a:ext uri="{FF2B5EF4-FFF2-40B4-BE49-F238E27FC236}">
                <a16:creationId xmlns:a16="http://schemas.microsoft.com/office/drawing/2014/main" id="{45FA14DF-C2A5-F90B-F11D-210A3221F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4805361"/>
            <a:ext cx="311294" cy="252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6CA7965-C403-21BE-0F7B-4791964DD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4814692"/>
            <a:ext cx="305455" cy="252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E335ED7-068F-C8D5-AF03-1C3078011C9C}"/>
              </a:ext>
            </a:extLst>
          </p:cNvPr>
          <p:cNvSpPr txBox="1"/>
          <p:nvPr/>
        </p:nvSpPr>
        <p:spPr>
          <a:xfrm>
            <a:off x="4330808" y="477740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1F76B7C-1E36-8F10-4C0E-58C6359B3D12}"/>
              </a:ext>
            </a:extLst>
          </p:cNvPr>
          <p:cNvSpPr/>
          <p:nvPr/>
        </p:nvSpPr>
        <p:spPr bwMode="auto">
          <a:xfrm>
            <a:off x="4902744" y="260754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CBD3857-22AC-C5C5-2C79-8CA87EFAF306}"/>
              </a:ext>
            </a:extLst>
          </p:cNvPr>
          <p:cNvSpPr/>
          <p:nvPr/>
        </p:nvSpPr>
        <p:spPr bwMode="auto">
          <a:xfrm>
            <a:off x="3467633" y="2607545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제품명          ▼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FDA6D95-FBF5-9D17-9507-FDB1BE28054A}"/>
              </a:ext>
            </a:extLst>
          </p:cNvPr>
          <p:cNvSpPr/>
          <p:nvPr/>
        </p:nvSpPr>
        <p:spPr bwMode="auto">
          <a:xfrm>
            <a:off x="6329725" y="260754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AF4F607-F6D2-F3FC-8814-3840FF335952}"/>
              </a:ext>
            </a:extLst>
          </p:cNvPr>
          <p:cNvSpPr/>
          <p:nvPr/>
        </p:nvSpPr>
        <p:spPr bwMode="auto">
          <a:xfrm>
            <a:off x="6912954" y="2607545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39D53E-1D82-88AD-20AD-216C73EFC9E9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3858FCF-928F-5009-32B0-8D342CE54CD1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501CD0A-3887-B419-2F9A-84480FAC8BFD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FE154E-74F0-74DD-7A68-E9B5072CDF51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92C20-5E1E-B7BC-A9B2-CDB52CF03E1A}"/>
              </a:ext>
            </a:extLst>
          </p:cNvPr>
          <p:cNvSpPr txBox="1"/>
          <p:nvPr/>
        </p:nvSpPr>
        <p:spPr>
          <a:xfrm>
            <a:off x="413903" y="420349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6B7436-B786-853D-C885-164472B6064E}"/>
              </a:ext>
            </a:extLst>
          </p:cNvPr>
          <p:cNvSpPr txBox="1"/>
          <p:nvPr/>
        </p:nvSpPr>
        <p:spPr>
          <a:xfrm>
            <a:off x="125871" y="4157328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812AB6-DD67-99AB-D444-699FAD6BF8EA}"/>
              </a:ext>
            </a:extLst>
          </p:cNvPr>
          <p:cNvSpPr txBox="1"/>
          <p:nvPr/>
        </p:nvSpPr>
        <p:spPr>
          <a:xfrm>
            <a:off x="859002" y="41907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F6A470-14A2-F510-3DB6-87F3FA27FBD2}"/>
              </a:ext>
            </a:extLst>
          </p:cNvPr>
          <p:cNvSpPr txBox="1"/>
          <p:nvPr/>
        </p:nvSpPr>
        <p:spPr>
          <a:xfrm>
            <a:off x="122911" y="3822864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7D0B78-3269-5812-016C-79275E001A72}"/>
              </a:ext>
            </a:extLst>
          </p:cNvPr>
          <p:cNvSpPr txBox="1"/>
          <p:nvPr/>
        </p:nvSpPr>
        <p:spPr>
          <a:xfrm>
            <a:off x="410843" y="390215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293ABA-7B8A-439C-70F9-4909559310D7}"/>
              </a:ext>
            </a:extLst>
          </p:cNvPr>
          <p:cNvSpPr txBox="1"/>
          <p:nvPr/>
        </p:nvSpPr>
        <p:spPr>
          <a:xfrm>
            <a:off x="875835" y="3912373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75C29B-CDE9-CB25-A08B-A60993CEF92C}"/>
              </a:ext>
            </a:extLst>
          </p:cNvPr>
          <p:cNvSpPr txBox="1"/>
          <p:nvPr/>
        </p:nvSpPr>
        <p:spPr>
          <a:xfrm>
            <a:off x="407368" y="358341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227D8E-4CB1-27E9-BBED-F2AB672BD513}"/>
              </a:ext>
            </a:extLst>
          </p:cNvPr>
          <p:cNvSpPr txBox="1"/>
          <p:nvPr/>
        </p:nvSpPr>
        <p:spPr>
          <a:xfrm>
            <a:off x="881069" y="3593630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DCF8ED-C88B-C27A-4EFA-EDA4799FCE9A}"/>
              </a:ext>
            </a:extLst>
          </p:cNvPr>
          <p:cNvSpPr txBox="1"/>
          <p:nvPr/>
        </p:nvSpPr>
        <p:spPr>
          <a:xfrm>
            <a:off x="142389" y="3527556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A6D6DBF-EDCD-0E89-62EC-9776D028B632}"/>
              </a:ext>
            </a:extLst>
          </p:cNvPr>
          <p:cNvSpPr/>
          <p:nvPr/>
        </p:nvSpPr>
        <p:spPr bwMode="auto">
          <a:xfrm>
            <a:off x="1835936" y="314101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679751-4ABE-AE29-C784-19AB5C4F21A3}"/>
              </a:ext>
            </a:extLst>
          </p:cNvPr>
          <p:cNvSpPr/>
          <p:nvPr/>
        </p:nvSpPr>
        <p:spPr bwMode="auto">
          <a:xfrm>
            <a:off x="2983316" y="314096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155BC39-486C-2D8E-67F8-F5BAE2D0F578}"/>
              </a:ext>
            </a:extLst>
          </p:cNvPr>
          <p:cNvSpPr/>
          <p:nvPr/>
        </p:nvSpPr>
        <p:spPr bwMode="auto">
          <a:xfrm>
            <a:off x="4227872" y="314750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2FA4089-5ACB-1689-AB3E-29DD299BC199}"/>
              </a:ext>
            </a:extLst>
          </p:cNvPr>
          <p:cNvSpPr/>
          <p:nvPr/>
        </p:nvSpPr>
        <p:spPr bwMode="auto">
          <a:xfrm>
            <a:off x="5398843" y="314864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52ADCF6-9016-1B8B-4442-6A8BD19233FF}"/>
              </a:ext>
            </a:extLst>
          </p:cNvPr>
          <p:cNvSpPr/>
          <p:nvPr/>
        </p:nvSpPr>
        <p:spPr bwMode="auto">
          <a:xfrm>
            <a:off x="6528048" y="314864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C8857B1-833D-8798-5372-10EA6175724C}"/>
              </a:ext>
            </a:extLst>
          </p:cNvPr>
          <p:cNvCxnSpPr>
            <a:cxnSpLocks/>
          </p:cNvCxnSpPr>
          <p:nvPr/>
        </p:nvCxnSpPr>
        <p:spPr bwMode="auto">
          <a:xfrm>
            <a:off x="1731504" y="3076249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33881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643E-FFF7-BA28-AE70-9C260068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13321E-1C80-549E-A133-7488264CF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7282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內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검색어를 통해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연락처로 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통해 해당하는 영업점 목록 표시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해당하는 영업점에 한해 목록 엑셀 다운로드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22F743A6-BEDE-43E6-5881-9C4B8E252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대리점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327CF7D-2EEE-EB95-7E7B-0221441C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D574454-96A1-429B-3627-FC0710E4A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32F5301-6779-91FF-53F9-FB74E67F07B6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9B711BF-E8DA-048F-EBE2-F3C47D570D13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FD2213-367E-4051-1271-D804AFE2D67B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4730C8-2CAD-F7B6-777A-F5BC1503EB4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A90D6D-06EA-0B42-3FD2-56C32387602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49636F-B30D-073D-33FC-33B074ED3547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C99533-7493-694C-892D-F49233603C5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1C6AF5-0A5C-F051-9098-965A34F4F73F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EF4281-07BB-1DFC-61AA-EDE8D5514BE9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98F362-5FAF-7485-46BB-4A8A650ED409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CB26DB-1ECB-0203-EC65-B1264CEECD24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2E8476-1CF4-09F2-4D29-8D05F6F149E2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2E09A5-36C3-6212-62DF-D084E78E37D8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00F46-3B34-CE8A-4265-2C1568E20E17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255F4FB-90DD-604E-E113-C7DEB28ABC52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7DA6E7-320C-1407-7089-A3F80C134789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09DE505-3FAD-3909-1EFD-F8E01941D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9AC029-51B1-6F2D-95DD-5AA90097DE98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72AC89-2713-B9B6-83FF-7EA9C660DAC1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80D85B-CCE0-88BC-47A1-D0564C9F7B1D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정산내역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81971-E9EC-2753-8EB0-8E6283C33815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68C9B3-28F8-0F5F-C13D-EBEF5706CD45}"/>
              </a:ext>
            </a:extLst>
          </p:cNvPr>
          <p:cNvSpPr txBox="1"/>
          <p:nvPr/>
        </p:nvSpPr>
        <p:spPr>
          <a:xfrm>
            <a:off x="4401244" y="1337403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55823-D6B4-5ABE-AA41-0E057F8D57A4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1318F-1FF8-24FD-E011-78E3EDC9AEB5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CFD48-B6AF-CDF2-EB91-1259BE07F427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D90C9-28C3-8278-F946-2FC778198B1A}"/>
              </a:ext>
            </a:extLst>
          </p:cNvPr>
          <p:cNvSpPr txBox="1"/>
          <p:nvPr/>
        </p:nvSpPr>
        <p:spPr>
          <a:xfrm>
            <a:off x="5576151" y="1337403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6203BFA-1DDD-67F4-8CF3-4EB1502C9981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9388A56-69DA-AC9D-40DE-CC1AD0B3BB0F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5A598BB-BEC2-EFBC-32F8-9A87FF24295C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8251D-B62E-AFC7-4FD4-C723D2A402EE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7FC1124-820D-0516-649D-9B2D705E14CD}"/>
              </a:ext>
            </a:extLst>
          </p:cNvPr>
          <p:cNvSpPr/>
          <p:nvPr/>
        </p:nvSpPr>
        <p:spPr bwMode="auto">
          <a:xfrm>
            <a:off x="4902744" y="2624479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D57C34-CF93-612C-EF6A-96796ACD5D11}"/>
              </a:ext>
            </a:extLst>
          </p:cNvPr>
          <p:cNvSpPr/>
          <p:nvPr/>
        </p:nvSpPr>
        <p:spPr bwMode="auto">
          <a:xfrm>
            <a:off x="3467633" y="2624479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대리점명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041F365-9FC6-D7F0-5846-530FBBCA7A94}"/>
              </a:ext>
            </a:extLst>
          </p:cNvPr>
          <p:cNvSpPr/>
          <p:nvPr/>
        </p:nvSpPr>
        <p:spPr bwMode="auto">
          <a:xfrm>
            <a:off x="6329725" y="2624479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8E487C3-CE25-FFE2-43B4-06FF4155F003}"/>
              </a:ext>
            </a:extLst>
          </p:cNvPr>
          <p:cNvSpPr/>
          <p:nvPr/>
        </p:nvSpPr>
        <p:spPr bwMode="auto">
          <a:xfrm>
            <a:off x="6912954" y="2624479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32A1F3-AAFF-18D0-9E36-5F61DD347D21}"/>
              </a:ext>
            </a:extLst>
          </p:cNvPr>
          <p:cNvCxnSpPr>
            <a:cxnSpLocks/>
          </p:cNvCxnSpPr>
          <p:nvPr/>
        </p:nvCxnSpPr>
        <p:spPr bwMode="auto">
          <a:xfrm>
            <a:off x="1731505" y="4770949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4E33AA2B-8D9D-6212-3C6B-B8D7196B0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173513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47F3B07-C2C8-5265-8C88-952C38606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182844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BF653C-24E7-EE84-0BE7-C88341F40737}"/>
              </a:ext>
            </a:extLst>
          </p:cNvPr>
          <p:cNvSpPr txBox="1"/>
          <p:nvPr/>
        </p:nvSpPr>
        <p:spPr>
          <a:xfrm>
            <a:off x="4330808" y="614555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DF2591-A522-A598-A3F6-0C4D2E23762E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619191-63A6-7050-F615-DCC25C28E9D4}"/>
              </a:ext>
            </a:extLst>
          </p:cNvPr>
          <p:cNvSpPr/>
          <p:nvPr/>
        </p:nvSpPr>
        <p:spPr bwMode="auto">
          <a:xfrm>
            <a:off x="3335676" y="2553988"/>
            <a:ext cx="1589540" cy="41683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5465141-9F91-8D3F-8565-88C4E9C0E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357543"/>
              </p:ext>
            </p:extLst>
          </p:nvPr>
        </p:nvGraphicFramePr>
        <p:xfrm>
          <a:off x="1775741" y="4853789"/>
          <a:ext cx="5904437" cy="1248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657683265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725698317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수수료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35,000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5,300,000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88,000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1" i="0" u="none" strike="noStrike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20576B-2790-D9DC-E62D-E9F69BD4D86C}"/>
              </a:ext>
            </a:extLst>
          </p:cNvPr>
          <p:cNvSpPr/>
          <p:nvPr/>
        </p:nvSpPr>
        <p:spPr bwMode="auto">
          <a:xfrm>
            <a:off x="1895440" y="5040979"/>
            <a:ext cx="257047" cy="119633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422146-F1F3-4BA5-6DBE-946AE56FA7D1}"/>
              </a:ext>
            </a:extLst>
          </p:cNvPr>
          <p:cNvSpPr/>
          <p:nvPr/>
        </p:nvSpPr>
        <p:spPr bwMode="auto">
          <a:xfrm>
            <a:off x="6376469" y="5823385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157E5DF-EC2E-2C66-49CA-010F15995E7E}"/>
              </a:ext>
            </a:extLst>
          </p:cNvPr>
          <p:cNvSpPr/>
          <p:nvPr/>
        </p:nvSpPr>
        <p:spPr bwMode="auto">
          <a:xfrm>
            <a:off x="6374508" y="5516294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3BF6260-29B5-90BA-C90A-B97BB313E0AA}"/>
              </a:ext>
            </a:extLst>
          </p:cNvPr>
          <p:cNvSpPr/>
          <p:nvPr/>
        </p:nvSpPr>
        <p:spPr bwMode="auto">
          <a:xfrm>
            <a:off x="6374508" y="5185395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7CDECE-EEAE-5D7B-6879-045C4CA58CB2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9A965-D07D-F13D-FD5E-A702E2F6FD26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83542F-B954-469B-855C-3FFF8285F53D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01CDD1-CE83-E8D0-AF72-289B76D9C8C8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79CF87-E602-E89D-9A0F-1A7C5E36225F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EAF531-4CE8-7918-F9FC-2658B5168A3C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45C3BD-8B33-0F12-8EA6-2DA0308FDFD0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75F12B-FED0-7DD1-AF3D-30D3425979BC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145F5E-74E3-F3A4-8782-B2692EA870AF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8FA14BF-AA83-9EF6-0D8D-F3BCDFA67F9F}"/>
              </a:ext>
            </a:extLst>
          </p:cNvPr>
          <p:cNvSpPr/>
          <p:nvPr/>
        </p:nvSpPr>
        <p:spPr bwMode="auto">
          <a:xfrm>
            <a:off x="1835936" y="314101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0DF4425-0EAE-C55D-BCA0-615281C30C68}"/>
              </a:ext>
            </a:extLst>
          </p:cNvPr>
          <p:cNvSpPr/>
          <p:nvPr/>
        </p:nvSpPr>
        <p:spPr bwMode="auto">
          <a:xfrm>
            <a:off x="2983316" y="314096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41BD6FA-545C-8512-AC78-43D6FDF07ED1}"/>
              </a:ext>
            </a:extLst>
          </p:cNvPr>
          <p:cNvSpPr/>
          <p:nvPr/>
        </p:nvSpPr>
        <p:spPr bwMode="auto">
          <a:xfrm>
            <a:off x="4227872" y="314750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3B79A7B-FA8F-50DA-CDDD-0D6932BA644F}"/>
              </a:ext>
            </a:extLst>
          </p:cNvPr>
          <p:cNvSpPr/>
          <p:nvPr/>
        </p:nvSpPr>
        <p:spPr bwMode="auto">
          <a:xfrm>
            <a:off x="5398843" y="314864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EF1292A-45C8-86FF-7A8B-A1B31F3EE5DC}"/>
              </a:ext>
            </a:extLst>
          </p:cNvPr>
          <p:cNvSpPr/>
          <p:nvPr/>
        </p:nvSpPr>
        <p:spPr bwMode="auto">
          <a:xfrm>
            <a:off x="6528048" y="314864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07A8EFD-136D-F4A2-3087-C3FAB479FD34}"/>
              </a:ext>
            </a:extLst>
          </p:cNvPr>
          <p:cNvCxnSpPr>
            <a:cxnSpLocks/>
          </p:cNvCxnSpPr>
          <p:nvPr/>
        </p:nvCxnSpPr>
        <p:spPr bwMode="auto">
          <a:xfrm>
            <a:off x="1731504" y="3076249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39C07F1-921B-3986-6BE1-B7F5BEAE88AA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8FC2DDE-EA7E-43C8-5B16-37628195DE1A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4B5F5F7-2DA1-CCD2-54CC-155F7ACD7E8E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F2B9CD7-E0B0-99B9-BE06-7EDF9EF53732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9343D5D-6426-6BB9-A287-70AF23CEA886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83B514CF-357A-5620-5BD9-4CB8B015D779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621E392-8A4B-F807-0964-0BCF3EB3F56F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7FEB5F7-56EE-0FBA-4EB4-1204ECBECE25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2DA23103-631E-402B-E515-46E1CC6F0DB3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292D8A77-7033-5E64-A1EE-3F12272D60F0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41DEE8B-4533-8952-07D5-8980EE0977FB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070DF56-0BBA-4992-3F62-45D15DBA63C8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0BFC081-DAA1-1C24-A370-9DCFD49C2563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6CE4D24-2833-E1D2-113A-73505ECF6B29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466E17E-A66B-3264-4219-E6B4AE27FE94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B48BF45-5AF7-C716-FD31-CA7476618603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2DE9DE81-D5A9-EBB0-99D8-BC6B601D7AEE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66456D63-410B-F828-94FA-8389659EC210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54303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2FE4-F1F4-CE9F-9E75-5FACBA40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6ED42F-C1E9-72A3-5E50-20E291D6E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725472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영업점에 등록 된 가맹점에 대해 상세보기 제공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7561600-A8B4-E2FF-81DC-4705E5BEC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60925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대리점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0B50AC-3376-D19E-E402-412B1E55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66E81C4-0F7A-1004-A1C0-78ACDC74D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7984C18-E769-919D-958A-A8DA3958B916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9B1D1C2-2B6E-76A2-2562-1424DD8C31F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D2C7D7D-9E63-5FD6-5E86-1DBFAB74455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45101B-54EA-EDEB-322E-BA304DA7BAA9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A2F54C-A7FB-59EE-F7BC-585C5456BA68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41272C-3D51-D8F1-C409-6A456D293A46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767BFC-9BCE-23EE-73ED-667E0779454F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2B2B5B-3219-A9C5-E49D-C68B4B8447D0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BC3BA0-E89D-4055-69B7-5B76BDDFFB4C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A24985-5089-4963-A3C6-FD06126C53DF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C76734-4E88-7AFA-4EA7-A5A37710D3C1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D5652A-9DA2-C223-4D93-E659D38E0515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24A4E6-7117-5F6B-46B2-8DB1B28AAC7F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E92DE4-F48F-A54F-CFC3-8D08305E1695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86B7DA4-6419-D346-2539-793D020CF206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8E37BA-451D-39B8-EC8A-070B61C2A385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1EFCC35-87D2-DEB3-D3BB-5A133EFD7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F31F50-8F04-1AA2-2FF4-E54AE128C0DC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8A35EE-5219-45EB-47C4-D5699976ED6F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2178CF-03A9-6FBF-6D23-515A71D3408F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정산내역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7124B-87B2-EA11-2736-A2A462E185FB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2045A-D22C-2E4A-25BC-58464DC19431}"/>
              </a:ext>
            </a:extLst>
          </p:cNvPr>
          <p:cNvSpPr txBox="1"/>
          <p:nvPr/>
        </p:nvSpPr>
        <p:spPr>
          <a:xfrm>
            <a:off x="4401244" y="1337403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642C2-57E7-F175-3FA8-238A84C98A68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A4931-0042-6C7D-6199-229322AEEEA3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5EE20-B3D1-7D5F-ECBB-487BC0C86574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74434C-464E-D67E-2C39-3C66F854A49D}"/>
              </a:ext>
            </a:extLst>
          </p:cNvPr>
          <p:cNvSpPr txBox="1"/>
          <p:nvPr/>
        </p:nvSpPr>
        <p:spPr>
          <a:xfrm>
            <a:off x="5576151" y="1337403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A2D627-D351-79D5-2326-697A6B23638E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D671EF0-8D6D-2C28-FD90-DC60168EF324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7B2FCE-E9DA-8015-9EEE-B620BBB881EE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B1C2A87-1D69-7B2A-1AF7-2E871BF0966C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1D6F49C-9FA0-1692-76EC-FB8D44251006}"/>
              </a:ext>
            </a:extLst>
          </p:cNvPr>
          <p:cNvSpPr/>
          <p:nvPr/>
        </p:nvSpPr>
        <p:spPr bwMode="auto">
          <a:xfrm>
            <a:off x="4902744" y="2624479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2E500FB-6BEE-8CFF-510D-ED18C862FFA6}"/>
              </a:ext>
            </a:extLst>
          </p:cNvPr>
          <p:cNvSpPr/>
          <p:nvPr/>
        </p:nvSpPr>
        <p:spPr bwMode="auto">
          <a:xfrm>
            <a:off x="3467633" y="2624479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대리점명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F1B6F0A-1512-60F2-F8FA-6F0A774FDFE8}"/>
              </a:ext>
            </a:extLst>
          </p:cNvPr>
          <p:cNvSpPr/>
          <p:nvPr/>
        </p:nvSpPr>
        <p:spPr bwMode="auto">
          <a:xfrm>
            <a:off x="6329725" y="2624479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57916C0-1CDE-7603-F7ED-23812FFB8163}"/>
              </a:ext>
            </a:extLst>
          </p:cNvPr>
          <p:cNvSpPr/>
          <p:nvPr/>
        </p:nvSpPr>
        <p:spPr bwMode="auto">
          <a:xfrm>
            <a:off x="6912954" y="2624479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7FB6FC-2561-5705-D42E-7016E411AF74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BCE9E6-B26B-4CCF-1286-4D139D48B003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B78CF6-4705-5E96-DD07-A8BF20303B3E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053D3A-B970-1A0D-696A-686974B75F74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F05228-5920-CCC8-8ECF-34003F16A40E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7D3652-1AB2-C330-3AD9-82FDEB4A23A9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7528C8-6CFF-AEBA-F996-04CDCC2D378D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91C069-9399-B380-FAB1-AD2A315F91CD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14302D-3E40-729F-B1CC-41906B28A8DE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1FB336-EB24-AF75-B345-C30C1A44B477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9EAAA43-1810-CF2E-64F9-0E0E874EA5C9}"/>
              </a:ext>
            </a:extLst>
          </p:cNvPr>
          <p:cNvCxnSpPr>
            <a:cxnSpLocks/>
          </p:cNvCxnSpPr>
          <p:nvPr/>
        </p:nvCxnSpPr>
        <p:spPr bwMode="auto">
          <a:xfrm>
            <a:off x="1731505" y="4770949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DB18994-099A-DB6A-0042-F48E02CE1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173513"/>
            <a:ext cx="311294" cy="252000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E468084-0C91-4FAC-1571-CC3DBE315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182844"/>
            <a:ext cx="305455" cy="252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3EE0A1D-E4C1-4444-3055-53211BD9BD35}"/>
              </a:ext>
            </a:extLst>
          </p:cNvPr>
          <p:cNvSpPr txBox="1"/>
          <p:nvPr/>
        </p:nvSpPr>
        <p:spPr>
          <a:xfrm>
            <a:off x="4330808" y="614555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0680330E-B16C-01CA-135B-9C50648A9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707534"/>
              </p:ext>
            </p:extLst>
          </p:nvPr>
        </p:nvGraphicFramePr>
        <p:xfrm>
          <a:off x="1775741" y="4853789"/>
          <a:ext cx="5904437" cy="1248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657683265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725698317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수수료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35,000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5,300,000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88,000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1" i="0" u="none" strike="noStrike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E375979-EA5C-9AFE-8348-C5AF296F95C7}"/>
              </a:ext>
            </a:extLst>
          </p:cNvPr>
          <p:cNvSpPr/>
          <p:nvPr/>
        </p:nvSpPr>
        <p:spPr bwMode="auto">
          <a:xfrm>
            <a:off x="6376469" y="5823385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8130DC9-8E3E-8D17-99B3-B0667C11168E}"/>
              </a:ext>
            </a:extLst>
          </p:cNvPr>
          <p:cNvSpPr/>
          <p:nvPr/>
        </p:nvSpPr>
        <p:spPr bwMode="auto">
          <a:xfrm>
            <a:off x="6374508" y="5516294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EF08A0E-CB7E-4864-69EC-587D1EBC65E0}"/>
              </a:ext>
            </a:extLst>
          </p:cNvPr>
          <p:cNvSpPr/>
          <p:nvPr/>
        </p:nvSpPr>
        <p:spPr bwMode="auto">
          <a:xfrm>
            <a:off x="6374508" y="5185395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696819C-D363-D53C-B8CD-471D0A126250}"/>
              </a:ext>
            </a:extLst>
          </p:cNvPr>
          <p:cNvSpPr/>
          <p:nvPr/>
        </p:nvSpPr>
        <p:spPr bwMode="auto">
          <a:xfrm>
            <a:off x="1835936" y="314101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A5ABAD6-19AC-3B54-BE9D-584574624640}"/>
              </a:ext>
            </a:extLst>
          </p:cNvPr>
          <p:cNvSpPr/>
          <p:nvPr/>
        </p:nvSpPr>
        <p:spPr bwMode="auto">
          <a:xfrm>
            <a:off x="2983316" y="314096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1F963012-F72E-C2EB-CAB3-E591E8B5A754}"/>
              </a:ext>
            </a:extLst>
          </p:cNvPr>
          <p:cNvSpPr/>
          <p:nvPr/>
        </p:nvSpPr>
        <p:spPr bwMode="auto">
          <a:xfrm>
            <a:off x="4227872" y="314750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E674F9BB-209B-91CB-973E-E9F6FB8B47BE}"/>
              </a:ext>
            </a:extLst>
          </p:cNvPr>
          <p:cNvSpPr/>
          <p:nvPr/>
        </p:nvSpPr>
        <p:spPr bwMode="auto">
          <a:xfrm>
            <a:off x="5398843" y="314864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288C47A4-585B-0AB6-85AF-F8C3AAEF3C01}"/>
              </a:ext>
            </a:extLst>
          </p:cNvPr>
          <p:cNvSpPr/>
          <p:nvPr/>
        </p:nvSpPr>
        <p:spPr bwMode="auto">
          <a:xfrm>
            <a:off x="6528048" y="314864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DEAECF0-1DDF-BC08-5D9D-7D6EF239DFAA}"/>
              </a:ext>
            </a:extLst>
          </p:cNvPr>
          <p:cNvCxnSpPr>
            <a:cxnSpLocks/>
          </p:cNvCxnSpPr>
          <p:nvPr/>
        </p:nvCxnSpPr>
        <p:spPr bwMode="auto">
          <a:xfrm>
            <a:off x="1731504" y="3076249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85B5954-F9F1-1EEF-CE52-42EFBE42CD67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EF72A0C-5CEC-451A-F00E-8EB2EDF90363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D511818-8FD6-FC27-1660-AA8056620694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D1D80FC7-8089-DEAA-66B3-3DA146606F56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6A2F466-7DF7-7489-AFEB-984CD9733560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D5B132E-78AA-1DC6-6C3E-A78CE656E67D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4C30B73-8740-2F69-7BF2-F750549585EA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E61179EE-6407-7087-4604-2C490C080D42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600019C-DCEB-FAFA-D104-9AAA4C2EBFAA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522D9941-A734-C88A-5644-DE5D0923A50F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A1C20D36-3091-925C-6636-F1CCA1847A92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6AA59BB-C62F-85CF-2A82-7D46CE120285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A3B1C78A-5F50-5EB6-054B-1ECB757C8200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7A0FC47-6D0B-A013-F614-B6F1B277D439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63131ADD-E957-8227-A980-3797E7EF3BCF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76353E5-65CB-CD24-930F-D4F7CB4BF308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3D5267D-38D2-91F6-1634-BCCAF53106B8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EBC2CFE-8779-2C7E-4B02-D8095FCD2C65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791E97-188F-9538-DE7E-51BE1EFEC40E}"/>
              </a:ext>
            </a:extLst>
          </p:cNvPr>
          <p:cNvSpPr/>
          <p:nvPr/>
        </p:nvSpPr>
        <p:spPr bwMode="auto">
          <a:xfrm>
            <a:off x="6952209" y="5778309"/>
            <a:ext cx="701666" cy="3741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33E461-8FD5-C613-7C1C-8BB2DA28732B}"/>
              </a:ext>
            </a:extLst>
          </p:cNvPr>
          <p:cNvSpPr txBox="1"/>
          <p:nvPr/>
        </p:nvSpPr>
        <p:spPr>
          <a:xfrm>
            <a:off x="7088642" y="5882400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</p:spTree>
    <p:extLst>
      <p:ext uri="{BB962C8B-B14F-4D97-AF65-F5344CB8AC3E}">
        <p14:creationId xmlns:p14="http://schemas.microsoft.com/office/powerpoint/2010/main" val="898155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8ADC-9D00-65C7-66F2-D24C48F1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3F64A9-F4DC-D3F0-885F-EC0038238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4575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일자 별 영업점 정산 상세내역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제공되는 수수료는 상위 영업점에서 하위 영업점은 전부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 영업점에 대한 수수료는 하위에서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직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상위만 확인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(Ex.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에이전시는 총판의 제공수수료만 확인 가능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계산법</a:t>
                      </a: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계산 수식은 </a:t>
                      </a: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ROUNDDOWN)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결제금액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가맹점 실 지급액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=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–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매출액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=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 영업점 수수료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&lt;Ex. 132,000(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– 87,000(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= 45,000(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총판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PG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카드사</a:t>
                      </a:r>
                      <a:r>
                        <a:rPr lang="en-US" altLang="ko-KR" sz="80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)&gt;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E8AF9F29-3C53-F9D6-7BBE-D2D7FF67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9C327C9-7678-B528-0789-6BC6FE7C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15A89AF-9F58-2D52-7281-3F56E0A6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4EC468-B1F0-D114-929D-3C0836CCD1EB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2A4A8FD-2055-6F9A-D50E-1E7550CFE56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3840BC0-42A6-F5D0-54DA-7EE077AC84C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C71B04-E4A1-9D71-CE80-D2FED746DF2E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C7963-5636-84EA-8469-7751998278B8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대리점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A769E1-C1E1-ECFD-B021-7EEE3EEA9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72055A-8926-D81A-FF71-66A0C8CB2CBA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95DF9D-0D23-828E-43E3-C447835883AF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01B64-D9BE-0459-9E27-BF4D231C4CC6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603AC3-EF27-4BA4-588F-CB0217AC5FFD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75AA9F5-660F-6AC5-738B-730362007273}"/>
              </a:ext>
            </a:extLst>
          </p:cNvPr>
          <p:cNvSpPr/>
          <p:nvPr/>
        </p:nvSpPr>
        <p:spPr bwMode="auto">
          <a:xfrm>
            <a:off x="1836223" y="2298365"/>
            <a:ext cx="1227754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영업사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정산내역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6E8D8851-A9B9-6237-C709-6E9AD24CC3AD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2171DB-FF42-0823-A227-AF12A8F9A926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8279C-20EE-5BFF-F07A-AFD118E11702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AA9F6-D956-BAB5-F311-A0F2966BB7F7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609D0F-062D-6549-2D37-3495982A2BA1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5C1552-40BF-E8DC-915C-A45295F5E8BF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D16AB-03D3-2106-B6DA-7FADDD4BBAC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ABD75E-DC21-0B6E-37A3-F263A5522CC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581539-4965-D106-CB4F-B1D19A66A2B9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0C9518-BCD7-F9E8-F1EB-FB14D9CD78A3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EF1358-E17D-0122-105A-9B2D81841B8F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B2DF81-4267-F815-7903-5ED61D1A442A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F3D81B-3460-6382-2975-7299BCD6629C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F368896-1980-F09C-4DF7-BAAEB9CEA525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C23EE6-DA99-E08A-784F-5E8580E33BE1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9FE8EC7-F1E5-F2CB-A47C-9699D4F272AD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0478314-C05A-6FA4-81F0-426469657C7C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783E3F-E8EA-EA1A-53EF-F286AAAF5C3B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431BB43-70E4-9B27-12B9-DCF190F51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24858"/>
              </p:ext>
            </p:extLst>
          </p:nvPr>
        </p:nvGraphicFramePr>
        <p:xfrm>
          <a:off x="1768593" y="2708920"/>
          <a:ext cx="5839575" cy="7301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644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907409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77777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777779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12964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83334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8333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83333">
                  <a:extLst>
                    <a:ext uri="{9D8B030D-6E8A-4147-A177-3AD203B41FA5}">
                      <a16:colId xmlns:a16="http://schemas.microsoft.com/office/drawing/2014/main" val="3418990822"/>
                    </a:ext>
                  </a:extLst>
                </a:gridCol>
              </a:tblGrid>
              <a:tr h="121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취소건수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3,030,000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된장찌개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미역국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57E4492F-C39F-F5E9-3AA2-C837B4E55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61" y="6146801"/>
            <a:ext cx="311294" cy="25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8EA530-0318-74AC-105E-F6030EDB3B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671" y="6156132"/>
            <a:ext cx="305455" cy="25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9904EF-34E9-14BA-B33B-BD3E2453DFEF}"/>
              </a:ext>
            </a:extLst>
          </p:cNvPr>
          <p:cNvSpPr txBox="1"/>
          <p:nvPr/>
        </p:nvSpPr>
        <p:spPr>
          <a:xfrm>
            <a:off x="4348599" y="611884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63A7AEA-8994-1AFD-8A39-C3E407FCE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653506"/>
              </p:ext>
            </p:extLst>
          </p:nvPr>
        </p:nvGraphicFramePr>
        <p:xfrm>
          <a:off x="1767569" y="4293096"/>
          <a:ext cx="5839576" cy="8272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584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61909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72471">
                  <a:extLst>
                    <a:ext uri="{9D8B030D-6E8A-4147-A177-3AD203B41FA5}">
                      <a16:colId xmlns:a16="http://schemas.microsoft.com/office/drawing/2014/main" val="3972807343"/>
                    </a:ext>
                  </a:extLst>
                </a:gridCol>
                <a:gridCol w="966173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8748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874848">
                  <a:extLst>
                    <a:ext uri="{9D8B030D-6E8A-4147-A177-3AD203B41FA5}">
                      <a16:colId xmlns:a16="http://schemas.microsoft.com/office/drawing/2014/main" val="425267620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</a:tblGrid>
              <a:tr h="1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하위영업점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실 지급액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79,091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7,909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2,868,000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10,545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3,824,000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65,909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6,591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2,390,000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2EB2699F-0796-87E2-C3EB-F11A6D5AF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73590"/>
              </p:ext>
            </p:extLst>
          </p:nvPr>
        </p:nvGraphicFramePr>
        <p:xfrm>
          <a:off x="1767569" y="3465882"/>
          <a:ext cx="5839580" cy="8272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39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972807343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425267620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1736544184"/>
                    </a:ext>
                  </a:extLst>
                </a:gridCol>
              </a:tblGrid>
              <a:tr h="1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총판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벤더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5F3F399-815E-B6EA-1532-D1C838B4B816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51F13B-20B2-58E8-4C65-A9B8703E8F5E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FB3AB-F145-B33A-923B-3593DFC3B745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6C2495-9336-332D-F55D-97E46BF2EE60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7432C8-61BE-A9FA-EF83-510623A6E6D2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A5F5EB-E4A6-0730-7884-3C52C4822CB2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54BA4B-5FA8-7609-F1CE-87223F6F9CD7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EDF0D0-AEA3-42B0-C182-503BCFF7D7DF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E8D59C-6B26-E16C-76A0-FAC3721A8932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99739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EFAB-11A0-088A-970B-E9CFAF28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C78F7A-67B8-5A57-059D-E4B2624DF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66772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內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검색어를 통해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연락처로 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통해 해당하는 영업점 목록 표시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해당하는 영업점에 한해 목록 엑셀 다운로드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DA984617-73DF-FAA0-23F8-8FF4B2EEE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에이전시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BDF720D-0846-7378-899D-F36C1503C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CCA23A9-DA47-27FC-E9E5-CD6AEE70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235869E-CD23-696A-D6C1-9BF0EB67AAE6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19E0D6F-AB75-A239-9941-85B9F1F1F47B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4C3D3F-5ADE-E9B4-0E52-7FC962B77D7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CE9A8F-A7D9-A099-1A9F-A368D203180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44C148-38D5-2C87-7DF1-F4335330AAFE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BFAF7F-C3B2-6B92-A9E9-6EE9767CA0C1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6B0C85-D84E-BB89-1648-20E1569DD6E2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16B2E1-BBA5-B856-3EE7-81F7B30422C3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22FFF7-047B-67DE-09D9-2D791FFE96CE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27744D-9CE4-A72C-A5DD-1ECC2A6C371E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61809E-8829-9EEA-67E7-FC0B72AF5799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27B1E7-A6E3-CA65-3727-6A3DD1A610EB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6F6CAD-882C-C43B-918E-6291313AE318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D66A85-4AED-1CB0-D1F8-AD533429FA19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F8B110D-8C5D-AF37-1E4C-C894E0104BAD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69E726-5284-2C7E-0A38-8FA6E43B08A9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ED1FF8-B9D2-61C9-9299-F9E91363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190E95-5352-B336-E9DE-B50DC7BB2286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54BE55-A06A-3ED3-104B-62C503610DD3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0016B00-98E0-C253-4A95-8BEDC3FA7452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정산내역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DAD15-9F86-D516-3F85-058B0FF6DD7D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5BCC35-44EB-E2EA-62FF-E12FE7C55818}"/>
              </a:ext>
            </a:extLst>
          </p:cNvPr>
          <p:cNvSpPr txBox="1"/>
          <p:nvPr/>
        </p:nvSpPr>
        <p:spPr>
          <a:xfrm>
            <a:off x="4401244" y="1337403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59279-3CCB-907E-A71C-E705701CF376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2087EE-53FF-F8AB-AC53-7595E89CAEAD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541747-F3BF-4150-CD75-E47E15263EF7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3A5C5F-0DA5-AB7D-E6A1-D854C5A1498D}"/>
              </a:ext>
            </a:extLst>
          </p:cNvPr>
          <p:cNvSpPr txBox="1"/>
          <p:nvPr/>
        </p:nvSpPr>
        <p:spPr>
          <a:xfrm>
            <a:off x="5576151" y="1337403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A72819-4449-2683-8044-E7C8440497FC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3114691-1A1C-17EB-29AC-6D2493817EA5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B2AF04F-F4F9-8106-BE55-00A0FD38D35E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3D5B51E-C946-8772-1D9C-DF4125EA159B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C77D56E-649B-47F6-C55F-30C990FD5D8C}"/>
              </a:ext>
            </a:extLst>
          </p:cNvPr>
          <p:cNvSpPr/>
          <p:nvPr/>
        </p:nvSpPr>
        <p:spPr bwMode="auto">
          <a:xfrm>
            <a:off x="4902744" y="2633188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973FF83-65BC-E032-F684-F37FA62C49AF}"/>
              </a:ext>
            </a:extLst>
          </p:cNvPr>
          <p:cNvSpPr/>
          <p:nvPr/>
        </p:nvSpPr>
        <p:spPr bwMode="auto">
          <a:xfrm>
            <a:off x="3467633" y="2633188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046544-7579-DE81-709C-989D0AADEE2C}"/>
              </a:ext>
            </a:extLst>
          </p:cNvPr>
          <p:cNvSpPr/>
          <p:nvPr/>
        </p:nvSpPr>
        <p:spPr bwMode="auto">
          <a:xfrm>
            <a:off x="6329725" y="2633188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64AA605-78FA-BA3D-07A8-C7A8FDD65CC8}"/>
              </a:ext>
            </a:extLst>
          </p:cNvPr>
          <p:cNvSpPr/>
          <p:nvPr/>
        </p:nvSpPr>
        <p:spPr bwMode="auto">
          <a:xfrm>
            <a:off x="6912954" y="2633188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8E1E73-71C1-4B70-49B4-0087E6B0A824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C3A63C77-BABD-3F89-A177-0D885348B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245521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5EEACA8-8E73-3225-B76F-3F6C28E36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254852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04760FF-690D-2AF4-EB6E-D595E569F7D9}"/>
              </a:ext>
            </a:extLst>
          </p:cNvPr>
          <p:cNvSpPr txBox="1"/>
          <p:nvPr/>
        </p:nvSpPr>
        <p:spPr>
          <a:xfrm>
            <a:off x="4330808" y="621756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72247E6-B348-F8F9-196B-D67A3CD66747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5D0A32-E622-45F7-8DF5-015839396E87}"/>
              </a:ext>
            </a:extLst>
          </p:cNvPr>
          <p:cNvSpPr/>
          <p:nvPr/>
        </p:nvSpPr>
        <p:spPr bwMode="auto">
          <a:xfrm>
            <a:off x="3335676" y="2562697"/>
            <a:ext cx="1589540" cy="41683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C971B50-DC4F-E496-B529-0DD44A406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65406"/>
              </p:ext>
            </p:extLst>
          </p:nvPr>
        </p:nvGraphicFramePr>
        <p:xfrm>
          <a:off x="1775741" y="4879992"/>
          <a:ext cx="5904437" cy="1248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657683265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725698317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수수료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5,300,000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88,000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1" i="0" u="none" strike="noStrike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82ACDCD-9046-DD98-E9D2-7C2F2413E04A}"/>
              </a:ext>
            </a:extLst>
          </p:cNvPr>
          <p:cNvSpPr/>
          <p:nvPr/>
        </p:nvSpPr>
        <p:spPr bwMode="auto">
          <a:xfrm>
            <a:off x="1919536" y="5040979"/>
            <a:ext cx="257047" cy="119633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FC45578-A4CF-DF33-7EA0-73E7BA52FCF7}"/>
              </a:ext>
            </a:extLst>
          </p:cNvPr>
          <p:cNvSpPr/>
          <p:nvPr/>
        </p:nvSpPr>
        <p:spPr bwMode="auto">
          <a:xfrm>
            <a:off x="6376469" y="5849588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4BCECC2-DD10-A7D0-CE6E-C5BD16AAF35C}"/>
              </a:ext>
            </a:extLst>
          </p:cNvPr>
          <p:cNvSpPr/>
          <p:nvPr/>
        </p:nvSpPr>
        <p:spPr bwMode="auto">
          <a:xfrm>
            <a:off x="6374508" y="5542497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5A9968A-287D-4A77-066C-3FE0721FEEF2}"/>
              </a:ext>
            </a:extLst>
          </p:cNvPr>
          <p:cNvSpPr/>
          <p:nvPr/>
        </p:nvSpPr>
        <p:spPr bwMode="auto">
          <a:xfrm>
            <a:off x="6374508" y="5211598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751790-BD75-8C9B-51F6-DA002081DEEF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C4713B-67AF-3F91-C4EA-E7067808DC09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967C63-BC48-BE00-7C75-0D1133B5BD75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A95B31-7AF9-B436-105A-E2F175EAD046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4A091E-CBAC-3096-CB0B-CE5F5CACFCDA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33FE8D-0AC2-9693-364F-4DB671EF09B5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E6C3F9-0635-9021-D4F4-FEC0017C4B46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20AB33-5834-DFB9-AF46-D1CBB0A989F1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1A7A56-81F5-CBA2-2D68-876C12B6ADB1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D053BD0-8308-E0DD-5A24-ADA95FDFD0A3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5F0469-D18D-8CBB-9401-673838F04A9C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EA6BD91-B860-6078-87AA-5EC3DC86B9C2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27869F3-7BF3-3100-B0A9-F255B390B23E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4B4D358-4D7E-69EE-DF0C-5472BAC19B98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ACBE54B-A6C8-5C0B-0664-412D03385F5E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D7AE699-A07F-20D9-4630-069CD9B5B0B3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A259999-C435-12F0-8427-F9CDADA9E1BF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71834EA-37DB-4CBD-7AEE-7814FEE61A02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BE3A80D9-BB41-1715-DBB9-3BFA87B9F39E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03ACD6E4-4030-387B-A532-909DCEA4F20A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A61657C-E5BE-019D-BF54-5E983F4FCD79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B77ADDD-3A0F-FE30-4717-F87D8E97429A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9B3EAEC-87AB-3CF3-7261-3014ADD28ABE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1C03C430-9EA8-F809-CA18-DE3FB5B56379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B686C15-890F-3737-4F38-38A7F6A96494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71A0C03-D19D-A0AF-7ABE-B9786EBB2B39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973A8AA0-4AE3-F8C2-1389-8150C564AD38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636EB08-D3F3-D3EA-AFE0-E383051A1EE5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96F370A-8867-663E-E975-770B7F16104E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B4977AB-49E6-E6EF-9CE6-A609FF5FE39A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7C897E6-6D03-BD12-3E59-BC035DBD41FE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0796C94-D5FE-917A-8CAA-C5769F379C18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2B6F847-DC1F-1321-CE1C-A181F78F3EFF}"/>
              </a:ext>
            </a:extLst>
          </p:cNvPr>
          <p:cNvCxnSpPr>
            <a:cxnSpLocks/>
          </p:cNvCxnSpPr>
          <p:nvPr/>
        </p:nvCxnSpPr>
        <p:spPr bwMode="auto">
          <a:xfrm>
            <a:off x="1739752" y="479715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63259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E5E2-8819-8DE6-733E-295CCCBF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7D5130-C167-6BC8-EBF9-030F94844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348087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영업점에 등록 된 가맹점에 대해 상세보기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 정산금액을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표출해야함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8DFCA554-205A-7165-FF7E-70A429FC9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" y="11068"/>
            <a:ext cx="63262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에이전시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F6E4474-0709-E866-F59C-135B22820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1745CC9-0618-18AA-7C65-6E803C576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13810F1-A054-F490-4C03-28A95B217E42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A4F46A2-1E97-4800-EF13-0455EE098343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976C3E8-36A7-8A73-3AFD-5238D9CE39F0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31FF2C-58D5-B46C-C3F2-7250AEB1BC85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648901-8DBC-F3D6-BFB5-184BC1FBA29F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A7B52-CC63-1BD6-10EC-D9B7642158F7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E890AB-F6A5-3035-86D4-9E90DB78AA5A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1E3D7-E381-88EA-BA8B-89F3C5033B3C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BA7550-8058-E17E-EB69-7F7E23431D57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7B5C82-9D2D-D824-C295-67929FE75130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CFF730-9A91-BE8A-AD11-ABABC9C6CBA9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301781-ED60-4655-2FA5-E6F92B759118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66195F-8C04-7F87-EE98-C250B1E1C786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E8CCB9-BCCD-E4DC-F1A4-2581ADC714E9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EBA2F7B-323E-E114-A2B6-913DE4CE7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3141D1-6368-30D2-A710-F3B479F252EB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A17E41-32B6-185B-91C3-674A555C5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910E2F-C5B5-3938-EDCD-D4B93833ABE0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ADE3DB-D08E-77B7-1303-04F5FEA638C6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F521F6F-5CBE-ECA8-5AAB-AB99DC117576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정산내역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43A34F-67C3-1149-73CE-6FDD5F63D502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EE333-23CC-9A2B-4B05-4384C3C28E5A}"/>
              </a:ext>
            </a:extLst>
          </p:cNvPr>
          <p:cNvSpPr txBox="1"/>
          <p:nvPr/>
        </p:nvSpPr>
        <p:spPr>
          <a:xfrm>
            <a:off x="4401244" y="1328694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27447A-A911-07AB-D224-38383292C59D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56F1F-89C3-4FB3-221F-AE93B8CBBFD1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E28003-F302-A8D6-87DF-FF491E8CDD00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4057AD-D8C4-27A2-6078-654F14BC8D31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E681582-1C36-0A0F-9749-457E0A88C3CF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CA73C50-BFF4-99F9-D8CB-53365ACD8F55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27649D4-C660-9824-37C0-C0D736955F79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3601BE6-90A6-E3FF-EFE9-A8CCD0E7C1FE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FC663C4-E048-5967-647E-0E2F2D58D940}"/>
              </a:ext>
            </a:extLst>
          </p:cNvPr>
          <p:cNvSpPr/>
          <p:nvPr/>
        </p:nvSpPr>
        <p:spPr bwMode="auto">
          <a:xfrm>
            <a:off x="4902744" y="2636912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8628D09-BD78-0582-0D15-6655182DB7D7}"/>
              </a:ext>
            </a:extLst>
          </p:cNvPr>
          <p:cNvSpPr/>
          <p:nvPr/>
        </p:nvSpPr>
        <p:spPr bwMode="auto">
          <a:xfrm>
            <a:off x="3467633" y="2636912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37F679-93A1-1C4A-583A-89956F92393D}"/>
              </a:ext>
            </a:extLst>
          </p:cNvPr>
          <p:cNvSpPr/>
          <p:nvPr/>
        </p:nvSpPr>
        <p:spPr bwMode="auto">
          <a:xfrm>
            <a:off x="6329725" y="2636912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84692-FFA6-DD4A-27B6-80A1BFC62A2E}"/>
              </a:ext>
            </a:extLst>
          </p:cNvPr>
          <p:cNvSpPr/>
          <p:nvPr/>
        </p:nvSpPr>
        <p:spPr bwMode="auto">
          <a:xfrm>
            <a:off x="6912954" y="2636912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9A26266-BA73-6D42-CFB9-D2294CBE51ED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DA6794AD-C367-8FF4-02CF-4CCB93931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239199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3A48779-FE8E-7A7D-E272-858AE16A4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248530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4600B40-60DE-1A2B-E649-72FB78E38D39}"/>
              </a:ext>
            </a:extLst>
          </p:cNvPr>
          <p:cNvSpPr txBox="1"/>
          <p:nvPr/>
        </p:nvSpPr>
        <p:spPr>
          <a:xfrm>
            <a:off x="4330808" y="6211245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99CDE-DF68-C039-BF79-C5D85220524D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214782F-885C-3EE4-CCE5-7D1A4E5F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651821"/>
              </p:ext>
            </p:extLst>
          </p:nvPr>
        </p:nvGraphicFramePr>
        <p:xfrm>
          <a:off x="1775741" y="4873670"/>
          <a:ext cx="5904437" cy="1248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657683265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725698317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대표자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연락처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수수료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신경준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010-0001-0002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맹주원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010-0002-0003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5,300,000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A-KOR1883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박규호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010-0003-0004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88,000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1" i="0" u="none" strike="noStrike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6EB9B73-15CC-6F8A-3A21-7C812C20679E}"/>
              </a:ext>
            </a:extLst>
          </p:cNvPr>
          <p:cNvSpPr/>
          <p:nvPr/>
        </p:nvSpPr>
        <p:spPr bwMode="auto">
          <a:xfrm>
            <a:off x="6376469" y="5843266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31DC6E-1F60-2488-8580-F6FC3CCB77BE}"/>
              </a:ext>
            </a:extLst>
          </p:cNvPr>
          <p:cNvSpPr/>
          <p:nvPr/>
        </p:nvSpPr>
        <p:spPr bwMode="auto">
          <a:xfrm>
            <a:off x="6969179" y="5775503"/>
            <a:ext cx="701666" cy="3741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242DF3-9B91-EB6B-9F37-F35F02F19558}"/>
              </a:ext>
            </a:extLst>
          </p:cNvPr>
          <p:cNvSpPr txBox="1"/>
          <p:nvPr/>
        </p:nvSpPr>
        <p:spPr>
          <a:xfrm>
            <a:off x="7105612" y="5879594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0FB14C3-D854-7977-E138-2D0271E26D67}"/>
              </a:ext>
            </a:extLst>
          </p:cNvPr>
          <p:cNvSpPr/>
          <p:nvPr/>
        </p:nvSpPr>
        <p:spPr bwMode="auto">
          <a:xfrm>
            <a:off x="6374508" y="5536175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3FB232D-8D82-896C-913B-47FB7B2D81B4}"/>
              </a:ext>
            </a:extLst>
          </p:cNvPr>
          <p:cNvSpPr/>
          <p:nvPr/>
        </p:nvSpPr>
        <p:spPr bwMode="auto">
          <a:xfrm>
            <a:off x="6374508" y="5205276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E2BD0C-5226-0388-E022-DA6CD1303356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D99A43-F368-9A24-7A23-CD47B3D5477D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D07BCF-AC00-DE15-BD8B-C8103F34D2DF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ABCF9A-1B9B-26A5-01A8-625634551A8F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2E6F80-0992-9211-0E02-066BAA79C83A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66CCD5-2ECB-7C7E-9411-01722181977E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91D171-1F0F-F68F-98B8-DCA99E2EB0DF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01C1AF-9552-14A4-AC6C-B0AA111CAB72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9F7957-3F50-5AD7-D07F-4229BC624245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CC65046-9E39-6013-E8C6-07AC85841955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B482FD8-FB30-D520-263A-C37260935580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B38626D-7C0D-970D-0B38-B7B0C8E853D1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51AA1E9-C590-FC3A-0F84-697C944F835D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5F99CC2-5D88-26E0-667E-BF8D89878EAB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B75D1A7-50FE-D5A9-038F-36B2AB9AE81C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56E6786-2688-9724-EC12-34D7D266DC23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A1B4731F-E608-EE56-F564-EB359305E092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30C08665-7120-6163-8FD8-5192C077E1AA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E3BBF5C-4CB6-0CFF-3A88-4F9D26E469F5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2FC02C3-271E-A8FA-786A-8D45763389E1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6CC42C3-912E-15D7-4B36-C9ACBD2BBDA2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E5D0403A-231C-01F8-9A9A-30B3C10401C4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A9001F-08B1-F106-81B6-1CA49F8D2ACC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D193FE7-5C95-8C62-DB6D-8471F2542140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1A9A4E0-0370-CACB-4A74-7E5818D6C390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A68D58F-077E-A554-95DC-91B649660124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9B21C6E-975B-6B4C-7617-B0B6D0D4898F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5D6C262-5AE0-8F5E-4A1D-4F9C3F69C598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C96BF10-C6CB-FB3D-33B2-61E6F76B5D69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F3C3EA2-167C-8BD5-6AA1-19013BD45E72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9DD35185-B14A-5B13-A806-E098A0AAD9CC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8A9962E-C080-3272-E4F5-922BEC3DF2A3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875779D-552A-1B9C-367E-C243CBB3E32D}"/>
              </a:ext>
            </a:extLst>
          </p:cNvPr>
          <p:cNvCxnSpPr>
            <a:cxnSpLocks/>
          </p:cNvCxnSpPr>
          <p:nvPr/>
        </p:nvCxnSpPr>
        <p:spPr bwMode="auto">
          <a:xfrm>
            <a:off x="1739752" y="479715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76502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15AD-744C-5895-91D3-45EA4E87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AC7D3F-59AC-1E2F-0EBC-4AA06A144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63660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일자 별 영업점 정산 상세내역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제공되는 수수료는 상위 영업점에서 하위 영업점은 전부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 영업점에 대한 수수료는 하위에서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직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“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상위만 확인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(Ex.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에이전시는 대리점의 제공수수료만 확인 가능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계산법</a:t>
                      </a: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계산 수식은 </a:t>
                      </a: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ROUNDDOWN)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결제금액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가맹점 실 지급액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=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–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매출액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=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 영업점 수수료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&lt;Ex. 132,000(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최종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– 69,000(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 = 63,000(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총판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대리점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상위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PG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카드사</a:t>
                      </a:r>
                      <a:r>
                        <a:rPr lang="en-US" altLang="ko-KR" sz="750" b="1" dirty="0">
                          <a:solidFill>
                            <a:srgbClr val="2121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)&gt;</a:t>
                      </a:r>
                      <a:endParaRPr lang="en-US" altLang="ko-KR" sz="7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7A1D54E-2718-F678-1E87-5EB91937C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정산내역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5A01130-772B-948B-BECB-92286A9B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4409ED8-CE57-37CE-4D42-0C189F510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C86D5EF-9224-05B4-A2BF-E71426C7FAA5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E0165DE-EE63-A4A4-0F6B-4366F2D78A1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724DC83-3AA8-C190-3C00-8A623F979E4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EE74B5-599A-33BA-51B5-1F78077561F4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94232-3B73-5A6B-FEA0-D9A68871BAF6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33ABFA-C154-C68B-4A5D-5600DD25A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E8336-6864-59D2-C6E8-3960933A1634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3CC3D92-C925-064A-7A9C-DDE7ABC38B94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58777D-D29F-52E7-D88D-F11A856B2FE7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BA4AD6-5D47-A92C-4CBE-FAEC6CCA6982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9AEE3ED-6060-ED79-DFC6-0FFD13C63E73}"/>
              </a:ext>
            </a:extLst>
          </p:cNvPr>
          <p:cNvSpPr/>
          <p:nvPr/>
        </p:nvSpPr>
        <p:spPr bwMode="auto">
          <a:xfrm>
            <a:off x="1836223" y="2298365"/>
            <a:ext cx="1227754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정산내역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62A9AD47-9C39-2498-E2C4-762C0D2DD462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698C1-FC63-9BF6-E50F-CDB807A1571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AA651C-D455-BF66-B528-9640A35E3C37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E3B9A-6680-8EED-274A-B88408C275A3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2F36D-A167-EAE5-0622-D806F59F9195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23DD24-7A2B-2C94-4AE7-A4462A0D3254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5FEC3B-A812-563F-AB8E-EB288B191E5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B84B23-8791-A59A-51E9-EC555C00A38E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D0FEB0-82E2-8544-A700-E77FACE56084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F4E187-E615-F33D-7F13-C52E13B8C38B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9A7580-B5E3-113E-FB50-75406A1B14BD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07B3F8-B3E9-919B-88BF-BB5BD446E598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32A3E5-8A44-99D1-2B55-8BBB1467A1BC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8B1B6FD-FBE0-C1D4-8416-CAC3212F41A5}"/>
              </a:ext>
            </a:extLst>
          </p:cNvPr>
          <p:cNvSpPr/>
          <p:nvPr/>
        </p:nvSpPr>
        <p:spPr bwMode="auto">
          <a:xfrm>
            <a:off x="48457" y="279993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A85FDF9-A390-F0D2-32CC-3850115D52E1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0BE9BF-9581-D80F-E39B-42AA019B5D1E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DA64D4-DE98-ED7C-332C-66C8EA83AD3A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3EBB9C-8C48-2B28-294B-576837B4846F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정산내역 ⓧ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8692E8-79C6-4638-2640-9B5A5E5C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34181"/>
              </p:ext>
            </p:extLst>
          </p:nvPr>
        </p:nvGraphicFramePr>
        <p:xfrm>
          <a:off x="1768593" y="2708920"/>
          <a:ext cx="5839575" cy="7301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644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907409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777779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777779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12964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83334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8333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83333">
                  <a:extLst>
                    <a:ext uri="{9D8B030D-6E8A-4147-A177-3AD203B41FA5}">
                      <a16:colId xmlns:a16="http://schemas.microsoft.com/office/drawing/2014/main" val="311717531"/>
                    </a:ext>
                  </a:extLst>
                </a:gridCol>
              </a:tblGrid>
              <a:tr h="121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승인건수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취소건수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3,030,000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된장찌개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26.01.02~26.01.05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신경준대리점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미역국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5A74E7EB-B13E-BFD7-EEFA-7B8FF61D8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61" y="6167603"/>
            <a:ext cx="311294" cy="25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617EEF-D081-7C1A-5836-0CE8C38A9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671" y="6176934"/>
            <a:ext cx="305455" cy="25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E187D7-8392-5D40-9425-F6761F25BB86}"/>
              </a:ext>
            </a:extLst>
          </p:cNvPr>
          <p:cNvSpPr txBox="1"/>
          <p:nvPr/>
        </p:nvSpPr>
        <p:spPr>
          <a:xfrm>
            <a:off x="4348599" y="613964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971EC4D-CA94-FE62-0E34-D8841C1F1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70395"/>
              </p:ext>
            </p:extLst>
          </p:nvPr>
        </p:nvGraphicFramePr>
        <p:xfrm>
          <a:off x="1767569" y="4293096"/>
          <a:ext cx="5839576" cy="8272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584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661909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772471">
                  <a:extLst>
                    <a:ext uri="{9D8B030D-6E8A-4147-A177-3AD203B41FA5}">
                      <a16:colId xmlns:a16="http://schemas.microsoft.com/office/drawing/2014/main" val="3972807343"/>
                    </a:ext>
                  </a:extLst>
                </a:gridCol>
                <a:gridCol w="966173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87484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874848">
                  <a:extLst>
                    <a:ext uri="{9D8B030D-6E8A-4147-A177-3AD203B41FA5}">
                      <a16:colId xmlns:a16="http://schemas.microsoft.com/office/drawing/2014/main" val="425267620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</a:tblGrid>
              <a:tr h="1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하위영업점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가맹점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실 지급액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62,727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6,273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2,868,000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83,636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8,364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3,824,000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52,273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5,227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2,390,000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75F14DAE-DDBD-F549-8DA9-BFAE290B9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75938"/>
              </p:ext>
            </p:extLst>
          </p:nvPr>
        </p:nvGraphicFramePr>
        <p:xfrm>
          <a:off x="1767569" y="3465882"/>
          <a:ext cx="5839580" cy="8272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39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972807343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425267620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1736544184"/>
                    </a:ext>
                  </a:extLst>
                </a:gridCol>
              </a:tblGrid>
              <a:tr h="1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총판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벤더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12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D90C22-2399-EA71-0EDE-8CA55B82DE50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0C35A7-C34E-8B6F-6250-4B9B6EDF1A42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DDF875-7702-3489-33F4-B63F2D8B3658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3181E4-9F14-E290-6FB1-F46078951B10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6766CF-E45A-F1C2-61A3-16E48EF48210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1F0A2E-E0A8-5E67-0DBE-F25A7C7CF1C7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97EFCA-EFEF-8E7A-C796-E3E33A190C64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63BDF6-9E1E-465A-F58E-5C703DFA4FD8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00C5D0-3428-9337-56F2-7B50DC589421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26312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D57A-D7FE-92E5-19D3-ED7CA3AB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E316E8-6427-DA52-EE7A-3E4D09978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009607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정산내역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內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검색어를 통해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(s)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통해 해당하는 가맹점 목록 표시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해당하는 영업점에 한해 가맹점 목록 엑셀 다운로드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5B28EDC9-C109-8B1F-1CC4-21367D5D0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정산내역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FA9158-C73E-C46D-9D21-8625DF4F9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D4530B-1562-6D2B-0D2B-49470D713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04BB37C-D4AB-27A8-0708-B4C7F0671AE4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F72452D-6B7C-8EB9-DB22-BB1BA33414A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4BAC9E8-7555-5231-AACD-961160B14088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E9FACB-4CC3-4A19-134E-7811B1A6E82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9F3D67-E685-EA80-EF17-B070701335E1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04811-042B-E439-8813-DE45F472236E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80EB3B-C6D8-27A2-10C0-3FBF700B15DB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72C3D0-B304-17E4-4938-9AD6DC3699A2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94C93A-8C0C-197E-C2D5-3467A86B8F79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E954E0-B54A-4809-93EE-98E000354C1B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F7BF40-690B-1B7D-E31E-A96716AECA8A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B9CF7A-0FA5-8F25-0CAD-03E33690CA3A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7DCB33-E3EC-66E5-E872-9CB9ABE675B6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3B3B2B-5287-5194-A745-CB16B63183D3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58494E0-769E-8BB3-ADB1-9E23A1008C6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EC6BF0-E130-651C-302B-DF2A42712E85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DBEC49-AD3A-C71F-A2D7-D83792E60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61D7DC-E30C-2503-93A3-E62EA3D98AED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61303F-2AE8-7320-63B2-97A00D81B01F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정산 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FFDA68-5073-0805-010C-C0ADFAF82A72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716BEC-5FAE-5B3F-1929-A7EFFBD509BC}"/>
              </a:ext>
            </a:extLst>
          </p:cNvPr>
          <p:cNvSpPr txBox="1"/>
          <p:nvPr/>
        </p:nvSpPr>
        <p:spPr>
          <a:xfrm>
            <a:off x="4401244" y="1328694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0CE57-F1C4-C986-D307-B5324076511C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0490AE-9154-15E3-897C-252FC1F0BDA8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A1528E-72D2-34B9-5E6A-89D9435A8356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A5DAD-8A9F-96BC-D890-5E3C8803D3F3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8811EED-5693-BE9A-A179-7758702B4DA6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E14CB31-7CE6-58B6-D7CE-4EAE34BEDC09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E47C539-B00B-8061-FC80-55122DA150BE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85D6783-EA34-B25A-BDB1-587E7672AF55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236ED82-CCDC-2AB0-1A6D-8F4677C15591}"/>
              </a:ext>
            </a:extLst>
          </p:cNvPr>
          <p:cNvSpPr/>
          <p:nvPr/>
        </p:nvSpPr>
        <p:spPr bwMode="auto">
          <a:xfrm>
            <a:off x="4902744" y="2584513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818CF27-3519-967C-222C-42A2C09B7D82}"/>
              </a:ext>
            </a:extLst>
          </p:cNvPr>
          <p:cNvSpPr/>
          <p:nvPr/>
        </p:nvSpPr>
        <p:spPr bwMode="auto">
          <a:xfrm>
            <a:off x="3467633" y="2584513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가맹점명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96A5A5-7A3B-56AA-CA2B-F9FF92AEA8E4}"/>
              </a:ext>
            </a:extLst>
          </p:cNvPr>
          <p:cNvSpPr/>
          <p:nvPr/>
        </p:nvSpPr>
        <p:spPr bwMode="auto">
          <a:xfrm>
            <a:off x="6329725" y="2584513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4E7411-34BC-D5BC-23A4-B5BADB5BE376}"/>
              </a:ext>
            </a:extLst>
          </p:cNvPr>
          <p:cNvSpPr/>
          <p:nvPr/>
        </p:nvSpPr>
        <p:spPr bwMode="auto">
          <a:xfrm>
            <a:off x="6912954" y="2584513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ECE817-AB5B-D4B6-7675-20E935A2F48D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9AEADF45-0C6C-840A-709C-D584726A1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245521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4AD2085-613E-EE7E-7440-9F6BE2967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254852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C85F199-140B-E2BB-9462-FF1CC31F1BB6}"/>
              </a:ext>
            </a:extLst>
          </p:cNvPr>
          <p:cNvSpPr txBox="1"/>
          <p:nvPr/>
        </p:nvSpPr>
        <p:spPr>
          <a:xfrm>
            <a:off x="4330808" y="621756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60F61B-FADD-A6C0-D372-C9A08BE4B658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85E286-6098-16E1-3FEA-D82262DCC627}"/>
              </a:ext>
            </a:extLst>
          </p:cNvPr>
          <p:cNvSpPr/>
          <p:nvPr/>
        </p:nvSpPr>
        <p:spPr bwMode="auto">
          <a:xfrm>
            <a:off x="85802" y="308762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094AB20-2774-8985-70E5-6BB8C04DA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76203"/>
              </p:ext>
            </p:extLst>
          </p:nvPr>
        </p:nvGraphicFramePr>
        <p:xfrm>
          <a:off x="1775741" y="4947613"/>
          <a:ext cx="5904435" cy="1217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33132453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41311292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</a:t>
                      </a:r>
                      <a:endParaRPr lang="en-US" altLang="ko-KR" sz="7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Djkook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된장찌개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김효정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비지찌개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488127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AA281F7-CDBE-0EA6-69C7-C09B5A636952}"/>
              </a:ext>
            </a:extLst>
          </p:cNvPr>
          <p:cNvSpPr/>
          <p:nvPr/>
        </p:nvSpPr>
        <p:spPr bwMode="auto">
          <a:xfrm>
            <a:off x="6239161" y="5907740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sz="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4D20929-0B52-5DBB-8FBE-F6DF5A0A367E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E68DE41-7859-F836-AB2F-91D572E00117}"/>
              </a:ext>
            </a:extLst>
          </p:cNvPr>
          <p:cNvSpPr/>
          <p:nvPr/>
        </p:nvSpPr>
        <p:spPr bwMode="auto">
          <a:xfrm>
            <a:off x="6235454" y="5576695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8B0F9E9-6EFF-2879-3322-5634DAD15224}"/>
              </a:ext>
            </a:extLst>
          </p:cNvPr>
          <p:cNvSpPr/>
          <p:nvPr/>
        </p:nvSpPr>
        <p:spPr bwMode="auto">
          <a:xfrm>
            <a:off x="6235454" y="5245796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9E7D62-8AE5-CDE1-5356-1C322BF63E4F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97637-F770-C0C2-5458-F9E6345DB991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F57CCE-8C8C-C028-F2ED-99C988C108EB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332634-67A8-65D3-9388-1F3FAF3DE7B7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ECC95C-A375-7CD8-2424-F3F691D28814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755C4E-7278-6CF8-FA43-E99FBD816AC3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86F0A8-6AC6-CEDC-B950-5C38D2406035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59E930-BCE1-28EF-E579-46CDA35455F7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268DEB-83B6-815E-E8DB-4EB0D1FBDD37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FAA23CF-8FD8-BBD1-679D-938242B3EFB9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     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B18A6F-B5E5-2313-C2C3-544F30BB6998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99B5762-7320-4A3D-6B5A-6F4EEB02A1B9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BDC0123-66E5-D9B3-043E-A38DCC4A2FCC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E07DD329-F57B-CE21-E1CC-0FD09F5DF8AA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D8C0ADA-1908-BD9D-F3C1-8DCE5E7D54DF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EC969B8-5963-F160-8890-A155886C17A7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A036E450-D508-0C29-630D-72A83BF11485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9CD38F0-37D6-D668-5203-A67B6DD94773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C89CF55-326B-3A2D-C5E8-668E7F344152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A890248C-5D74-C1D8-988C-117C57BD34DE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6BAB2E5-26C5-6D9F-0412-89E09036FAF8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093B735-311C-5A53-7E3A-A03BF0554198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E9BF8CB-4949-91A3-003A-D8CA4F33A842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F143981-5857-E7D7-F2F3-C7DF841B31CB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A4D85FD-50C8-87C3-74E0-79999B0318AC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94166DC-8643-5AC5-6C90-1B92017AE9D5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CA6A47A5-0CD8-41F0-6F93-4600265B9F37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A417A75-3C66-F6B6-86C7-AEB9CC44217C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EB6BDBB-3B1C-E399-EC3E-43D99DF7FE68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B28B84C-C5EE-EB3F-FBF5-D83485876ED0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503842D4-79C8-4352-D481-AED0E8582A45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9ABF7D4-5AB4-4D93-DB4A-3C0C092DAE69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74F0D71-9A26-984B-945A-5C891A9E51BA}"/>
              </a:ext>
            </a:extLst>
          </p:cNvPr>
          <p:cNvCxnSpPr>
            <a:cxnSpLocks/>
          </p:cNvCxnSpPr>
          <p:nvPr/>
        </p:nvCxnSpPr>
        <p:spPr bwMode="auto">
          <a:xfrm>
            <a:off x="1739752" y="479715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36304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F3AE-A891-4153-135A-EBDB0283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3EEBCCB-B995-1D24-4D9A-096658AB7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784519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재정산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버튼을 통해 가맹점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재정산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진행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재정산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사유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지급보류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 불일치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시스템오류 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94943A41-7107-8A29-FC18-DCCEB91C3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정산내역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재정산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820BC81-4756-5EC7-4AC3-981D2251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2E750B1-C449-0387-B22C-3E37DE1DF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34C01DF-61DA-5421-4F04-14D2BBAD7674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ABF90F0-D73E-DACD-5F17-6D181C0507E9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4E57350-16F9-1505-2D82-61A689A3BB3F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BABBA-D339-3001-0B7C-1FBD4EA9A1A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F94428-93AD-3D0E-3C86-F1604374D980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D93AD-CDEE-D325-96A0-3A1D0CF0FF3D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BAFC8A-62CB-C9E3-6F42-F918CC15E753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3F72F8-FD22-AFF3-F153-6AD82CEF591A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923FCA-C5E2-AFFC-02C3-A95AF08E13EF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D9F3E0-7A20-B147-72D4-A09C87985226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E088C5-0D41-0A2B-182D-22B774F96399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67AD64-963F-ECEC-61E6-1305E1D8CEDD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511810-BEFC-99B3-DE23-318A4EBBD05E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DEA986-5240-0CCB-FB1C-373F266FCEA1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40B70A1-5AB7-68B0-EF3F-CE01B6E5F13C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CD9E9C-76EA-9895-3A2B-B6DF5AF9ABD3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3C467F-5324-4F90-94DB-AAB77108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B1963-250C-B571-C2FC-C2DE273F26A8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7BEDFF-8353-03B9-9129-7E808365DD37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정산 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4423-3517-D992-CE4A-6DE7DF274EC7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 ⓧ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B19FE-8C8E-0B71-0CEE-25A7BD544AEF}"/>
              </a:ext>
            </a:extLst>
          </p:cNvPr>
          <p:cNvSpPr txBox="1"/>
          <p:nvPr/>
        </p:nvSpPr>
        <p:spPr>
          <a:xfrm>
            <a:off x="4401244" y="1328694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8C6C4-F6B4-37F3-18D3-FBD4CA4915E4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16C65-DBAD-A073-6C90-73A7F0D7F775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FF35E-5BBB-A3E7-AEFB-A19B9F398EC0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3427E5-7479-D3DD-913B-C308842D5CD3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07DC961-922F-8E01-8A51-A56A320CAA2F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DA4E6E6-7563-B580-092A-B1606D2B3393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8F06D16-1118-4B50-2BC7-8CC188CAED82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84EF5B9-7055-5FD0-4E24-A73A4541165E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F4F0AFB-310D-02AB-9685-3373EACF3B50}"/>
              </a:ext>
            </a:extLst>
          </p:cNvPr>
          <p:cNvSpPr/>
          <p:nvPr/>
        </p:nvSpPr>
        <p:spPr bwMode="auto">
          <a:xfrm>
            <a:off x="4902744" y="2584513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F8CD03-0D88-9EDC-6D9A-25EE3FD90B8A}"/>
              </a:ext>
            </a:extLst>
          </p:cNvPr>
          <p:cNvSpPr/>
          <p:nvPr/>
        </p:nvSpPr>
        <p:spPr bwMode="auto">
          <a:xfrm>
            <a:off x="3467633" y="2584513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가맹점명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EFA87C-655B-0F58-D000-AB55DD0D27E9}"/>
              </a:ext>
            </a:extLst>
          </p:cNvPr>
          <p:cNvSpPr/>
          <p:nvPr/>
        </p:nvSpPr>
        <p:spPr bwMode="auto">
          <a:xfrm>
            <a:off x="6329725" y="2584513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F9D0556-0667-3B83-D371-D00AD4086E93}"/>
              </a:ext>
            </a:extLst>
          </p:cNvPr>
          <p:cNvSpPr/>
          <p:nvPr/>
        </p:nvSpPr>
        <p:spPr bwMode="auto">
          <a:xfrm>
            <a:off x="6912954" y="2584513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FD13E7D-3132-94B2-9A52-82093730B95A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1F129D18-ACB9-1CF7-BEBA-748973475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245521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67C5FA1-DEE8-12CA-0344-D495E4DD7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254852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344550D-A495-DD5B-F272-0CF7CC1375CB}"/>
              </a:ext>
            </a:extLst>
          </p:cNvPr>
          <p:cNvSpPr txBox="1"/>
          <p:nvPr/>
        </p:nvSpPr>
        <p:spPr>
          <a:xfrm>
            <a:off x="4330808" y="621756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1B88E1-341F-61AE-03DA-264469665BAA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EAC21B-9D81-CE31-E997-BF6A61A9FD8C}"/>
              </a:ext>
            </a:extLst>
          </p:cNvPr>
          <p:cNvSpPr/>
          <p:nvPr/>
        </p:nvSpPr>
        <p:spPr bwMode="auto">
          <a:xfrm>
            <a:off x="85802" y="308762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E205E19-97CD-FED7-EEEA-680145C7D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14588"/>
              </p:ext>
            </p:extLst>
          </p:nvPr>
        </p:nvGraphicFramePr>
        <p:xfrm>
          <a:off x="1775741" y="4947613"/>
          <a:ext cx="5904435" cy="1217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33132453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41311292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</a:t>
                      </a:r>
                      <a:endParaRPr lang="en-US" altLang="ko-KR" sz="7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Djkook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된장찌개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김효정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비지찌개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488127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A70D476-4204-B07C-571B-7756043CEF4B}"/>
              </a:ext>
            </a:extLst>
          </p:cNvPr>
          <p:cNvSpPr/>
          <p:nvPr/>
        </p:nvSpPr>
        <p:spPr bwMode="auto">
          <a:xfrm>
            <a:off x="6239161" y="5933600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sz="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EA9D10-7D6C-31D0-B45C-22FA20C77930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756C915-DB46-CAA5-FE84-392DAF788EA0}"/>
              </a:ext>
            </a:extLst>
          </p:cNvPr>
          <p:cNvSpPr/>
          <p:nvPr/>
        </p:nvSpPr>
        <p:spPr bwMode="auto">
          <a:xfrm>
            <a:off x="6235454" y="5576695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DC71CC1-F45E-DA6B-ACCE-D2A7E8D0A02C}"/>
              </a:ext>
            </a:extLst>
          </p:cNvPr>
          <p:cNvSpPr/>
          <p:nvPr/>
        </p:nvSpPr>
        <p:spPr bwMode="auto">
          <a:xfrm>
            <a:off x="6235454" y="5245796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19A60E-DC99-1023-0131-6D278EF1BEBD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7D1399-8AA4-6AE0-7845-26159BB88916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2F1063-42AE-D5A8-D9C1-C86DEE3C29D9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FBD4CD-322B-A475-CD61-F9A080695D3A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121837-F1C5-6DCB-349B-09E529807A88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D1690A-2432-2903-E81A-6AF7BF01B99B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F61667-ADC7-755C-E75A-BDB75FAD9E20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8E9FBE-6A73-7619-32BD-6C5808C3F53F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F9F5E0-726C-FF36-EC1A-CCB62DFC34B8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73BB022-9F49-A420-271E-541AEFD4162D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     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1E291F9-16B3-79B9-868D-11557EF23851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D543227-5CC9-6D56-83F4-3813569D6540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08F4B0E-5DD1-D818-328B-18F7A5212E3B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BAB4F61-2903-3475-AC25-7152ECA5B0A1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FA73C30-CCC0-B114-4E7F-6E028F8D6BA1}"/>
              </a:ext>
            </a:extLst>
          </p:cNvPr>
          <p:cNvSpPr/>
          <p:nvPr/>
        </p:nvSpPr>
        <p:spPr bwMode="auto">
          <a:xfrm>
            <a:off x="6171483" y="5882216"/>
            <a:ext cx="629016" cy="28018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615CC9-0375-F62D-F735-59200EB16C31}"/>
              </a:ext>
            </a:extLst>
          </p:cNvPr>
          <p:cNvSpPr/>
          <p:nvPr/>
        </p:nvSpPr>
        <p:spPr bwMode="auto">
          <a:xfrm>
            <a:off x="8455905" y="1250811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sz="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38D4750-EF4C-1A62-2278-CBF02087B9F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00499" y="1402899"/>
            <a:ext cx="1655406" cy="4474026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20F80AF-1336-3FDF-C56E-73AD840D8A55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A64B9064-5088-87CA-81D0-971479A01CBB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3E67D56-B09A-66D4-8FD0-9E6C6501AB50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B30783B-8ED8-D7C6-D7B5-E69FDB92375D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68E3D00-D6B0-A68D-3649-78B0B4FDBC58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3404B5C-4AC4-35ED-B5A2-F1470B5BFAB4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ED42A29-6F40-2007-98AF-F51FBC2938D8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B73CD68B-772B-77A9-10B0-9F5BA661394B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5C555BFB-BACF-6767-6A7D-7140725BFFBB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FC1AFCD-0954-7206-E1B6-26787BCFD8B2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7A06721-26D9-8489-B402-14E45789596E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F85D1856-E1CC-3E81-D6D5-6A8A01A692C6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D012F36D-56D9-389B-3F68-328B2CC2D68E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DBC8797-2B0F-0CC8-420A-698DD146652E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C2F1627-D40D-4689-A421-D6E061A340A8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40E9808-0FAD-0273-A234-9D6E59A0AAA6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A94F7462-9119-C49D-FD89-3575F8B45545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D94A4AB-14C0-921E-8826-5AAF25024010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0991DFE-3A2D-EFD5-3962-B650A54FA27D}"/>
              </a:ext>
            </a:extLst>
          </p:cNvPr>
          <p:cNvCxnSpPr>
            <a:cxnSpLocks/>
          </p:cNvCxnSpPr>
          <p:nvPr/>
        </p:nvCxnSpPr>
        <p:spPr bwMode="auto">
          <a:xfrm>
            <a:off x="1739752" y="479715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15315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E86E-FF21-62E6-2951-E93FF0D1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A75DDB3-6C8A-B402-59D3-9429C9B2D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14231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영업점에 등록 된 가맹점에 대해 상세보기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B874D0D4-A784-AF4B-9ABD-89077C881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정산내역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EB6397-468B-0882-EF83-ADBEA70E1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8FDEC56-B2F8-FD20-C94A-E5641F70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5D25358-9669-7251-81CA-35A521BCA01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451E74-745C-CB79-A75F-40133850AE29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6772569-4E83-F679-0DB2-A43B99570112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47B567-9E62-C01E-8A00-5409585AE5CA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8797B3-1F38-8516-B5B2-DD120B402DFB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50E6B8-5E6C-B925-7F31-580AF499D26D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52F9E6-F65E-0737-2B95-244F20435829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969713-D557-CE12-E21D-32508C662FB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0173BE-0870-E447-880F-96950E64CEF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6869A9-BB99-EEC8-EE93-1D9AFB4A8A27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C1EEE4-9065-1F10-F39B-EED4CC144D3B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B1C4E1-F772-1269-EA50-C92EF71361A6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3436CD-7FBC-19B5-870B-96770A7CFACC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A9162C-9F4F-6052-AC6C-A02FD1636F2E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0FE75A4-2690-EF13-244D-FD6746EB0F78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22ADB7-2F45-6B24-5FBD-D642C7B3A3E9}"/>
              </a:ext>
            </a:extLst>
          </p:cNvPr>
          <p:cNvSpPr txBox="1"/>
          <p:nvPr/>
        </p:nvSpPr>
        <p:spPr>
          <a:xfrm>
            <a:off x="2064616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05341B-FBE5-D69F-8CE3-B145D9360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3DD7C1-ADF8-E9C7-EF9C-66C68BAB5E10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18269FD-78DF-EA2E-17F5-D6FA21E99A97}"/>
              </a:ext>
            </a:extLst>
          </p:cNvPr>
          <p:cNvSpPr/>
          <p:nvPr/>
        </p:nvSpPr>
        <p:spPr bwMode="auto">
          <a:xfrm>
            <a:off x="1703511" y="1834119"/>
            <a:ext cx="1191105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정산 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FF354D-03FF-0D99-863B-77CF2295372E}"/>
              </a:ext>
            </a:extLst>
          </p:cNvPr>
          <p:cNvSpPr txBox="1"/>
          <p:nvPr/>
        </p:nvSpPr>
        <p:spPr>
          <a:xfrm>
            <a:off x="4401244" y="1328694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목록 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BB50A-1B34-9079-4495-1664A548E439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120472-0C81-C199-2B06-402A45FCB70F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DDAC01-EA79-38F3-4C5C-5CF6F285F0AB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646266-6A44-AE5F-6D5C-7679599D7589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 ⓧ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500C2E-624C-4A40-E4FF-C1DE33E09C63}"/>
              </a:ext>
            </a:extLst>
          </p:cNvPr>
          <p:cNvSpPr/>
          <p:nvPr/>
        </p:nvSpPr>
        <p:spPr bwMode="auto">
          <a:xfrm>
            <a:off x="1799308" y="2212479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38236DB-7009-2C12-8ABE-9B50D346F41D}"/>
              </a:ext>
            </a:extLst>
          </p:cNvPr>
          <p:cNvSpPr/>
          <p:nvPr/>
        </p:nvSpPr>
        <p:spPr bwMode="auto">
          <a:xfrm>
            <a:off x="412010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2CF1062-3AAD-9051-6A6E-1E2C2E0316A1}"/>
              </a:ext>
            </a:extLst>
          </p:cNvPr>
          <p:cNvSpPr/>
          <p:nvPr/>
        </p:nvSpPr>
        <p:spPr bwMode="auto">
          <a:xfrm>
            <a:off x="4690117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3B6FD1F-CDEC-4CDD-978B-45AB26F6E2DE}"/>
              </a:ext>
            </a:extLst>
          </p:cNvPr>
          <p:cNvSpPr/>
          <p:nvPr/>
        </p:nvSpPr>
        <p:spPr bwMode="auto">
          <a:xfrm>
            <a:off x="5249772" y="2212479"/>
            <a:ext cx="540775" cy="245391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E323A37-836F-9F3C-14BF-7DD27108010C}"/>
              </a:ext>
            </a:extLst>
          </p:cNvPr>
          <p:cNvSpPr/>
          <p:nvPr/>
        </p:nvSpPr>
        <p:spPr bwMode="auto">
          <a:xfrm>
            <a:off x="4902744" y="2584513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C0A583F-F5DD-71D9-9683-226B43B50C6C}"/>
              </a:ext>
            </a:extLst>
          </p:cNvPr>
          <p:cNvSpPr/>
          <p:nvPr/>
        </p:nvSpPr>
        <p:spPr bwMode="auto">
          <a:xfrm>
            <a:off x="3467633" y="2584513"/>
            <a:ext cx="1352533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가맹점명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63DD29-A773-B29B-606A-6E4D71750E75}"/>
              </a:ext>
            </a:extLst>
          </p:cNvPr>
          <p:cNvSpPr/>
          <p:nvPr/>
        </p:nvSpPr>
        <p:spPr bwMode="auto">
          <a:xfrm>
            <a:off x="6329725" y="2584513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0D0C25-4CD8-7FBD-D0B7-830BAB1988D2}"/>
              </a:ext>
            </a:extLst>
          </p:cNvPr>
          <p:cNvSpPr/>
          <p:nvPr/>
        </p:nvSpPr>
        <p:spPr bwMode="auto">
          <a:xfrm>
            <a:off x="6912954" y="2584513"/>
            <a:ext cx="76722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ADB90DA-3F6A-F7F1-5549-8ED05B4A1D4D}"/>
              </a:ext>
            </a:extLst>
          </p:cNvPr>
          <p:cNvCxnSpPr>
            <a:cxnSpLocks/>
          </p:cNvCxnSpPr>
          <p:nvPr/>
        </p:nvCxnSpPr>
        <p:spPr bwMode="auto">
          <a:xfrm>
            <a:off x="1703512" y="2911316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35DD5E2C-FC45-FBB3-4C8E-4E577AA6D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366227"/>
              </p:ext>
            </p:extLst>
          </p:nvPr>
        </p:nvGraphicFramePr>
        <p:xfrm>
          <a:off x="1775741" y="4898837"/>
          <a:ext cx="5904435" cy="1217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80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051017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44962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33132453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41311292"/>
                    </a:ext>
                  </a:extLst>
                </a:gridCol>
              </a:tblGrid>
              <a:tr h="201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</a:t>
                      </a:r>
                      <a:endParaRPr lang="en-US" altLang="ko-KR" sz="7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수수료율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Djkook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된장찌개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김효정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비지찌개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123-00-12345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이용준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15,000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488127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F1E9BB2C-C249-0767-73FD-7EF5ADA89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0" y="6245521"/>
            <a:ext cx="311294" cy="25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F18F8C-DF47-D626-DA16-FA7AA6BCD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880" y="6254852"/>
            <a:ext cx="305455" cy="252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3D0DD2-16B0-EFF8-59EE-764157DFF614}"/>
              </a:ext>
            </a:extLst>
          </p:cNvPr>
          <p:cNvSpPr txBox="1"/>
          <p:nvPr/>
        </p:nvSpPr>
        <p:spPr>
          <a:xfrm>
            <a:off x="4330808" y="6217567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9A4916-61A8-7E48-6C53-1FA89E4DF55D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096785-E872-735F-0C12-F9B564E56CDE}"/>
              </a:ext>
            </a:extLst>
          </p:cNvPr>
          <p:cNvSpPr/>
          <p:nvPr/>
        </p:nvSpPr>
        <p:spPr bwMode="auto">
          <a:xfrm>
            <a:off x="85802" y="308762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C800D3-1F74-12F9-BCB7-3B513698A51E}"/>
              </a:ext>
            </a:extLst>
          </p:cNvPr>
          <p:cNvSpPr/>
          <p:nvPr/>
        </p:nvSpPr>
        <p:spPr bwMode="auto">
          <a:xfrm>
            <a:off x="6858122" y="5788941"/>
            <a:ext cx="727643" cy="3291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926053-C3C9-7A8D-E796-6869ABCDFBF8}"/>
              </a:ext>
            </a:extLst>
          </p:cNvPr>
          <p:cNvSpPr txBox="1"/>
          <p:nvPr/>
        </p:nvSpPr>
        <p:spPr>
          <a:xfrm>
            <a:off x="6977654" y="5879594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E124AA3-ED7B-C423-5F75-21E7E1DF1DC2}"/>
              </a:ext>
            </a:extLst>
          </p:cNvPr>
          <p:cNvSpPr/>
          <p:nvPr/>
        </p:nvSpPr>
        <p:spPr bwMode="auto">
          <a:xfrm>
            <a:off x="6239161" y="5884516"/>
            <a:ext cx="504056" cy="166449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재정산</a:t>
            </a:r>
            <a:endParaRPr kumimoji="1" lang="ko-KR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AEDC9F8-F5D9-3D5E-0B55-BF8E4DF85693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4C8A0D7-D7CF-573C-541F-861B99D6D864}"/>
              </a:ext>
            </a:extLst>
          </p:cNvPr>
          <p:cNvSpPr/>
          <p:nvPr/>
        </p:nvSpPr>
        <p:spPr bwMode="auto">
          <a:xfrm>
            <a:off x="6235454" y="5527919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14CA810-48C5-2168-70A5-C312D47C2733}"/>
              </a:ext>
            </a:extLst>
          </p:cNvPr>
          <p:cNvSpPr/>
          <p:nvPr/>
        </p:nvSpPr>
        <p:spPr bwMode="auto">
          <a:xfrm>
            <a:off x="6235454" y="5197020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4EC858-F0D2-9AE2-6A9A-2F3E93378A9D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94CE43-B0C3-46B4-0E42-5611984719AB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C5DD65-B536-2DE9-0495-ACAFD67A9158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F2D6E6-21E8-1AA1-56F0-1287AE6E9FC1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F7F9DA-F999-A262-2857-E42EFD78E4A1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24C75B-0591-6B16-05D1-1BEED78A14B9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4148F1-6AAE-24EA-DE2E-9139F885C1B9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FDE750-CB68-82B6-A7C7-E7220C8C92F0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B00691-8694-3AC8-73E5-0679BA60BA18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C31C277-4BBB-2CFD-1571-5DF4DBFF9E6B}"/>
              </a:ext>
            </a:extLst>
          </p:cNvPr>
          <p:cNvSpPr/>
          <p:nvPr/>
        </p:nvSpPr>
        <p:spPr bwMode="auto">
          <a:xfrm>
            <a:off x="1835936" y="3023870"/>
            <a:ext cx="1076041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     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1020CD1-15E7-864F-6904-A84F2A389754}"/>
              </a:ext>
            </a:extLst>
          </p:cNvPr>
          <p:cNvSpPr/>
          <p:nvPr/>
        </p:nvSpPr>
        <p:spPr bwMode="auto">
          <a:xfrm>
            <a:off x="2983316" y="3023828"/>
            <a:ext cx="1166709" cy="245391"/>
          </a:xfrm>
          <a:prstGeom prst="roundRect">
            <a:avLst/>
          </a:prstGeom>
          <a:solidFill>
            <a:srgbClr val="92D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4FB3992-501B-9D9E-BF46-BD1D6D48B364}"/>
              </a:ext>
            </a:extLst>
          </p:cNvPr>
          <p:cNvSpPr/>
          <p:nvPr/>
        </p:nvSpPr>
        <p:spPr bwMode="auto">
          <a:xfrm>
            <a:off x="4227872" y="3030366"/>
            <a:ext cx="1076040" cy="245391"/>
          </a:xfrm>
          <a:prstGeom prst="roundRect">
            <a:avLst/>
          </a:prstGeom>
          <a:solidFill>
            <a:srgbClr val="00B05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▼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757234C-02BB-D780-F258-07F6C13BEA18}"/>
              </a:ext>
            </a:extLst>
          </p:cNvPr>
          <p:cNvSpPr/>
          <p:nvPr/>
        </p:nvSpPr>
        <p:spPr bwMode="auto">
          <a:xfrm>
            <a:off x="5398843" y="3031501"/>
            <a:ext cx="1057197" cy="245391"/>
          </a:xfrm>
          <a:prstGeom prst="roundRect">
            <a:avLst/>
          </a:prstGeom>
          <a:solidFill>
            <a:srgbClr val="3399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     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3A8170A-0C80-6C43-11ED-E1152865131E}"/>
              </a:ext>
            </a:extLst>
          </p:cNvPr>
          <p:cNvSpPr/>
          <p:nvPr/>
        </p:nvSpPr>
        <p:spPr bwMode="auto">
          <a:xfrm>
            <a:off x="6528048" y="3031501"/>
            <a:ext cx="1115510" cy="24539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77D64C-4AB5-04B7-FC07-967576E46324}"/>
              </a:ext>
            </a:extLst>
          </p:cNvPr>
          <p:cNvSpPr txBox="1"/>
          <p:nvPr/>
        </p:nvSpPr>
        <p:spPr>
          <a:xfrm>
            <a:off x="3232930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등록 ⓧ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D5045070-4053-BAE5-CB1E-524822F65935}"/>
              </a:ext>
            </a:extLst>
          </p:cNvPr>
          <p:cNvSpPr/>
          <p:nvPr/>
        </p:nvSpPr>
        <p:spPr bwMode="auto">
          <a:xfrm>
            <a:off x="1835936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FD83740-F051-3946-E53D-9D7D580B0F7C}"/>
              </a:ext>
            </a:extLst>
          </p:cNvPr>
          <p:cNvSpPr/>
          <p:nvPr/>
        </p:nvSpPr>
        <p:spPr bwMode="auto">
          <a:xfrm>
            <a:off x="2655266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04E1E55-FE92-1FAA-46D9-36A89AF7970A}"/>
              </a:ext>
            </a:extLst>
          </p:cNvPr>
          <p:cNvSpPr/>
          <p:nvPr/>
        </p:nvSpPr>
        <p:spPr bwMode="auto">
          <a:xfrm>
            <a:off x="3857161" y="3529144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B6F82EF-122F-60AC-673C-C3D1D2356039}"/>
              </a:ext>
            </a:extLst>
          </p:cNvPr>
          <p:cNvSpPr/>
          <p:nvPr/>
        </p:nvSpPr>
        <p:spPr bwMode="auto">
          <a:xfrm>
            <a:off x="4676491" y="3529144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0487D9D-0A7A-A655-95CC-21ECE2019BD9}"/>
              </a:ext>
            </a:extLst>
          </p:cNvPr>
          <p:cNvSpPr/>
          <p:nvPr/>
        </p:nvSpPr>
        <p:spPr bwMode="auto">
          <a:xfrm>
            <a:off x="5836767" y="3547791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결제금액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9C9534E-ED1B-0E73-8591-BFA42909E20B}"/>
              </a:ext>
            </a:extLst>
          </p:cNvPr>
          <p:cNvSpPr/>
          <p:nvPr/>
        </p:nvSpPr>
        <p:spPr bwMode="auto">
          <a:xfrm>
            <a:off x="6656097" y="354779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99,900,000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6FD8AB29-6DE9-3285-D4B4-BE642AE52709}"/>
              </a:ext>
            </a:extLst>
          </p:cNvPr>
          <p:cNvSpPr/>
          <p:nvPr/>
        </p:nvSpPr>
        <p:spPr bwMode="auto">
          <a:xfrm>
            <a:off x="182618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4E097DB-E743-9CE8-B5F6-10C62C2C3A4B}"/>
              </a:ext>
            </a:extLst>
          </p:cNvPr>
          <p:cNvSpPr/>
          <p:nvPr/>
        </p:nvSpPr>
        <p:spPr bwMode="auto">
          <a:xfrm>
            <a:off x="264551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1EC82EB-9E58-C83D-4617-FC2D45674780}"/>
              </a:ext>
            </a:extLst>
          </p:cNvPr>
          <p:cNvSpPr/>
          <p:nvPr/>
        </p:nvSpPr>
        <p:spPr bwMode="auto">
          <a:xfrm>
            <a:off x="3857161" y="3828935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5FA39DE-EF99-9245-003E-506B60FB08F8}"/>
              </a:ext>
            </a:extLst>
          </p:cNvPr>
          <p:cNvSpPr/>
          <p:nvPr/>
        </p:nvSpPr>
        <p:spPr bwMode="auto">
          <a:xfrm>
            <a:off x="4676491" y="3828935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951816B-AE20-4ADA-C437-589F530195B8}"/>
              </a:ext>
            </a:extLst>
          </p:cNvPr>
          <p:cNvSpPr/>
          <p:nvPr/>
        </p:nvSpPr>
        <p:spPr bwMode="auto">
          <a:xfrm>
            <a:off x="5836767" y="3839253"/>
            <a:ext cx="79713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결제건수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AF00927-E301-DFD8-E389-05DA63AD94C9}"/>
              </a:ext>
            </a:extLst>
          </p:cNvPr>
          <p:cNvSpPr/>
          <p:nvPr/>
        </p:nvSpPr>
        <p:spPr bwMode="auto">
          <a:xfrm>
            <a:off x="6656097" y="383925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900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3571D299-A87E-04E4-A9B1-743AA8CECA63}"/>
              </a:ext>
            </a:extLst>
          </p:cNvPr>
          <p:cNvSpPr/>
          <p:nvPr/>
        </p:nvSpPr>
        <p:spPr bwMode="auto">
          <a:xfrm>
            <a:off x="3990069" y="4165636"/>
            <a:ext cx="664229" cy="305521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5282A1B-E141-8FB5-CF21-7E6E6F11F02F}"/>
              </a:ext>
            </a:extLst>
          </p:cNvPr>
          <p:cNvSpPr/>
          <p:nvPr/>
        </p:nvSpPr>
        <p:spPr bwMode="auto">
          <a:xfrm>
            <a:off x="4676491" y="419363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208,000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A6DB5AD-3E14-A6DF-3A2A-4D86225CE450}"/>
              </a:ext>
            </a:extLst>
          </p:cNvPr>
          <p:cNvSpPr/>
          <p:nvPr/>
        </p:nvSpPr>
        <p:spPr bwMode="auto">
          <a:xfrm>
            <a:off x="5951984" y="4157292"/>
            <a:ext cx="681920" cy="313849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영업점수수료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D8919123-3E29-9A62-B92A-C9B4952B0891}"/>
              </a:ext>
            </a:extLst>
          </p:cNvPr>
          <p:cNvSpPr/>
          <p:nvPr/>
        </p:nvSpPr>
        <p:spPr bwMode="auto">
          <a:xfrm>
            <a:off x="6656097" y="4194617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161,000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682BAF24-EA06-76C3-8429-334F51C5BB84}"/>
              </a:ext>
            </a:extLst>
          </p:cNvPr>
          <p:cNvSpPr/>
          <p:nvPr/>
        </p:nvSpPr>
        <p:spPr bwMode="auto">
          <a:xfrm>
            <a:off x="1811222" y="4473475"/>
            <a:ext cx="142170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정산실패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D7DF328-4443-C5D2-73FB-9EBE4DA80459}"/>
              </a:ext>
            </a:extLst>
          </p:cNvPr>
          <p:cNvSpPr/>
          <p:nvPr/>
        </p:nvSpPr>
        <p:spPr bwMode="auto">
          <a:xfrm>
            <a:off x="3002609" y="4474700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/ </a:t>
            </a:r>
            <a:r>
              <a:rPr lang="en-US" altLang="ko-KR" sz="10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2929C6C-08C4-EBF3-B645-05E35EFFDD20}"/>
              </a:ext>
            </a:extLst>
          </p:cNvPr>
          <p:cNvCxnSpPr>
            <a:cxnSpLocks/>
          </p:cNvCxnSpPr>
          <p:nvPr/>
        </p:nvCxnSpPr>
        <p:spPr bwMode="auto">
          <a:xfrm>
            <a:off x="1739752" y="479715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35110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95B9B-01A4-E829-3FDC-53C6E0EE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766C100-EB06-3B01-BBE9-01CC12402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29477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정산내역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일일 조회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/15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/30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장기간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일일 조회로 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일별 승인금액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취소금액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 안내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71F535BB-9BB1-AE7B-D8FB-70A3F73A4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65965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정산내역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상세내역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일일 조회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800F2C9-6918-E5C8-465A-BBCDDF86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DC835A6-9BF3-CB88-6942-1763B84D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485B1ED-4A51-8611-1DD6-DBFF1F16891F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F84CA28-0632-B85B-0F30-8800B4A694C5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DE51A85-2868-1D1E-49C9-98B7CB8518B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BF4400-1D84-ACD2-5F7B-C0700ED6720C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F622D-3C26-5279-2161-11FD03D9886B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8CCBAA8-A1D9-8DC0-F2C4-5FB4349C9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326D61-7379-34CA-B2BE-5793923DEA68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50E967-65B6-3540-DA83-287156C0839D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상세보기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905F4-CB50-8414-3A88-49CF714DE6D2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900A19-DEBE-B9DB-A566-AD7E0CB761A8}"/>
              </a:ext>
            </a:extLst>
          </p:cNvPr>
          <p:cNvSpPr/>
          <p:nvPr/>
        </p:nvSpPr>
        <p:spPr bwMode="auto">
          <a:xfrm>
            <a:off x="1723915" y="2181705"/>
            <a:ext cx="5992501" cy="44057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8DD7906-EE59-3CF7-700D-7CE4FF2B4878}"/>
              </a:ext>
            </a:extLst>
          </p:cNvPr>
          <p:cNvSpPr/>
          <p:nvPr/>
        </p:nvSpPr>
        <p:spPr bwMode="auto">
          <a:xfrm>
            <a:off x="7425439" y="1834119"/>
            <a:ext cx="267277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1004-320A-2D62-452D-BF2F84B9E09A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3EF1F-A8DD-C584-0378-E33568DE9DE9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2C497-D436-7A6C-4088-9FDD1252E345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4E66B5-8133-C4BF-475F-FDFDD7FE0EEB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D6F691-8D2F-DBF4-4615-17314DEABE06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B9EB32-2756-6CF5-24EE-7B21B19EBB8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D54C38-84AB-E04D-F548-3F9E28FE480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53AF3E-64A1-568C-12D5-7D8324CB4BEC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52F96E-0030-B98B-0CF6-F52F63641A23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92622A-F8EF-5C4B-1A83-D60D07441D6A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72FE1E-CF3A-0340-1B9B-D0C113A0F570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292217-16D2-B8C7-D184-739B4266ABA4}"/>
              </a:ext>
            </a:extLst>
          </p:cNvPr>
          <p:cNvSpPr txBox="1"/>
          <p:nvPr/>
        </p:nvSpPr>
        <p:spPr>
          <a:xfrm>
            <a:off x="885496" y="252864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046387-376F-4FD4-9342-773DC08885E9}"/>
              </a:ext>
            </a:extLst>
          </p:cNvPr>
          <p:cNvSpPr txBox="1"/>
          <p:nvPr/>
        </p:nvSpPr>
        <p:spPr>
          <a:xfrm>
            <a:off x="1006272" y="224834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255DD39-6D86-C523-474B-1ABEE442C34F}"/>
              </a:ext>
            </a:extLst>
          </p:cNvPr>
          <p:cNvSpPr txBox="1"/>
          <p:nvPr/>
        </p:nvSpPr>
        <p:spPr>
          <a:xfrm>
            <a:off x="291108" y="280118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💴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영업점 정산내역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1A1A63-89FE-FB9D-A9BE-0F9FC412BE80}"/>
              </a:ext>
            </a:extLst>
          </p:cNvPr>
          <p:cNvSpPr txBox="1"/>
          <p:nvPr/>
        </p:nvSpPr>
        <p:spPr>
          <a:xfrm>
            <a:off x="291108" y="311077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💵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가맹점 정산내역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8341CEC-6F5A-E6E6-AA2B-F64A4AD5D258}"/>
              </a:ext>
            </a:extLst>
          </p:cNvPr>
          <p:cNvSpPr txBox="1"/>
          <p:nvPr/>
        </p:nvSpPr>
        <p:spPr>
          <a:xfrm>
            <a:off x="5576151" y="1328694"/>
            <a:ext cx="136498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정산내역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3E8D72-B78A-B287-9028-43B70EEB6C50}"/>
              </a:ext>
            </a:extLst>
          </p:cNvPr>
          <p:cNvSpPr/>
          <p:nvPr/>
        </p:nvSpPr>
        <p:spPr bwMode="auto">
          <a:xfrm>
            <a:off x="85802" y="308762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499EDF-43D3-15A4-189F-287EFA902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918281"/>
              </p:ext>
            </p:extLst>
          </p:nvPr>
        </p:nvGraphicFramePr>
        <p:xfrm>
          <a:off x="1768593" y="2708920"/>
          <a:ext cx="5839577" cy="8147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83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57632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6467649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2792562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1542790404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승인건수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취소건수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결제건수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1995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26.01.04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Kckook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김치찌개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2,700,000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038228-C9F6-E9DB-9BC8-392C3CE9170B}"/>
              </a:ext>
            </a:extLst>
          </p:cNvPr>
          <p:cNvSpPr/>
          <p:nvPr/>
        </p:nvSpPr>
        <p:spPr bwMode="auto">
          <a:xfrm>
            <a:off x="1836223" y="2298365"/>
            <a:ext cx="1227754" cy="266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정산내역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C3CB797D-080A-6BC3-DF81-1946BEDA0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55913"/>
              </p:ext>
            </p:extLst>
          </p:nvPr>
        </p:nvGraphicFramePr>
        <p:xfrm>
          <a:off x="1767569" y="3573015"/>
          <a:ext cx="5839580" cy="998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3958">
                  <a:extLst>
                    <a:ext uri="{9D8B030D-6E8A-4147-A177-3AD203B41FA5}">
                      <a16:colId xmlns:a16="http://schemas.microsoft.com/office/drawing/2014/main" val="69615240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428423804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678312058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13317593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972807343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3108206141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701881856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425267620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277834497"/>
                    </a:ext>
                  </a:extLst>
                </a:gridCol>
                <a:gridCol w="583958">
                  <a:extLst>
                    <a:ext uri="{9D8B030D-6E8A-4147-A177-3AD203B41FA5}">
                      <a16:colId xmlns:a16="http://schemas.microsoft.com/office/drawing/2014/main" val="1736544184"/>
                    </a:ext>
                  </a:extLst>
                </a:gridCol>
              </a:tblGrid>
              <a:tr h="273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수수료율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정산수수료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정산주기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결제유형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54233"/>
                  </a:ext>
                </a:extLst>
              </a:tr>
              <a:tr h="241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1556004"/>
                  </a:ext>
                </a:extLst>
              </a:tr>
              <a:tr h="241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1,880,000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300734"/>
                  </a:ext>
                </a:extLst>
              </a:tr>
              <a:tr h="241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2,565,000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D-KOR1131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단말기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신경준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077596"/>
                  </a:ext>
                </a:extLst>
              </a:tr>
            </a:tbl>
          </a:graphicData>
        </a:graphic>
      </p:graphicFrame>
      <p:pic>
        <p:nvPicPr>
          <p:cNvPr id="46" name="그림 45">
            <a:extLst>
              <a:ext uri="{FF2B5EF4-FFF2-40B4-BE49-F238E27FC236}">
                <a16:creationId xmlns:a16="http://schemas.microsoft.com/office/drawing/2014/main" id="{10925F01-2532-29C6-6DF5-50A2F9C39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61" y="6167603"/>
            <a:ext cx="311294" cy="252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34748135-6100-9BB4-4A9C-F481BD9BC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671" y="6176934"/>
            <a:ext cx="305455" cy="252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A766F4E-8DFF-83C6-E635-1C03D57A16FE}"/>
              </a:ext>
            </a:extLst>
          </p:cNvPr>
          <p:cNvSpPr txBox="1"/>
          <p:nvPr/>
        </p:nvSpPr>
        <p:spPr>
          <a:xfrm>
            <a:off x="4348599" y="6139649"/>
            <a:ext cx="677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1 2 3</a:t>
            </a:r>
            <a:endParaRPr lang="ko-KR" altLang="en-US" sz="14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60F9C93-D824-0135-1205-9E8A4C9C29E2}"/>
              </a:ext>
            </a:extLst>
          </p:cNvPr>
          <p:cNvSpPr/>
          <p:nvPr/>
        </p:nvSpPr>
        <p:spPr bwMode="auto">
          <a:xfrm>
            <a:off x="7057544" y="3871821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1546EE9-F027-9011-7389-8DE89998C464}"/>
              </a:ext>
            </a:extLst>
          </p:cNvPr>
          <p:cNvSpPr/>
          <p:nvPr/>
        </p:nvSpPr>
        <p:spPr bwMode="auto">
          <a:xfrm>
            <a:off x="7057544" y="4128980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34B41E3-56F2-CF01-6184-29CD48DFC2C2}"/>
              </a:ext>
            </a:extLst>
          </p:cNvPr>
          <p:cNvSpPr/>
          <p:nvPr/>
        </p:nvSpPr>
        <p:spPr bwMode="auto">
          <a:xfrm>
            <a:off x="7052503" y="4374436"/>
            <a:ext cx="504056" cy="166449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정산완료</a:t>
            </a:r>
            <a:endParaRPr kumimoji="1" lang="ko-KR" altLang="en-US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23A546-352A-1F23-8A9C-312363C34536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340874-1275-ED35-74BC-BA37D70EC5D3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7DBB44-0CB0-DA92-6AD1-9C5ADF7FFC4D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3C4C66-DBD3-0CEF-AADF-F14E5C4F4ADA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74F46D-EEDC-8194-2420-38914BCC161F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783700-15FC-066C-9A2C-AB4C947C70F5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A16806-8692-13F4-3E6A-ACC394BF946F}"/>
              </a:ext>
            </a:extLst>
          </p:cNvPr>
          <p:cNvSpPr txBox="1"/>
          <p:nvPr/>
        </p:nvSpPr>
        <p:spPr>
          <a:xfrm>
            <a:off x="407368" y="341284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29FB14-F8F4-EF9C-F094-C76BE5486381}"/>
              </a:ext>
            </a:extLst>
          </p:cNvPr>
          <p:cNvSpPr txBox="1"/>
          <p:nvPr/>
        </p:nvSpPr>
        <p:spPr>
          <a:xfrm>
            <a:off x="881069" y="342306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2275C14-6B46-540E-5094-F52448DBF046}"/>
              </a:ext>
            </a:extLst>
          </p:cNvPr>
          <p:cNvSpPr txBox="1"/>
          <p:nvPr/>
        </p:nvSpPr>
        <p:spPr>
          <a:xfrm>
            <a:off x="142389" y="3356992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123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47AA-8BC7-73A9-F5E7-D5457DA2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9AA080-01BC-2E47-0859-205793B3E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297970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지급등록금액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지급등록 건수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지급대행수수료 표기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가상계좌 잔액조회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실시간 조회 가능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 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특이사항</a:t>
                      </a:r>
                      <a:endParaRPr lang="en-US" altLang="ko-KR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-   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지급이체 등록은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대량건으로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구분하여 등록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9D66457-D8A2-B95D-CA84-E3FF1519B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7474AA-CA5E-E419-68CD-2F71CF570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EFB707B-9691-49AC-94B5-FDFF03C8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11A4A4F-79B2-19A8-90A2-1F3A315B5B9C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CF3C881-353B-38B6-F99C-F91D5FA5DA4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0BDED5C-CACD-4406-2E16-497F5BCD825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1C32F0-DB84-AEEA-7A35-F3F381AB1ECD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767CB-BF9D-DE66-0064-9303314704E3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8F1A15-865C-486F-9FE3-FB5A4194B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9A2282-C057-F764-C0EC-ADF4EA7A7752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46D552-0881-B545-36A3-59A6984A6A7B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6552A-1098-2FE4-07D1-BFD1BF5E2E77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25E47-04A1-ECBA-96BE-D153E2C03FC9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ECDE1-8081-E53A-2B95-11720CEBA088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111353-225D-053B-9BAE-B978F07E6D2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9BB27-D556-A6F5-9CF6-0C55B1AFE39E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B47B27-41C4-B74A-3B4D-CCC8AA6060E9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B10964-FBE5-07A1-C01C-6AE6CBC2C511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7443F8-C662-3885-7571-FD738593338A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26FE71-9002-25EC-AAAD-96DCFC61D8E8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B7A97D-E314-6E16-59C4-84ACBC3F72FE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852147-778B-BD1E-7BC4-E6AA130D3B37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141CC3-7F89-0694-B92B-43217ABE0439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E37B003-DDE4-1EC4-A024-7ABAC7FCC79C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49760E-D7CF-105E-B8E9-AAB93B62D0D5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49B15B-90D0-C3CF-1DAB-5D56E70251C0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29F92A-CF11-AF29-8AF1-4CFFDE6A5BC0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8CDABF-EF69-3031-7E2E-1CB4C571F4F0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F4BB6F-0B08-422D-4EEF-778128FE6472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ECE808-014B-5ACD-DF86-94FFA6F4B5FE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CC7F800-0CB1-CD13-0E3A-0A16375170DD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0A9C73-90D4-DB88-C156-D951173EF33A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FE7F0AD-D746-D358-FD29-72C0CEE20F71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7E8F3F8-60DB-D215-3403-CD5F02C37B43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4CCF3-E52B-6CEC-5951-2BC2BD4621E1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D831A-7BC2-F6F5-575C-E1E2DF3D804C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CAF3F8-B218-0585-434E-ACFEAF05B43A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B2CD04-E1D6-8624-8C07-81DD259A4043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171FC6-E687-5AEF-5C4C-2D282918C5BF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8817477-2969-18FB-9245-2A1E07826A79}"/>
              </a:ext>
            </a:extLst>
          </p:cNvPr>
          <p:cNvSpPr/>
          <p:nvPr/>
        </p:nvSpPr>
        <p:spPr bwMode="auto">
          <a:xfrm>
            <a:off x="3099709" y="2195324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C315F4D-C4AB-12B0-73A2-9921673AAE49}"/>
              </a:ext>
            </a:extLst>
          </p:cNvPr>
          <p:cNvSpPr/>
          <p:nvPr/>
        </p:nvSpPr>
        <p:spPr bwMode="auto">
          <a:xfrm>
            <a:off x="1792845" y="2194352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      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5702119-7DAD-FB40-46CC-8544CB7A1F91}"/>
              </a:ext>
            </a:extLst>
          </p:cNvPr>
          <p:cNvSpPr/>
          <p:nvPr/>
        </p:nvSpPr>
        <p:spPr bwMode="auto">
          <a:xfrm>
            <a:off x="5433767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지급유형       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914A8DB-FD5C-630A-467C-401EAAA86E8F}"/>
              </a:ext>
            </a:extLst>
          </p:cNvPr>
          <p:cNvSpPr/>
          <p:nvPr/>
        </p:nvSpPr>
        <p:spPr bwMode="auto">
          <a:xfrm>
            <a:off x="6566163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지급상태       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4CEA67D-717E-6E6F-F261-73B652A696ED}"/>
              </a:ext>
            </a:extLst>
          </p:cNvPr>
          <p:cNvSpPr/>
          <p:nvPr/>
        </p:nvSpPr>
        <p:spPr bwMode="auto">
          <a:xfrm>
            <a:off x="3910407" y="250160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8A933B2-1378-A54A-9BDA-39D03162F4F8}"/>
              </a:ext>
            </a:extLst>
          </p:cNvPr>
          <p:cNvSpPr/>
          <p:nvPr/>
        </p:nvSpPr>
        <p:spPr bwMode="auto">
          <a:xfrm>
            <a:off x="5337388" y="250160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3714B97-AE8A-4B03-83E5-DAB854E4610E}"/>
              </a:ext>
            </a:extLst>
          </p:cNvPr>
          <p:cNvSpPr/>
          <p:nvPr/>
        </p:nvSpPr>
        <p:spPr bwMode="auto">
          <a:xfrm>
            <a:off x="6486161" y="2501605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031CD63-56A5-DEA3-01B5-09373079A87C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66EB282-BD83-CA35-ABA0-F6462B5359CF}"/>
              </a:ext>
            </a:extLst>
          </p:cNvPr>
          <p:cNvSpPr/>
          <p:nvPr/>
        </p:nvSpPr>
        <p:spPr bwMode="auto">
          <a:xfrm>
            <a:off x="7054678" y="2501605"/>
            <a:ext cx="562821" cy="245391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E9806-7B37-EDAB-175D-0129C518403D}"/>
              </a:ext>
            </a:extLst>
          </p:cNvPr>
          <p:cNvSpPr/>
          <p:nvPr/>
        </p:nvSpPr>
        <p:spPr bwMode="auto">
          <a:xfrm>
            <a:off x="1826119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3BF2C5C-4F3E-8EC0-F507-AA0F544CEB71}"/>
              </a:ext>
            </a:extLst>
          </p:cNvPr>
          <p:cNvSpPr/>
          <p:nvPr/>
        </p:nvSpPr>
        <p:spPr bwMode="auto">
          <a:xfrm>
            <a:off x="2704282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B8ABC050-D16B-D4BA-0C45-04BEE216B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548067"/>
              </p:ext>
            </p:extLst>
          </p:nvPr>
        </p:nvGraphicFramePr>
        <p:xfrm>
          <a:off x="1799598" y="3717030"/>
          <a:ext cx="5839173" cy="1584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7970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16138405"/>
                    </a:ext>
                  </a:extLst>
                </a:gridCol>
                <a:gridCol w="750683">
                  <a:extLst>
                    <a:ext uri="{9D8B030D-6E8A-4147-A177-3AD203B41FA5}">
                      <a16:colId xmlns:a16="http://schemas.microsoft.com/office/drawing/2014/main" val="4198615946"/>
                    </a:ext>
                  </a:extLst>
                </a:gridCol>
              </a:tblGrid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완료일자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유형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대상자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14:00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가맹점정산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일반지급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가맹점지급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39AFD9D5-F52E-EECB-32EF-559D6C939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6670"/>
              </p:ext>
            </p:extLst>
          </p:nvPr>
        </p:nvGraphicFramePr>
        <p:xfrm>
          <a:off x="1790809" y="5301213"/>
          <a:ext cx="5839176" cy="1224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027">
                  <a:extLst>
                    <a:ext uri="{9D8B030D-6E8A-4147-A177-3AD203B41FA5}">
                      <a16:colId xmlns:a16="http://schemas.microsoft.com/office/drawing/2014/main" val="271265697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90146950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098567681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08502208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591355394"/>
                    </a:ext>
                  </a:extLst>
                </a:gridCol>
                <a:gridCol w="1071987">
                  <a:extLst>
                    <a:ext uri="{9D8B030D-6E8A-4147-A177-3AD203B41FA5}">
                      <a16:colId xmlns:a16="http://schemas.microsoft.com/office/drawing/2014/main" val="427629846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15270381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1742208782"/>
                    </a:ext>
                  </a:extLst>
                </a:gridCol>
              </a:tblGrid>
              <a:tr h="3497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대행수수료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출금계좌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11996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국민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341420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7808102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외환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501816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우리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101647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새마을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1470505"/>
                  </a:ext>
                </a:extLst>
              </a:tr>
            </a:tbl>
          </a:graphicData>
        </a:graphic>
      </p:graphicFrame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1B636AC-42BD-1EE3-160A-85598975CF91}"/>
              </a:ext>
            </a:extLst>
          </p:cNvPr>
          <p:cNvCxnSpPr>
            <a:cxnSpLocks/>
          </p:cNvCxnSpPr>
          <p:nvPr/>
        </p:nvCxnSpPr>
        <p:spPr bwMode="auto">
          <a:xfrm>
            <a:off x="1723915" y="364502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75FFCE44-ED4B-C99D-5BE3-C3617DC4DDE0}"/>
              </a:ext>
            </a:extLst>
          </p:cNvPr>
          <p:cNvSpPr/>
          <p:nvPr/>
        </p:nvSpPr>
        <p:spPr bwMode="auto">
          <a:xfrm>
            <a:off x="3800398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E728B808-C188-D192-5982-AC3FB72B15AC}"/>
              </a:ext>
            </a:extLst>
          </p:cNvPr>
          <p:cNvSpPr/>
          <p:nvPr/>
        </p:nvSpPr>
        <p:spPr bwMode="auto">
          <a:xfrm>
            <a:off x="4604483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2D038BE-4253-B7DC-4768-75BAF741C48E}"/>
              </a:ext>
            </a:extLst>
          </p:cNvPr>
          <p:cNvSpPr/>
          <p:nvPr/>
        </p:nvSpPr>
        <p:spPr bwMode="auto">
          <a:xfrm>
            <a:off x="5911820" y="2501605"/>
            <a:ext cx="550801" cy="24539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C93117E-D2D5-0AF1-5E05-AE975D7C5A1C}"/>
              </a:ext>
            </a:extLst>
          </p:cNvPr>
          <p:cNvSpPr/>
          <p:nvPr/>
        </p:nvSpPr>
        <p:spPr bwMode="auto">
          <a:xfrm>
            <a:off x="5698635" y="2934275"/>
            <a:ext cx="107146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지급대행 수수료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E4D39416-4DAB-1165-185D-352B1F7E4787}"/>
              </a:ext>
            </a:extLst>
          </p:cNvPr>
          <p:cNvSpPr/>
          <p:nvPr/>
        </p:nvSpPr>
        <p:spPr bwMode="auto">
          <a:xfrm>
            <a:off x="6655391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2BFF80A-8AD2-C6C7-F6AD-B3E86E686280}"/>
              </a:ext>
            </a:extLst>
          </p:cNvPr>
          <p:cNvSpPr/>
          <p:nvPr/>
        </p:nvSpPr>
        <p:spPr bwMode="auto">
          <a:xfrm>
            <a:off x="5538827" y="3284984"/>
            <a:ext cx="121434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45E0CD8-AE88-5D44-5301-F1605991FD86}"/>
              </a:ext>
            </a:extLst>
          </p:cNvPr>
          <p:cNvSpPr/>
          <p:nvPr/>
        </p:nvSpPr>
        <p:spPr bwMode="auto">
          <a:xfrm>
            <a:off x="6634740" y="328918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pic>
        <p:nvPicPr>
          <p:cNvPr id="85" name="그래픽 84" descr="화살표 원 단색으로 채워진">
            <a:extLst>
              <a:ext uri="{FF2B5EF4-FFF2-40B4-BE49-F238E27FC236}">
                <a16:creationId xmlns:a16="http://schemas.microsoft.com/office/drawing/2014/main" id="{A477E301-4BC7-9B21-856D-8B98CA6F0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3259163"/>
            <a:ext cx="304522" cy="3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63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95EF-3E36-0210-1E94-5E777D46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2F22C8-860B-BE25-DDD8-CA401010C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568560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등록을 위한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E2789260-88F4-C8FB-FC4E-93ECAFA70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99D6D92-7ADC-8673-1D11-2A07E8C49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6616010-FB6D-CFDD-F413-B21809F7D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3D6A301-29BD-40CE-874B-28AE78EE1F9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BBBEA14-82DD-B079-4C0B-3EA9F7C3C98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C71238E-5AF0-F4BF-5CA5-1B7CFADCC7F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7E5ACB-6169-4292-C217-F32755A8DFFB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4C0D9-8D0D-803D-4D1E-DD600C894882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A0CBF8-5249-291B-941F-6A734122D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72F766-BF2C-D344-B450-80758E47D981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E352E-DEE6-D2D5-9E14-A933D5EDB462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0FD3A-EA07-3F37-E033-ED4CD88BF6E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BF591-96D0-6216-9C61-C3ED1E1AB81D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FDEEA-FB34-B9FB-B7E9-A2A18CC601FB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241751-4D56-452F-23C4-AC09281A77BF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F89B40-0C51-FF1F-4476-FF898CC553BA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A5B02-DAD5-497A-311F-0F01951D555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B89E44-97BD-F30F-9E72-3FE92FFB3A5D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576F85-7993-DCE7-F3E4-6DAB57E43CF9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6425F-E22C-F848-95CC-983D26585BC3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C55317-337D-EDB6-6CA7-3A68FA8B217A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50D214-F738-CF5B-98B2-83F70F383D75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C89D27-1EF2-B075-2158-CBF8E697BF29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3873A2-13DD-2285-339D-901BCF77143E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C0E25F-7720-972D-F7A9-58C514B438D4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F46119-75C7-5E4B-F82C-1FFD6D11DDD1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CEE5F8-3447-A1A4-1505-0968FD7E70EF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E4F097-8FC5-E7CC-27B5-B639E971DC9C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C7C88D-9914-AE9F-8F60-F5BA9D37CF34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90FB52-D87A-1101-1E9A-69E7336AC351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B0DC5D-6442-672E-8980-8EE03BF3118D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5B81E0-B164-FD98-FB9B-A21AD24E9986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7D838D-6342-93C5-3B0F-91FE0BA101F7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F8DE66-1966-1234-8C82-C8481CA1AF45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969D9-FBA4-EEB3-ECF5-E612AA71EE58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6A052-433A-521A-8A3E-6D92044318EC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BDCBA7-C030-CF64-B13B-601348317D65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892271-D0F2-F30A-6A39-8B11948E65F6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BE85210-07AE-6100-A462-F14E3FB7F8D7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25B00C-5708-0991-96AE-37294018E944}"/>
              </a:ext>
            </a:extLst>
          </p:cNvPr>
          <p:cNvSpPr/>
          <p:nvPr/>
        </p:nvSpPr>
        <p:spPr bwMode="auto">
          <a:xfrm>
            <a:off x="3099709" y="2195324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735F843-5750-F292-2634-85AA10F1CDBE}"/>
              </a:ext>
            </a:extLst>
          </p:cNvPr>
          <p:cNvSpPr/>
          <p:nvPr/>
        </p:nvSpPr>
        <p:spPr bwMode="auto">
          <a:xfrm>
            <a:off x="1792845" y="2194352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      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C964E9B-4648-C7EF-E96E-D34D0EC8D4EC}"/>
              </a:ext>
            </a:extLst>
          </p:cNvPr>
          <p:cNvSpPr/>
          <p:nvPr/>
        </p:nvSpPr>
        <p:spPr bwMode="auto">
          <a:xfrm>
            <a:off x="5433767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지급유형       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1F8FEE0-7ED7-DB95-2451-0CEB79FAF06A}"/>
              </a:ext>
            </a:extLst>
          </p:cNvPr>
          <p:cNvSpPr/>
          <p:nvPr/>
        </p:nvSpPr>
        <p:spPr bwMode="auto">
          <a:xfrm>
            <a:off x="6566163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지급상태       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18D1056-B27B-AAF9-EB33-DC288E2CC38A}"/>
              </a:ext>
            </a:extLst>
          </p:cNvPr>
          <p:cNvSpPr/>
          <p:nvPr/>
        </p:nvSpPr>
        <p:spPr bwMode="auto">
          <a:xfrm>
            <a:off x="3910407" y="250160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4865880-BABB-BFDC-E56B-D59B0E112269}"/>
              </a:ext>
            </a:extLst>
          </p:cNvPr>
          <p:cNvSpPr/>
          <p:nvPr/>
        </p:nvSpPr>
        <p:spPr bwMode="auto">
          <a:xfrm>
            <a:off x="5337388" y="250160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8CBD616-9C24-5430-002B-BF1F804EF42B}"/>
              </a:ext>
            </a:extLst>
          </p:cNvPr>
          <p:cNvSpPr/>
          <p:nvPr/>
        </p:nvSpPr>
        <p:spPr bwMode="auto">
          <a:xfrm>
            <a:off x="6486161" y="2501605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55B5544-D598-83CD-D55F-9DCCFC014BFC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CB67285-9B3F-84C2-EA60-B759EA1F895B}"/>
              </a:ext>
            </a:extLst>
          </p:cNvPr>
          <p:cNvSpPr/>
          <p:nvPr/>
        </p:nvSpPr>
        <p:spPr bwMode="auto">
          <a:xfrm>
            <a:off x="7054678" y="2501605"/>
            <a:ext cx="562821" cy="245391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9341064-00F9-ECEC-DCAC-5C72968482A0}"/>
              </a:ext>
            </a:extLst>
          </p:cNvPr>
          <p:cNvSpPr/>
          <p:nvPr/>
        </p:nvSpPr>
        <p:spPr bwMode="auto">
          <a:xfrm>
            <a:off x="1826119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F96FE29-FF79-D6D6-071C-FEB53EEDE032}"/>
              </a:ext>
            </a:extLst>
          </p:cNvPr>
          <p:cNvSpPr/>
          <p:nvPr/>
        </p:nvSpPr>
        <p:spPr bwMode="auto">
          <a:xfrm>
            <a:off x="2704282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A5E38859-9C70-82C9-1FF8-67880B83C0F8}"/>
              </a:ext>
            </a:extLst>
          </p:cNvPr>
          <p:cNvGraphicFramePr>
            <a:graphicFrameLocks noGrp="1"/>
          </p:cNvGraphicFramePr>
          <p:nvPr/>
        </p:nvGraphicFramePr>
        <p:xfrm>
          <a:off x="1799598" y="3717030"/>
          <a:ext cx="5839173" cy="1584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7970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16138405"/>
                    </a:ext>
                  </a:extLst>
                </a:gridCol>
                <a:gridCol w="750683">
                  <a:extLst>
                    <a:ext uri="{9D8B030D-6E8A-4147-A177-3AD203B41FA5}">
                      <a16:colId xmlns:a16="http://schemas.microsoft.com/office/drawing/2014/main" val="4198615946"/>
                    </a:ext>
                  </a:extLst>
                </a:gridCol>
              </a:tblGrid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완료일자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유형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대상자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14:00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가맹점정산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일반지급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가맹점지급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48476BF3-4D33-E97A-A0D2-639CA1A312F4}"/>
              </a:ext>
            </a:extLst>
          </p:cNvPr>
          <p:cNvGraphicFramePr>
            <a:graphicFrameLocks noGrp="1"/>
          </p:cNvGraphicFramePr>
          <p:nvPr/>
        </p:nvGraphicFramePr>
        <p:xfrm>
          <a:off x="1790809" y="5301213"/>
          <a:ext cx="5839176" cy="1224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027">
                  <a:extLst>
                    <a:ext uri="{9D8B030D-6E8A-4147-A177-3AD203B41FA5}">
                      <a16:colId xmlns:a16="http://schemas.microsoft.com/office/drawing/2014/main" val="271265697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90146950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098567681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08502208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591355394"/>
                    </a:ext>
                  </a:extLst>
                </a:gridCol>
                <a:gridCol w="1071987">
                  <a:extLst>
                    <a:ext uri="{9D8B030D-6E8A-4147-A177-3AD203B41FA5}">
                      <a16:colId xmlns:a16="http://schemas.microsoft.com/office/drawing/2014/main" val="427629846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15270381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1742208782"/>
                    </a:ext>
                  </a:extLst>
                </a:gridCol>
              </a:tblGrid>
              <a:tr h="3497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대행수수료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출금계좌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11996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국민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341420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7808102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외환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501816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우리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101647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새마을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1470505"/>
                  </a:ext>
                </a:extLst>
              </a:tr>
            </a:tbl>
          </a:graphicData>
        </a:graphic>
      </p:graphicFrame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5591886-D6C4-9344-1697-B09AED97033E}"/>
              </a:ext>
            </a:extLst>
          </p:cNvPr>
          <p:cNvCxnSpPr>
            <a:cxnSpLocks/>
          </p:cNvCxnSpPr>
          <p:nvPr/>
        </p:nvCxnSpPr>
        <p:spPr bwMode="auto">
          <a:xfrm>
            <a:off x="1723915" y="364502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30BB97F-A24F-6EBA-A8F6-C668F7524482}"/>
              </a:ext>
            </a:extLst>
          </p:cNvPr>
          <p:cNvSpPr/>
          <p:nvPr/>
        </p:nvSpPr>
        <p:spPr bwMode="auto">
          <a:xfrm>
            <a:off x="3800398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A1F6C6CC-A1F2-F6BF-20E0-A4BE32BC2A82}"/>
              </a:ext>
            </a:extLst>
          </p:cNvPr>
          <p:cNvSpPr/>
          <p:nvPr/>
        </p:nvSpPr>
        <p:spPr bwMode="auto">
          <a:xfrm>
            <a:off x="4604483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93C4116-D0ED-C211-916D-E41ABB71AAF9}"/>
              </a:ext>
            </a:extLst>
          </p:cNvPr>
          <p:cNvSpPr/>
          <p:nvPr/>
        </p:nvSpPr>
        <p:spPr bwMode="auto">
          <a:xfrm>
            <a:off x="5911820" y="2501605"/>
            <a:ext cx="550801" cy="24539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F0C5510-9FC1-4ACE-E336-4F93EAA69E49}"/>
              </a:ext>
            </a:extLst>
          </p:cNvPr>
          <p:cNvSpPr/>
          <p:nvPr/>
        </p:nvSpPr>
        <p:spPr bwMode="auto">
          <a:xfrm>
            <a:off x="5698635" y="2934275"/>
            <a:ext cx="107146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지급대행 수수료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7ED1F306-9599-99B0-0D1A-2BD89DF95FAD}"/>
              </a:ext>
            </a:extLst>
          </p:cNvPr>
          <p:cNvSpPr/>
          <p:nvPr/>
        </p:nvSpPr>
        <p:spPr bwMode="auto">
          <a:xfrm>
            <a:off x="6655391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8BBE2B1-7F96-1758-E6EC-8E9516172F77}"/>
              </a:ext>
            </a:extLst>
          </p:cNvPr>
          <p:cNvSpPr/>
          <p:nvPr/>
        </p:nvSpPr>
        <p:spPr bwMode="auto">
          <a:xfrm>
            <a:off x="5538827" y="3284984"/>
            <a:ext cx="121434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CEA9F2E-6B4B-81BE-91CD-4F8E4B94993E}"/>
              </a:ext>
            </a:extLst>
          </p:cNvPr>
          <p:cNvSpPr/>
          <p:nvPr/>
        </p:nvSpPr>
        <p:spPr bwMode="auto">
          <a:xfrm>
            <a:off x="6634740" y="328918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106D830-4408-F6F7-6FD4-406665AFEE25}"/>
              </a:ext>
            </a:extLst>
          </p:cNvPr>
          <p:cNvSpPr/>
          <p:nvPr/>
        </p:nvSpPr>
        <p:spPr bwMode="auto">
          <a:xfrm>
            <a:off x="6945186" y="2463250"/>
            <a:ext cx="751480" cy="32059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3A6355D-1DFF-1D14-FC9A-39F943EF8A54}"/>
              </a:ext>
            </a:extLst>
          </p:cNvPr>
          <p:cNvSpPr/>
          <p:nvPr/>
        </p:nvSpPr>
        <p:spPr bwMode="auto">
          <a:xfrm>
            <a:off x="8446045" y="1268760"/>
            <a:ext cx="458267" cy="154778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37C345-5DA7-BC25-C530-83C388E73C66}"/>
              </a:ext>
            </a:extLst>
          </p:cNvPr>
          <p:cNvSpPr txBox="1"/>
          <p:nvPr/>
        </p:nvSpPr>
        <p:spPr>
          <a:xfrm>
            <a:off x="7083078" y="2529201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pic>
        <p:nvPicPr>
          <p:cNvPr id="67" name="그래픽 66" descr="화살표 원 단색으로 채워진">
            <a:extLst>
              <a:ext uri="{FF2B5EF4-FFF2-40B4-BE49-F238E27FC236}">
                <a16:creationId xmlns:a16="http://schemas.microsoft.com/office/drawing/2014/main" id="{299EB54E-AD75-2858-D3FD-F27013EEA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137" y="3303646"/>
            <a:ext cx="241847" cy="2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52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0348-FDC8-6037-6A3B-7B4F64E8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0E63BB-7064-C3A9-7490-548258398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781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등록을 위한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지급예정일자는 금일 이후 선택 가능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(11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시 이후 등록불가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지급예정시각은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15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시 이후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15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분 간격으로 설정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 버튼을 통해 영업점 수수료 지급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 버튼을 통해 가맹점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정산금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지급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버튼을 통해 지급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요청건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삭제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버튼을 통해 지급요청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목록건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체크 후 완료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922CE925-DF25-3A6B-E90B-44F4DC231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60925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 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ACB6B7D-F39B-2AB7-3544-0D2EF0A6F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5B58D94-DC18-EF1D-B4E1-A5EEC0646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CF0262F-CBA2-4671-3F28-D7D1C7867BDE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E133B79-D814-8061-48C0-0B259C0B9E12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C622EB6-B2B8-FD7A-EE93-5CC65F0DF1D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2F1D9F-F997-BED7-70B7-2D202E952636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DAB90-EB26-748A-9833-373F8B9B0E24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BB7708-73C7-5EC5-83DA-7B7826CF1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678FCA-56C2-6202-BFD7-124C807C6A46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FD31C3-ED5A-DD34-B8A3-FC6BC20CB59F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9FD9B-E284-ACBE-5FC0-125255A4789B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474A8-6E94-D929-8624-499215F074A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937B4-C2F0-3DF3-94BC-DB2EFB8A30E1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E83A1D-9C5E-FDA9-7127-5D4A0A3CD7C7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D43FC-C893-AB2C-F0AD-A725C3FF15BC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F0DAF6-8EA7-7EFC-7227-1D94F7574292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52B0-3F58-DB7C-F099-C07C3754386A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3C3D6B-6719-240E-9AA4-A37B847694C9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4D0DE8-7187-51A4-8CFE-2D61EE16E29C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4E33FA-E69D-59B3-4D0E-D25AB80AA4B5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03127C-5535-C631-2443-621E602E9D0D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2B60CA-9947-BB44-91FD-5D7379318C21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38AB7D-7D08-803F-F593-2519791C0342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E22634-54F4-48F6-6B8A-40DDC361159E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F2E2A-30DB-5532-0558-1B38A38FB38E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91B28E-7B83-9619-FB4B-0319C96E479F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239919-FF2C-36C0-A079-DE180B1AFF2D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00439-B9A0-1BEE-991C-F2283F68E806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A03BEB-89A2-E317-5DF3-D835F278F025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CB7C78-13F6-D984-9230-F74165B8097C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7188A3-9E21-796A-A1BC-FFD824CAED89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7D73D1-2F89-8692-311A-48296E3E78D3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88B092C-487B-C0A5-194A-1F4BE7BD6FEF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51D9A-A6DC-5FA0-499F-9CDB529D1652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E6E45-1154-1E35-45A7-AE8BD0D8CF1C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6E3C0-2F2C-1784-744C-56C3E83C1281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BB3F6C8-5F76-3888-2F51-B935545AA7CC}"/>
              </a:ext>
            </a:extLst>
          </p:cNvPr>
          <p:cNvSpPr/>
          <p:nvPr/>
        </p:nvSpPr>
        <p:spPr bwMode="auto">
          <a:xfrm>
            <a:off x="1703512" y="183411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B7B4C23-4E88-D5A1-6097-AB9E622F8AF4}"/>
              </a:ext>
            </a:extLst>
          </p:cNvPr>
          <p:cNvSpPr/>
          <p:nvPr/>
        </p:nvSpPr>
        <p:spPr bwMode="auto">
          <a:xfrm>
            <a:off x="8446045" y="1268760"/>
            <a:ext cx="458267" cy="154778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E352A3-9013-FC20-2562-27C9C1781350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70438AC-1C11-10BD-271D-6965528976C2}"/>
              </a:ext>
            </a:extLst>
          </p:cNvPr>
          <p:cNvSpPr/>
          <p:nvPr/>
        </p:nvSpPr>
        <p:spPr bwMode="auto">
          <a:xfrm>
            <a:off x="1881386" y="2276080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087691-69F9-92FB-3714-D9E66306FC2E}"/>
              </a:ext>
            </a:extLst>
          </p:cNvPr>
          <p:cNvSpPr/>
          <p:nvPr/>
        </p:nvSpPr>
        <p:spPr bwMode="auto">
          <a:xfrm>
            <a:off x="2900002" y="2276080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FB15C78-AE8E-0B00-FB4A-4E3883C6A22F}"/>
              </a:ext>
            </a:extLst>
          </p:cNvPr>
          <p:cNvSpPr/>
          <p:nvPr/>
        </p:nvSpPr>
        <p:spPr bwMode="auto">
          <a:xfrm>
            <a:off x="5039500" y="2286203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지급예정시각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5147916-DC85-F4D4-C139-643267D4FF5C}"/>
              </a:ext>
            </a:extLst>
          </p:cNvPr>
          <p:cNvSpPr/>
          <p:nvPr/>
        </p:nvSpPr>
        <p:spPr bwMode="auto">
          <a:xfrm>
            <a:off x="6058116" y="2286203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8B3A6C1-F6FD-F955-5E07-406D2AACBCDD}"/>
              </a:ext>
            </a:extLst>
          </p:cNvPr>
          <p:cNvSpPr/>
          <p:nvPr/>
        </p:nvSpPr>
        <p:spPr bwMode="auto">
          <a:xfrm>
            <a:off x="1802711" y="3080219"/>
            <a:ext cx="5803075" cy="341002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F95159F-356C-7C12-ACE1-1596337E86D8}"/>
              </a:ext>
            </a:extLst>
          </p:cNvPr>
          <p:cNvSpPr/>
          <p:nvPr/>
        </p:nvSpPr>
        <p:spPr bwMode="auto">
          <a:xfrm>
            <a:off x="1824824" y="275229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지급요청 목록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EE69A53-541C-6FF6-3B4E-B3375EF0BCEB}"/>
              </a:ext>
            </a:extLst>
          </p:cNvPr>
          <p:cNvSpPr/>
          <p:nvPr/>
        </p:nvSpPr>
        <p:spPr bwMode="auto">
          <a:xfrm>
            <a:off x="4295800" y="2767760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5470ABA-0763-929E-771A-205AA834306D}"/>
              </a:ext>
            </a:extLst>
          </p:cNvPr>
          <p:cNvSpPr/>
          <p:nvPr/>
        </p:nvSpPr>
        <p:spPr bwMode="auto">
          <a:xfrm>
            <a:off x="5417159" y="2764328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5D8A231-31B1-E910-80A5-0550E26F623A}"/>
              </a:ext>
            </a:extLst>
          </p:cNvPr>
          <p:cNvSpPr/>
          <p:nvPr/>
        </p:nvSpPr>
        <p:spPr bwMode="auto">
          <a:xfrm>
            <a:off x="6538518" y="2764327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94BF6B1-E111-41B7-9297-4D38084EDCAC}"/>
              </a:ext>
            </a:extLst>
          </p:cNvPr>
          <p:cNvSpPr/>
          <p:nvPr/>
        </p:nvSpPr>
        <p:spPr bwMode="auto">
          <a:xfrm>
            <a:off x="8451652" y="1887408"/>
            <a:ext cx="1091401" cy="15477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BE71EB8-932D-CBC7-3096-7ACF0336B34D}"/>
              </a:ext>
            </a:extLst>
          </p:cNvPr>
          <p:cNvSpPr/>
          <p:nvPr/>
        </p:nvSpPr>
        <p:spPr bwMode="auto">
          <a:xfrm>
            <a:off x="8455377" y="2090057"/>
            <a:ext cx="1097008" cy="149492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54050CA-670A-F50E-D1EF-B131E537CCFC}"/>
              </a:ext>
            </a:extLst>
          </p:cNvPr>
          <p:cNvSpPr/>
          <p:nvPr/>
        </p:nvSpPr>
        <p:spPr bwMode="auto">
          <a:xfrm>
            <a:off x="8455377" y="2307001"/>
            <a:ext cx="515271" cy="149493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2BAEE209-B86E-C23F-DD62-F8627A594E3C}"/>
              </a:ext>
            </a:extLst>
          </p:cNvPr>
          <p:cNvSpPr/>
          <p:nvPr/>
        </p:nvSpPr>
        <p:spPr bwMode="auto">
          <a:xfrm>
            <a:off x="7126641" y="2758766"/>
            <a:ext cx="479145" cy="25095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141BF58-C901-22BE-AF43-8669BC61B32B}"/>
              </a:ext>
            </a:extLst>
          </p:cNvPr>
          <p:cNvSpPr/>
          <p:nvPr/>
        </p:nvSpPr>
        <p:spPr bwMode="auto">
          <a:xfrm>
            <a:off x="8455377" y="2501348"/>
            <a:ext cx="515271" cy="149493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CE4C17BB-D487-AFD9-D04E-42E4A0510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61723"/>
              </p:ext>
            </p:extLst>
          </p:nvPr>
        </p:nvGraphicFramePr>
        <p:xfrm>
          <a:off x="2054221" y="3237126"/>
          <a:ext cx="5312640" cy="305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774">
                  <a:extLst>
                    <a:ext uri="{9D8B030D-6E8A-4147-A177-3AD203B41FA5}">
                      <a16:colId xmlns:a16="http://schemas.microsoft.com/office/drawing/2014/main" val="3331534576"/>
                    </a:ext>
                  </a:extLst>
                </a:gridCol>
                <a:gridCol w="453774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640740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800926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778715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43045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지급대상자 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지급대상자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62C2375-3B7A-2CB5-C9DD-8EDDD885D04C}"/>
              </a:ext>
            </a:extLst>
          </p:cNvPr>
          <p:cNvSpPr/>
          <p:nvPr/>
        </p:nvSpPr>
        <p:spPr bwMode="auto">
          <a:xfrm>
            <a:off x="2216724" y="394998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3FE0741-C916-5B8B-C56D-7B81412D1DE0}"/>
              </a:ext>
            </a:extLst>
          </p:cNvPr>
          <p:cNvSpPr/>
          <p:nvPr/>
        </p:nvSpPr>
        <p:spPr bwMode="auto">
          <a:xfrm>
            <a:off x="2209415" y="442390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6528A2-A889-AEBE-9634-6BBC87EB04A4}"/>
              </a:ext>
            </a:extLst>
          </p:cNvPr>
          <p:cNvSpPr/>
          <p:nvPr/>
        </p:nvSpPr>
        <p:spPr bwMode="auto">
          <a:xfrm>
            <a:off x="2209415" y="496264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8BD7935-5D57-4EBB-FACB-330A981B6842}"/>
              </a:ext>
            </a:extLst>
          </p:cNvPr>
          <p:cNvSpPr/>
          <p:nvPr/>
        </p:nvSpPr>
        <p:spPr bwMode="auto">
          <a:xfrm>
            <a:off x="2216724" y="546177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51C5D1E8-6BDA-D4E0-3FED-746CB4A3ECA7}"/>
              </a:ext>
            </a:extLst>
          </p:cNvPr>
          <p:cNvSpPr/>
          <p:nvPr/>
        </p:nvSpPr>
        <p:spPr bwMode="auto">
          <a:xfrm>
            <a:off x="2218540" y="5976086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E92C5D-5EE0-FC27-6EAD-0E523439719D}"/>
              </a:ext>
            </a:extLst>
          </p:cNvPr>
          <p:cNvSpPr/>
          <p:nvPr/>
        </p:nvSpPr>
        <p:spPr bwMode="auto">
          <a:xfrm>
            <a:off x="2221478" y="342900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8800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8723-BA5C-50C1-7351-52355530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4A0B36-C85A-9AD4-AB8F-77B8EE02E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545275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지급추가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버튼을 통해 영업점 지급추가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549B4501-102F-0161-75D4-E4151F82C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" y="11068"/>
            <a:ext cx="7947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 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지급추가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55FADC-ADFD-F48F-0668-2FF7C347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A49216F-244F-B16F-78D6-377CDB38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1BF8354-96A5-DE94-2074-D8D56B9A90C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EB61967-7CA8-C030-BA02-148EA6AC064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33C9529-D9AD-33FA-F928-7E5F7F193D0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682829-25DF-E1F0-6AE9-ED977920019B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E8BD3-88E9-48D0-E7D8-9F0856A31EAB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6B2067-731D-26DA-B712-1857237C7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292762-A590-AAA6-8092-AC3DC3798690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C8C2F-ED11-08B9-82DF-97BE00053CF6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63BDC-693D-E2CA-1217-92FA022C7AA4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141EE-6AAB-3F34-E8C5-C6F9FA816E7F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8D5F8-6315-BB4B-5BB8-F7D952105E8F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89DF5-174B-F29E-1F72-396BE13D7D99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4633B1-377E-0BC6-FD45-960001B72D4D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86BE8E-830E-28BB-C1A0-EA234BD4C89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A0CEE1-819E-4D45-019A-B42ECB0DCD44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0BE9EE-2DFB-7E06-5B0C-A182010B2C0D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32FC24-9FCC-34F6-B02E-78F92457109F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9AA0DE-3601-AE02-EFE9-E2F1CB1096AE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F6998D-1863-0E7D-1AE1-90EE9AA1FA8A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A5CF78-E99F-BB85-63F7-82540E659A30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5FF082-59F3-1EDF-0FD7-646F47EA9605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7B8671-8E6B-0698-BD7D-283D21E96227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4DD9D4-F0E6-3728-19D5-DC7D074E4A65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E595D2-A5A1-E294-42A5-4EFED7E79278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34C62C-2CB7-6757-E716-03950CB5F38C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DC3EAD-AA56-23D0-52FD-5DB1E11584DB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815056-DCE3-8715-AEE9-8097BAF67524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5B36F2-8D8F-C4F0-8B44-649D85E3ECAB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2E3E7C3-67C4-493B-8FA5-B862BEA62023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D437408-8D97-11F4-4802-9F0E3389EF70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809112-B7B2-A86C-440C-7100FA59F1D1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C5ECD-A115-8CA8-5FB9-1328C5068C6E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567EC-941F-0B32-4FEE-B6E63B59D98F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D5E1D-E3AD-C7B1-D4C0-2683B9DB87E2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48DDDA-9AB8-F923-EEDE-3C2C86CD8AB0}"/>
              </a:ext>
            </a:extLst>
          </p:cNvPr>
          <p:cNvSpPr/>
          <p:nvPr/>
        </p:nvSpPr>
        <p:spPr bwMode="auto">
          <a:xfrm>
            <a:off x="1703512" y="183411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46AE62-3101-454A-771F-81A439B62E44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0E1DFB7-5989-DFCF-3D11-A3E046F23691}"/>
              </a:ext>
            </a:extLst>
          </p:cNvPr>
          <p:cNvSpPr/>
          <p:nvPr/>
        </p:nvSpPr>
        <p:spPr bwMode="auto">
          <a:xfrm>
            <a:off x="1881386" y="2276080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28CF787-E511-9949-2933-414AD983488C}"/>
              </a:ext>
            </a:extLst>
          </p:cNvPr>
          <p:cNvSpPr/>
          <p:nvPr/>
        </p:nvSpPr>
        <p:spPr bwMode="auto">
          <a:xfrm>
            <a:off x="2900002" y="2276080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B239F32-3540-0553-F6CE-58919E2BE659}"/>
              </a:ext>
            </a:extLst>
          </p:cNvPr>
          <p:cNvSpPr/>
          <p:nvPr/>
        </p:nvSpPr>
        <p:spPr bwMode="auto">
          <a:xfrm>
            <a:off x="5039500" y="2286203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지급예정시각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2A02B31-92E0-D967-022E-31E4CA0329E1}"/>
              </a:ext>
            </a:extLst>
          </p:cNvPr>
          <p:cNvSpPr/>
          <p:nvPr/>
        </p:nvSpPr>
        <p:spPr bwMode="auto">
          <a:xfrm>
            <a:off x="6058116" y="2286203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C0082C6-3058-8F0C-3670-0E152FCCB90A}"/>
              </a:ext>
            </a:extLst>
          </p:cNvPr>
          <p:cNvSpPr/>
          <p:nvPr/>
        </p:nvSpPr>
        <p:spPr bwMode="auto">
          <a:xfrm>
            <a:off x="1802711" y="3080219"/>
            <a:ext cx="5803075" cy="341002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8EABE66-C7AB-9B91-0311-0B53D1E5103A}"/>
              </a:ext>
            </a:extLst>
          </p:cNvPr>
          <p:cNvSpPr/>
          <p:nvPr/>
        </p:nvSpPr>
        <p:spPr bwMode="auto">
          <a:xfrm>
            <a:off x="1824824" y="275229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지급요청 목록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FA1C37C-AD1D-C47A-BAFF-3D7EC4383800}"/>
              </a:ext>
            </a:extLst>
          </p:cNvPr>
          <p:cNvSpPr/>
          <p:nvPr/>
        </p:nvSpPr>
        <p:spPr bwMode="auto">
          <a:xfrm>
            <a:off x="4295800" y="2767760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6C10FEF-1E61-A12B-D840-DA96BCEC0DC6}"/>
              </a:ext>
            </a:extLst>
          </p:cNvPr>
          <p:cNvSpPr/>
          <p:nvPr/>
        </p:nvSpPr>
        <p:spPr bwMode="auto">
          <a:xfrm>
            <a:off x="5417159" y="2764328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A1ED2BD-AD65-5A78-1F4D-F098E35CC2AC}"/>
              </a:ext>
            </a:extLst>
          </p:cNvPr>
          <p:cNvSpPr/>
          <p:nvPr/>
        </p:nvSpPr>
        <p:spPr bwMode="auto">
          <a:xfrm>
            <a:off x="6538518" y="2764327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CA556D7-BCB8-9E7D-8675-2B57B2E97FDA}"/>
              </a:ext>
            </a:extLst>
          </p:cNvPr>
          <p:cNvSpPr/>
          <p:nvPr/>
        </p:nvSpPr>
        <p:spPr bwMode="auto">
          <a:xfrm>
            <a:off x="8424947" y="1280555"/>
            <a:ext cx="1091401" cy="15477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2C77921-FBF5-A27E-E8F7-F7210F6C9870}"/>
              </a:ext>
            </a:extLst>
          </p:cNvPr>
          <p:cNvSpPr/>
          <p:nvPr/>
        </p:nvSpPr>
        <p:spPr bwMode="auto">
          <a:xfrm>
            <a:off x="7126641" y="2758766"/>
            <a:ext cx="479145" cy="25095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2715F8-7044-5DBF-BC0A-7B82E073AD02}"/>
              </a:ext>
            </a:extLst>
          </p:cNvPr>
          <p:cNvSpPr/>
          <p:nvPr/>
        </p:nvSpPr>
        <p:spPr bwMode="auto">
          <a:xfrm>
            <a:off x="4230419" y="2721763"/>
            <a:ext cx="1205402" cy="33443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09D0402-7732-48E0-5140-994C1FCE1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655"/>
              </p:ext>
            </p:extLst>
          </p:nvPr>
        </p:nvGraphicFramePr>
        <p:xfrm>
          <a:off x="2054221" y="3237126"/>
          <a:ext cx="5312640" cy="305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774">
                  <a:extLst>
                    <a:ext uri="{9D8B030D-6E8A-4147-A177-3AD203B41FA5}">
                      <a16:colId xmlns:a16="http://schemas.microsoft.com/office/drawing/2014/main" val="3331534576"/>
                    </a:ext>
                  </a:extLst>
                </a:gridCol>
                <a:gridCol w="453774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640740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800926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778715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43045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지급대상자 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지급대상자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E4A96AD-199B-A84C-A2C3-FAF8F2D0F4F2}"/>
              </a:ext>
            </a:extLst>
          </p:cNvPr>
          <p:cNvSpPr/>
          <p:nvPr/>
        </p:nvSpPr>
        <p:spPr bwMode="auto">
          <a:xfrm>
            <a:off x="2209415" y="442390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D399597-CAA4-246F-C358-2F0DB55092F1}"/>
              </a:ext>
            </a:extLst>
          </p:cNvPr>
          <p:cNvSpPr/>
          <p:nvPr/>
        </p:nvSpPr>
        <p:spPr bwMode="auto">
          <a:xfrm>
            <a:off x="2209415" y="496264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D6722F-4921-B495-1DE5-608C8995F413}"/>
              </a:ext>
            </a:extLst>
          </p:cNvPr>
          <p:cNvSpPr/>
          <p:nvPr/>
        </p:nvSpPr>
        <p:spPr bwMode="auto">
          <a:xfrm>
            <a:off x="2216724" y="546177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4473AB6-0055-6E27-7D85-A9A706DC49C5}"/>
              </a:ext>
            </a:extLst>
          </p:cNvPr>
          <p:cNvSpPr/>
          <p:nvPr/>
        </p:nvSpPr>
        <p:spPr bwMode="auto">
          <a:xfrm>
            <a:off x="2218540" y="5976086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4B561B-EF71-B48A-D747-B03D53B256BB}"/>
              </a:ext>
            </a:extLst>
          </p:cNvPr>
          <p:cNvSpPr txBox="1"/>
          <p:nvPr/>
        </p:nvSpPr>
        <p:spPr>
          <a:xfrm>
            <a:off x="4790062" y="2790508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0E4117F-3338-FAF1-78D0-E805FF5EE96F}"/>
              </a:ext>
            </a:extLst>
          </p:cNvPr>
          <p:cNvSpPr/>
          <p:nvPr/>
        </p:nvSpPr>
        <p:spPr bwMode="auto">
          <a:xfrm>
            <a:off x="2216724" y="394998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025EB45-A8E6-DDC2-0FD8-2726B3F26C8B}"/>
              </a:ext>
            </a:extLst>
          </p:cNvPr>
          <p:cNvSpPr/>
          <p:nvPr/>
        </p:nvSpPr>
        <p:spPr bwMode="auto">
          <a:xfrm>
            <a:off x="2221478" y="342900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2499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07B2-9747-7B1B-802D-C0C9244C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9DF253-ACB3-0C9E-9C20-7B86B843F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96345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지급추가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버튼을 통해 영업점 검색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영업점 코드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상호명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사업자번호로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조회 후 지급요청 리스트      전체 체크 후             클릭 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BE34244-F894-ECBA-DBEF-2E739BDE1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" y="11068"/>
            <a:ext cx="7947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 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영업점 지급추가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4A5911F-78D8-6E99-A4C4-20A5C001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A09981-5E51-C580-1474-805962F90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0857DBE-63AC-FDB7-0EB0-11C10CC05586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705A2D8-EAEB-A091-4C2F-2E95A32F8964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CEB4304-60E9-A2CB-4BB5-FAC44C24DE95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101F6F-68D9-DE2C-4403-A8A3A83D0CFA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EE711-AF10-47D0-4740-D5AD2C678BA7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52604E8-882D-95DA-8013-25C75F5BF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667556-94CC-53F6-7943-C99640325A8A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792FEA-DA1F-04AC-1930-BA8DBE64C4F1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DC768-2C51-6A50-541C-4A5CAD56876C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2D4A6F-BC0E-C151-1317-B3826627BB2E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E126F-6FCD-43D4-2341-D988ACACD71E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2A4B29-B1BF-8A70-39FE-DEE1E637E707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4B4F48-A9BA-F2C4-5F92-38B7EF348903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AE5A82-4BCA-B2A7-7D37-23250560FC16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9AD14F-BF47-1141-9278-D113188F40A3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7133ED-11FA-3E9A-5C5B-29FC78A0C82F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BE5F98-7D5B-97C2-A7FC-09B0089B35A1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5B5FE5-EC5E-BB08-A31E-7674D1F3D7D3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96C40B-0AA5-F0E1-9F6D-7034CE616D68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62493F-D657-3137-B3E6-792DC17F3133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14D0795-F71D-C2D0-2AEF-AB531BBC996F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39BC30-1E8F-964F-4B2E-6127E0A6C178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C639F4-7590-8C68-C2FA-1B99548728D1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57A0F0-FD12-00B2-E391-5868AB4786D9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A81852-3944-B80F-71F1-0D2674230886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DA6DC7-E17B-9B1D-9625-44EFD2C3AD57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5B2681-2ED2-89D4-6177-1B5FA98AAD09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1CB723-8BC2-E47B-3AEB-C4949AB25397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4BAC7E-A96D-7F7F-AE9B-7D58CB62CD9B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14C086-ABEF-E64B-F371-F740C19C3E91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73DFD6B-8244-3BD4-887D-C7AD6A2D6A28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71A60-4C2B-F64F-C0B1-1C573E49EF2E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D69AB-9880-5B0F-DFE9-55D4E073F4AB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3EF5B5-EE40-7D5D-5964-8A2CAECD04A3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D48B26-926D-EF83-0311-EA0D7A2D751F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BABD0C0-402A-938D-8419-9ED989FE4719}"/>
              </a:ext>
            </a:extLst>
          </p:cNvPr>
          <p:cNvSpPr/>
          <p:nvPr/>
        </p:nvSpPr>
        <p:spPr bwMode="auto">
          <a:xfrm>
            <a:off x="1802712" y="2653249"/>
            <a:ext cx="5656242" cy="3368039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109F61-01FD-3804-567F-595247ADA6EA}"/>
              </a:ext>
            </a:extLst>
          </p:cNvPr>
          <p:cNvSpPr/>
          <p:nvPr/>
        </p:nvSpPr>
        <p:spPr bwMode="auto">
          <a:xfrm>
            <a:off x="1718156" y="1834292"/>
            <a:ext cx="1233886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C58E30A-8913-6648-C96A-CCB81DEF3EBA}"/>
              </a:ext>
            </a:extLst>
          </p:cNvPr>
          <p:cNvSpPr/>
          <p:nvPr/>
        </p:nvSpPr>
        <p:spPr bwMode="auto">
          <a:xfrm>
            <a:off x="1881386" y="2276080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코드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C76C67E-0CCA-7BCF-E3FF-D3E178D0F13D}"/>
              </a:ext>
            </a:extLst>
          </p:cNvPr>
          <p:cNvSpPr/>
          <p:nvPr/>
        </p:nvSpPr>
        <p:spPr bwMode="auto">
          <a:xfrm>
            <a:off x="2911100" y="2284412"/>
            <a:ext cx="269219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코드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or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상호명 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  <a:endParaRPr lang="en-US" altLang="ko-KR" sz="1000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29FE7EB-1DE7-41E2-DBCE-91C27ABE1F99}"/>
              </a:ext>
            </a:extLst>
          </p:cNvPr>
          <p:cNvSpPr/>
          <p:nvPr/>
        </p:nvSpPr>
        <p:spPr bwMode="auto">
          <a:xfrm>
            <a:off x="5689216" y="2279434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02A0D58-D7C4-BA3B-403E-0BB79996E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68038"/>
              </p:ext>
            </p:extLst>
          </p:nvPr>
        </p:nvGraphicFramePr>
        <p:xfrm>
          <a:off x="2033371" y="2837521"/>
          <a:ext cx="5312639" cy="305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326">
                  <a:extLst>
                    <a:ext uri="{9D8B030D-6E8A-4147-A177-3AD203B41FA5}">
                      <a16:colId xmlns:a16="http://schemas.microsoft.com/office/drawing/2014/main" val="3331534576"/>
                    </a:ext>
                  </a:extLst>
                </a:gridCol>
                <a:gridCol w="394326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556798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695998">
                  <a:extLst>
                    <a:ext uri="{9D8B030D-6E8A-4147-A177-3AD203B41FA5}">
                      <a16:colId xmlns:a16="http://schemas.microsoft.com/office/drawing/2014/main" val="3824608719"/>
                    </a:ext>
                  </a:extLst>
                </a:gridCol>
                <a:gridCol w="695998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676697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645700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영업점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영업점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영업점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연락처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45FE188-B10B-55B2-C6D7-4650821EFB4E}"/>
              </a:ext>
            </a:extLst>
          </p:cNvPr>
          <p:cNvSpPr/>
          <p:nvPr/>
        </p:nvSpPr>
        <p:spPr bwMode="auto">
          <a:xfrm>
            <a:off x="2188565" y="402429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23CE37C-C598-6E5B-AC7D-5E34D9B70D14}"/>
              </a:ext>
            </a:extLst>
          </p:cNvPr>
          <p:cNvSpPr/>
          <p:nvPr/>
        </p:nvSpPr>
        <p:spPr bwMode="auto">
          <a:xfrm>
            <a:off x="2188565" y="456303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6C2560A-DF93-8B73-F4B8-AD4DD9DAE5BF}"/>
              </a:ext>
            </a:extLst>
          </p:cNvPr>
          <p:cNvSpPr/>
          <p:nvPr/>
        </p:nvSpPr>
        <p:spPr bwMode="auto">
          <a:xfrm>
            <a:off x="2195874" y="506217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336712B-4A84-1988-CBC0-9BE8A58AEEB8}"/>
              </a:ext>
            </a:extLst>
          </p:cNvPr>
          <p:cNvSpPr/>
          <p:nvPr/>
        </p:nvSpPr>
        <p:spPr bwMode="auto">
          <a:xfrm>
            <a:off x="2197690" y="5576481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6364D90-66D2-1B31-F132-5A9456C4F514}"/>
              </a:ext>
            </a:extLst>
          </p:cNvPr>
          <p:cNvSpPr/>
          <p:nvPr/>
        </p:nvSpPr>
        <p:spPr bwMode="auto">
          <a:xfrm>
            <a:off x="2195874" y="3550375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8C44246-1EB8-C93E-28F3-4381D5C6F9CD}"/>
              </a:ext>
            </a:extLst>
          </p:cNvPr>
          <p:cNvSpPr/>
          <p:nvPr/>
        </p:nvSpPr>
        <p:spPr bwMode="auto">
          <a:xfrm>
            <a:off x="7142979" y="6205560"/>
            <a:ext cx="479145" cy="25095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7406D77-0A97-CC25-5030-C3EB858A250B}"/>
              </a:ext>
            </a:extLst>
          </p:cNvPr>
          <p:cNvSpPr/>
          <p:nvPr/>
        </p:nvSpPr>
        <p:spPr bwMode="auto">
          <a:xfrm>
            <a:off x="8439412" y="1268760"/>
            <a:ext cx="890390" cy="157627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코드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B14E7FA-3B1B-B80A-C94F-A670DD15B776}"/>
              </a:ext>
            </a:extLst>
          </p:cNvPr>
          <p:cNvSpPr/>
          <p:nvPr/>
        </p:nvSpPr>
        <p:spPr bwMode="auto">
          <a:xfrm>
            <a:off x="9775442" y="167803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5" name="그래픽 64" descr="확인 표시 단색으로 채워진">
            <a:extLst>
              <a:ext uri="{FF2B5EF4-FFF2-40B4-BE49-F238E27FC236}">
                <a16:creationId xmlns:a16="http://schemas.microsoft.com/office/drawing/2014/main" id="{A2AE9F92-344F-9F7E-E889-E5D6F7BAA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6831" y="1631358"/>
            <a:ext cx="177218" cy="177218"/>
          </a:xfrm>
          <a:prstGeom prst="rect">
            <a:avLst/>
          </a:prstGeom>
        </p:spPr>
      </p:pic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22BB8B-0EED-AF75-ECC8-99A4EB7ED34B}"/>
              </a:ext>
            </a:extLst>
          </p:cNvPr>
          <p:cNvSpPr/>
          <p:nvPr/>
        </p:nvSpPr>
        <p:spPr bwMode="auto">
          <a:xfrm>
            <a:off x="10700216" y="1674162"/>
            <a:ext cx="432817" cy="171738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60F7205-0A5F-7CA2-64C6-F2DB290FFFE9}"/>
              </a:ext>
            </a:extLst>
          </p:cNvPr>
          <p:cNvSpPr/>
          <p:nvPr/>
        </p:nvSpPr>
        <p:spPr bwMode="auto">
          <a:xfrm>
            <a:off x="2184806" y="3042955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858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9322-2456-9C48-507D-CB266C95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4D0897-D04E-F1B6-92C7-012EA5C56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96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지급추가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버튼을 통해 영업점 지급추가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41A6B59-F499-0FF4-8738-458B4340F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" y="11068"/>
            <a:ext cx="7947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 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지급추가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EF9E236-5805-FE33-23E1-55883A56A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279AF82-14A4-C1A3-5E5F-6944479DD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78DB909-B1FD-8BA3-C6F2-EA5E83C6B5BF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582502A-5E49-BF5F-6C0E-BB2815C898F5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EC72C17-850F-BA35-027C-49A4EE6B9BF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66973B-51AD-3B8E-FCDB-C47816D20EF7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7B86D-C566-8315-4A8B-E0A6F959FB6F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183404-BBA7-FAD8-0E68-4F5031932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585637-D3AE-8630-95F2-2DDE94B50D7B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663FB-67E0-B1B0-03C9-0913C1FE791C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C31E5-6306-CA6C-CB26-2506AA796A27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18F424-9347-A70A-15B5-1F0A8C721B79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A32B5-7ACB-C1E8-96CC-85DB6ED89EC7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2646EA-80D5-42D7-3F32-F350AFEBEA2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7188B9-121B-C21B-244E-8F9717393C30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D4B868-9F73-E5E5-79B0-CB7B51073A0B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30F53A-59F2-4CB5-0233-8CFD8D75F219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FAA8F-8868-1BB7-94F6-979B50555515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7174E7-A6CE-6A14-39A7-A8DD392B8C0D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873B04-2E9A-1C0E-3023-8AEFB6911277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DD5982-C33A-834A-E76B-CF2575D38B75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E5FCC3C-3F59-2D34-737F-510B50A6131B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1B49C2-2945-B336-9D08-3F7FCB6030B0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C933EE-4496-B530-C986-33EF4979ECDC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EFC101-B58F-7DFC-963A-3ECB2CA573B8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38B6C4-F76D-8C20-6F12-5EC9F282F058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67A8F7-EAF1-121D-D8A0-0993573230FD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27553C-1AD7-042E-865C-CD2319BAD80C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B1D9A-E34F-8024-6FCB-0753BA0FFB4B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03B01BC-9BF5-B7B3-183F-99B3E2F2266F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DD8F23A-6AD9-8736-6351-506B70309D2C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0C97E5-0604-C918-1634-4EAE9B6D4882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01758A-5354-7C2C-A8F8-05828F04FEAA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A63E3-748F-C11A-97FA-598DD026DE85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C5C95-CDC1-2C70-74BA-54FB2AD67C78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81112-0575-7E61-9ACC-2B0EC766B5F0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C9975-09A0-672F-375A-FE6B9DC70955}"/>
              </a:ext>
            </a:extLst>
          </p:cNvPr>
          <p:cNvSpPr/>
          <p:nvPr/>
        </p:nvSpPr>
        <p:spPr bwMode="auto">
          <a:xfrm>
            <a:off x="1703512" y="183411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E54D8B-D0C3-6F69-2117-C2E24E1BF4EC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CF21FDD-3174-7A90-7CAB-241881039E6A}"/>
              </a:ext>
            </a:extLst>
          </p:cNvPr>
          <p:cNvSpPr/>
          <p:nvPr/>
        </p:nvSpPr>
        <p:spPr bwMode="auto">
          <a:xfrm>
            <a:off x="1881386" y="2276080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17C844-29D7-D6E7-C8E5-3F538E0A3C3F}"/>
              </a:ext>
            </a:extLst>
          </p:cNvPr>
          <p:cNvSpPr/>
          <p:nvPr/>
        </p:nvSpPr>
        <p:spPr bwMode="auto">
          <a:xfrm>
            <a:off x="2900002" y="2276080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99F2DBA-1A4B-BE47-7678-7E0976F2718B}"/>
              </a:ext>
            </a:extLst>
          </p:cNvPr>
          <p:cNvSpPr/>
          <p:nvPr/>
        </p:nvSpPr>
        <p:spPr bwMode="auto">
          <a:xfrm>
            <a:off x="5039500" y="2286203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지급예정시각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754466E-8BCA-B0B9-CD70-C238D89739EC}"/>
              </a:ext>
            </a:extLst>
          </p:cNvPr>
          <p:cNvSpPr/>
          <p:nvPr/>
        </p:nvSpPr>
        <p:spPr bwMode="auto">
          <a:xfrm>
            <a:off x="6058116" y="2286203"/>
            <a:ext cx="1489927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E6824F5-2D3E-6975-D136-D3C02B738246}"/>
              </a:ext>
            </a:extLst>
          </p:cNvPr>
          <p:cNvSpPr/>
          <p:nvPr/>
        </p:nvSpPr>
        <p:spPr bwMode="auto">
          <a:xfrm>
            <a:off x="1802711" y="3080219"/>
            <a:ext cx="5803075" cy="3410028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117AE06-0D6A-CCC0-8422-B3E8788FE9F1}"/>
              </a:ext>
            </a:extLst>
          </p:cNvPr>
          <p:cNvSpPr/>
          <p:nvPr/>
        </p:nvSpPr>
        <p:spPr bwMode="auto">
          <a:xfrm>
            <a:off x="1824824" y="2752299"/>
            <a:ext cx="1127218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지급요청 목록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64B2433-92E0-E7AC-CEA1-8A29D1A9D992}"/>
              </a:ext>
            </a:extLst>
          </p:cNvPr>
          <p:cNvSpPr/>
          <p:nvPr/>
        </p:nvSpPr>
        <p:spPr bwMode="auto">
          <a:xfrm>
            <a:off x="4295800" y="2767760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CF31479-C871-529B-7A27-B34F7F7AC8EF}"/>
              </a:ext>
            </a:extLst>
          </p:cNvPr>
          <p:cNvSpPr/>
          <p:nvPr/>
        </p:nvSpPr>
        <p:spPr bwMode="auto">
          <a:xfrm>
            <a:off x="5417159" y="2764328"/>
            <a:ext cx="1084037" cy="245391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66B80D3-11D3-FB5B-3E81-77BA4EDC050B}"/>
              </a:ext>
            </a:extLst>
          </p:cNvPr>
          <p:cNvSpPr/>
          <p:nvPr/>
        </p:nvSpPr>
        <p:spPr bwMode="auto">
          <a:xfrm>
            <a:off x="6538518" y="2764327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EC5438-5D13-4DD6-5293-3F78416A2F0F}"/>
              </a:ext>
            </a:extLst>
          </p:cNvPr>
          <p:cNvSpPr/>
          <p:nvPr/>
        </p:nvSpPr>
        <p:spPr bwMode="auto">
          <a:xfrm>
            <a:off x="8424947" y="1280555"/>
            <a:ext cx="1091401" cy="15477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지급추가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ECA5DBDD-6D66-1BD4-7504-B1B772E7D4B8}"/>
              </a:ext>
            </a:extLst>
          </p:cNvPr>
          <p:cNvSpPr/>
          <p:nvPr/>
        </p:nvSpPr>
        <p:spPr bwMode="auto">
          <a:xfrm>
            <a:off x="7126641" y="2758766"/>
            <a:ext cx="479145" cy="25095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DFCB5F-4179-E2CC-F900-2750CB50B274}"/>
              </a:ext>
            </a:extLst>
          </p:cNvPr>
          <p:cNvSpPr/>
          <p:nvPr/>
        </p:nvSpPr>
        <p:spPr bwMode="auto">
          <a:xfrm>
            <a:off x="5365848" y="2721763"/>
            <a:ext cx="1205402" cy="33443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00FA422-8777-AF34-EA0F-6D8CE5BBC1F2}"/>
              </a:ext>
            </a:extLst>
          </p:cNvPr>
          <p:cNvGraphicFramePr>
            <a:graphicFrameLocks noGrp="1"/>
          </p:cNvGraphicFramePr>
          <p:nvPr/>
        </p:nvGraphicFramePr>
        <p:xfrm>
          <a:off x="2054221" y="3237126"/>
          <a:ext cx="5312640" cy="305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774">
                  <a:extLst>
                    <a:ext uri="{9D8B030D-6E8A-4147-A177-3AD203B41FA5}">
                      <a16:colId xmlns:a16="http://schemas.microsoft.com/office/drawing/2014/main" val="3331534576"/>
                    </a:ext>
                  </a:extLst>
                </a:gridCol>
                <a:gridCol w="453774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640740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800926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778715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43045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720833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 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지급대상자 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지급대상자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CE14FC0-0B39-FDE0-CBA5-C22C8C73B322}"/>
              </a:ext>
            </a:extLst>
          </p:cNvPr>
          <p:cNvSpPr/>
          <p:nvPr/>
        </p:nvSpPr>
        <p:spPr bwMode="auto">
          <a:xfrm>
            <a:off x="2209415" y="442390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1912C0A-B5C6-0174-55C7-4C88068C2C26}"/>
              </a:ext>
            </a:extLst>
          </p:cNvPr>
          <p:cNvSpPr/>
          <p:nvPr/>
        </p:nvSpPr>
        <p:spPr bwMode="auto">
          <a:xfrm>
            <a:off x="2209415" y="496264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E7226B6-272B-7E04-E0B9-CFDEA89BA16D}"/>
              </a:ext>
            </a:extLst>
          </p:cNvPr>
          <p:cNvSpPr/>
          <p:nvPr/>
        </p:nvSpPr>
        <p:spPr bwMode="auto">
          <a:xfrm>
            <a:off x="2216724" y="546177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6ECC2F8-387D-0C03-DD1D-20DC5F470BCA}"/>
              </a:ext>
            </a:extLst>
          </p:cNvPr>
          <p:cNvSpPr/>
          <p:nvPr/>
        </p:nvSpPr>
        <p:spPr bwMode="auto">
          <a:xfrm>
            <a:off x="2218540" y="5976086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BF24A4-ED55-9176-7EC3-AA024AC5D7DA}"/>
              </a:ext>
            </a:extLst>
          </p:cNvPr>
          <p:cNvSpPr txBox="1"/>
          <p:nvPr/>
        </p:nvSpPr>
        <p:spPr>
          <a:xfrm>
            <a:off x="5925491" y="2790508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A7C4095-29D8-BFEA-B4A7-0AD9CFCED610}"/>
              </a:ext>
            </a:extLst>
          </p:cNvPr>
          <p:cNvSpPr/>
          <p:nvPr/>
        </p:nvSpPr>
        <p:spPr bwMode="auto">
          <a:xfrm>
            <a:off x="2216724" y="394998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381418-F908-45AC-6926-112949B7868E}"/>
              </a:ext>
            </a:extLst>
          </p:cNvPr>
          <p:cNvSpPr/>
          <p:nvPr/>
        </p:nvSpPr>
        <p:spPr bwMode="auto">
          <a:xfrm>
            <a:off x="2221478" y="3429000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6164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795E-028F-7694-2073-D1C2F0833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F0170D-E85F-0F11-B74A-69E27501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04786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상세보기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지급추가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버튼을 통해 영업점 검색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가맹점 코드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상호명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사업자번호로 조회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조회 후 지급요청 리스트      전체 체크 후             클릭 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A9519AB3-BC57-AE5D-5C11-6A2761AE9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" y="11068"/>
            <a:ext cx="7947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 상세보기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가맹점 지급추가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335E25-A84F-3A66-E91F-A09EC68D2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CCBF79C-BCE3-BE0E-D1A6-A5E953220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96348B8-1981-917B-F0B7-448CBD9A3E8E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31B1ED3-92D1-2AAF-FC8A-5A7078AC122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240CEBF-96D3-7115-1935-A5BEAF7A5FC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6B757B-EB54-2103-029B-CB056CF42ECE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22619-E923-1B5C-E7BA-F49AF03DBF8B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945A78D-4295-91DA-A270-5B08B54D3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CCD40-7D91-EF49-1F69-F6D8BC32BF2B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E025C0-70C9-B774-88BD-30167A51C5BA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7571B-22A7-9324-1D89-9515CDD4E438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1D2A7-F122-BF2A-0401-DB181AD767ED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E61CE7-FE15-C557-5703-C67E60142A4B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D4DF0-7FDE-71EF-2D51-9DDCB73A78EC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828ADE-F55E-72E2-B7A6-923A0EC14DD0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82DD7D-5A00-65DE-7DE4-730C3CF2F831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AD04E0-4506-E12D-BB9D-3D762548C0D4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F301B9-7231-8BC6-3F44-8B04910F3615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0821BA-6194-A5CE-C329-957322061612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9ABFA2-58F2-D1FD-1F64-3E6544ED234B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A3CF9E-E82E-51D7-CBBA-6A41184B38A1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EAA4C1-1203-4D48-777D-F4694528B48A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F649DC-CBD8-84EF-ACAC-27EE326B35BE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9C2ADD-4913-8AB0-41F6-C34954A7727A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55CB19-1B88-AF3E-466F-FA7E9462A69E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4AA4B8-BED5-1687-1F6B-6B6EBB89B5D5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6609B6-B474-1309-FF88-1364F0082450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AA28D7-8BE9-1AC3-63E0-7A5DC9C22804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A27E14-B614-3AEE-1559-44CF5BA4D379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09E629-0B53-3CA1-881A-C5BDA200AAC8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B8C7DC4-16D8-F566-03D2-BB2D6935DFCD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93FC835-E9F8-682E-B122-DE5E2A30FF89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8CC150-D143-EF62-5C3B-C7EA82248274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0B196-4632-1B03-9D7D-BEBAC67B6A17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E2F91-E70F-D642-636A-31CCFF77B000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002CB-0F5B-F50D-BC03-1DD5CD743811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B2A06-AF77-E50C-47BE-1ECF7F65DF36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F4A8790-1AB6-685B-FF06-8F0079B18F9E}"/>
              </a:ext>
            </a:extLst>
          </p:cNvPr>
          <p:cNvSpPr/>
          <p:nvPr/>
        </p:nvSpPr>
        <p:spPr bwMode="auto">
          <a:xfrm>
            <a:off x="1802712" y="2653249"/>
            <a:ext cx="5656242" cy="3368039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9A0A1C-4CC6-4212-4F4F-B9B1927F8468}"/>
              </a:ext>
            </a:extLst>
          </p:cNvPr>
          <p:cNvSpPr/>
          <p:nvPr/>
        </p:nvSpPr>
        <p:spPr bwMode="auto">
          <a:xfrm>
            <a:off x="1718156" y="1834292"/>
            <a:ext cx="1233886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가맹점 지급추가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F5D4D1-B4F6-0A6C-4712-FE91CBB2C109}"/>
              </a:ext>
            </a:extLst>
          </p:cNvPr>
          <p:cNvSpPr/>
          <p:nvPr/>
        </p:nvSpPr>
        <p:spPr bwMode="auto">
          <a:xfrm>
            <a:off x="1881386" y="2276080"/>
            <a:ext cx="94409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점 코드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7375E6F-325B-A2FB-E32E-A634093EF162}"/>
              </a:ext>
            </a:extLst>
          </p:cNvPr>
          <p:cNvSpPr/>
          <p:nvPr/>
        </p:nvSpPr>
        <p:spPr bwMode="auto">
          <a:xfrm>
            <a:off x="2911100" y="2284412"/>
            <a:ext cx="269219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영업점 코드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or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상호명 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사업자번호</a:t>
            </a:r>
            <a:endParaRPr lang="en-US" altLang="ko-KR" sz="1000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212AAEA-D72D-CDCE-9DBF-B889B9F4CB0F}"/>
              </a:ext>
            </a:extLst>
          </p:cNvPr>
          <p:cNvSpPr/>
          <p:nvPr/>
        </p:nvSpPr>
        <p:spPr bwMode="auto">
          <a:xfrm>
            <a:off x="5689216" y="2279434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9E7B450-C7E0-F1CA-F5C2-796E2452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775645"/>
              </p:ext>
            </p:extLst>
          </p:nvPr>
        </p:nvGraphicFramePr>
        <p:xfrm>
          <a:off x="2033371" y="2837521"/>
          <a:ext cx="5312639" cy="305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326">
                  <a:extLst>
                    <a:ext uri="{9D8B030D-6E8A-4147-A177-3AD203B41FA5}">
                      <a16:colId xmlns:a16="http://schemas.microsoft.com/office/drawing/2014/main" val="3331534576"/>
                    </a:ext>
                  </a:extLst>
                </a:gridCol>
                <a:gridCol w="394326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556798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695998">
                  <a:extLst>
                    <a:ext uri="{9D8B030D-6E8A-4147-A177-3AD203B41FA5}">
                      <a16:colId xmlns:a16="http://schemas.microsoft.com/office/drawing/2014/main" val="3824608719"/>
                    </a:ext>
                  </a:extLst>
                </a:gridCol>
                <a:gridCol w="695998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676697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645700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</a:tblGrid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코드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 상호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영업점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연락처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509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E93E216-9171-F2F1-619E-521EC1967967}"/>
              </a:ext>
            </a:extLst>
          </p:cNvPr>
          <p:cNvSpPr/>
          <p:nvPr/>
        </p:nvSpPr>
        <p:spPr bwMode="auto">
          <a:xfrm>
            <a:off x="2188565" y="402429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263F69C-9225-9B61-01ED-0581F928852C}"/>
              </a:ext>
            </a:extLst>
          </p:cNvPr>
          <p:cNvSpPr/>
          <p:nvPr/>
        </p:nvSpPr>
        <p:spPr bwMode="auto">
          <a:xfrm>
            <a:off x="2188565" y="4563037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D229CF8-3AD4-28EE-BC7E-E9DF851BA804}"/>
              </a:ext>
            </a:extLst>
          </p:cNvPr>
          <p:cNvSpPr/>
          <p:nvPr/>
        </p:nvSpPr>
        <p:spPr bwMode="auto">
          <a:xfrm>
            <a:off x="2195874" y="506217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CB8DC82-F759-4776-FC5D-81FBA46C9440}"/>
              </a:ext>
            </a:extLst>
          </p:cNvPr>
          <p:cNvSpPr/>
          <p:nvPr/>
        </p:nvSpPr>
        <p:spPr bwMode="auto">
          <a:xfrm>
            <a:off x="2197690" y="5576481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749A186-F9DD-0ACF-1F8A-4A42C340965F}"/>
              </a:ext>
            </a:extLst>
          </p:cNvPr>
          <p:cNvSpPr/>
          <p:nvPr/>
        </p:nvSpPr>
        <p:spPr bwMode="auto">
          <a:xfrm>
            <a:off x="2195874" y="3550375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B776A46-7EF8-6ACF-21EF-6734832F0133}"/>
              </a:ext>
            </a:extLst>
          </p:cNvPr>
          <p:cNvSpPr/>
          <p:nvPr/>
        </p:nvSpPr>
        <p:spPr bwMode="auto">
          <a:xfrm>
            <a:off x="7142979" y="6205560"/>
            <a:ext cx="479145" cy="250951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BBA682C6-82EC-298F-AD7E-D1F91CD8B8B3}"/>
              </a:ext>
            </a:extLst>
          </p:cNvPr>
          <p:cNvSpPr/>
          <p:nvPr/>
        </p:nvSpPr>
        <p:spPr bwMode="auto">
          <a:xfrm>
            <a:off x="8439412" y="1268760"/>
            <a:ext cx="890390" cy="157627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가맹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점 코드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98BBB1-DE87-E5E7-E3AC-58E2E94ED75C}"/>
              </a:ext>
            </a:extLst>
          </p:cNvPr>
          <p:cNvSpPr/>
          <p:nvPr/>
        </p:nvSpPr>
        <p:spPr bwMode="auto">
          <a:xfrm>
            <a:off x="2184806" y="3050611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52823BF-8DAA-1A26-80EF-E53605D166CF}"/>
              </a:ext>
            </a:extLst>
          </p:cNvPr>
          <p:cNvSpPr/>
          <p:nvPr/>
        </p:nvSpPr>
        <p:spPr bwMode="auto">
          <a:xfrm>
            <a:off x="9775442" y="1678032"/>
            <a:ext cx="144016" cy="157226"/>
          </a:xfrm>
          <a:prstGeom prst="round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래픽 22" descr="확인 표시 단색으로 채워진">
            <a:extLst>
              <a:ext uri="{FF2B5EF4-FFF2-40B4-BE49-F238E27FC236}">
                <a16:creationId xmlns:a16="http://schemas.microsoft.com/office/drawing/2014/main" id="{1414ACD2-501C-3C26-E88B-66E0C94CA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6831" y="1631358"/>
            <a:ext cx="177218" cy="177218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A90AD76-7074-D038-27C5-DD68365D1CA8}"/>
              </a:ext>
            </a:extLst>
          </p:cNvPr>
          <p:cNvSpPr/>
          <p:nvPr/>
        </p:nvSpPr>
        <p:spPr bwMode="auto">
          <a:xfrm>
            <a:off x="10700216" y="1674162"/>
            <a:ext cx="432817" cy="171738"/>
          </a:xfrm>
          <a:prstGeom prst="roundRect">
            <a:avLst/>
          </a:prstGeom>
          <a:solidFill>
            <a:srgbClr val="2121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1451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F8F7-600F-3BFE-8AA3-CEF04AD2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9FBBE52-5E85-EDF4-DDD0-653C47A41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032683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대량건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버튼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단건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등록을 위한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활성화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1FFD17C3-B683-306C-BB37-BEA38879F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대량건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135BE1-5433-72AF-4145-00B6A34C1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4521FE9-E614-081E-8DDE-9A3878194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EC8F744-3D98-33A0-EABF-41BE6A4A7DF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5ACECD8-A3C5-3F2C-4946-70209DBAF50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290DA30-2C66-31DF-F51B-EAE41DDDFC58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4EA9B0C-0666-2E60-34BD-982D62D91B62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23559-447D-1DA6-DAD0-FEE644B99573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583CF3-3D64-2616-237E-55AB86719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1A12BB-B467-CC76-9BAF-C108E0CA6954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9CB33-09F6-2885-A5BB-FED83F3ED30B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73ABD-3BBF-F2F9-F707-1CEF43A11F56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32751-94CB-BBBD-02F9-DD597B2F5A5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0CE2F-ADAB-1746-9321-0ED3F1E5EF11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B1FAD-F94E-1E26-3A3E-D5D658189C26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D133E-1F4B-7D75-ABA0-0FA8041DAF4B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70F47-1C59-8A82-865E-6BEA76E00CE2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90804E-CBF0-EB7E-6D4A-F6D30096FEEE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D376B7-2B28-530B-DC5D-5FBD23D6BF6E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9820D2-D6AB-A270-37EB-EACF9A97446D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09F468-894A-F98C-9BFE-96CCE7B0CEC9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0C3D63-9C64-1276-0739-555BBD54DC2F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8FC148-85FE-662A-DC63-73D3EF1232B5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30B327-C7EC-4A2A-8B9F-824DDDF95F6E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2108E2-A9A7-164A-4936-A87E7FD26F07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E480EC-5DDA-D1C0-B5E9-2F066BE3301E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7FE61F-9D85-2815-D58B-6DF39F222182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63E358-F063-5FA2-50EF-122A3594CD00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02C8AF-F3E8-FD24-10C8-A4889701158D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098987-BC92-136E-C649-EB468ECEC4B2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F72977-9369-0385-AF90-673456FFD37F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D5390F5-2672-4772-2807-AE6174B588B1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C0EE48-2B87-F15C-A036-1AE97FCDF123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AFD6D0-F03E-9B29-07B5-56CF55E1F87A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323E6-AB38-D608-0D49-09504DC4424B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3B82A-2E9A-CDE7-E51B-B3F60C35B5FA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DE7927-6A21-89B6-8C95-6EC505006481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3F850B6-7BA4-2737-9AB0-C6C18899C7FF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3CBE4A-4D1F-63E0-48CF-7EFACF37683F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2957E31-10B0-ADCA-82B4-F6C5B69E0382}"/>
              </a:ext>
            </a:extLst>
          </p:cNvPr>
          <p:cNvSpPr/>
          <p:nvPr/>
        </p:nvSpPr>
        <p:spPr bwMode="auto">
          <a:xfrm>
            <a:off x="3099709" y="2195324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8DBCED0-9968-A4F5-0331-78DD2F5F0B2B}"/>
              </a:ext>
            </a:extLst>
          </p:cNvPr>
          <p:cNvSpPr/>
          <p:nvPr/>
        </p:nvSpPr>
        <p:spPr bwMode="auto">
          <a:xfrm>
            <a:off x="1792845" y="2194352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      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C4B80E1-25EA-5CB2-98F3-992676965402}"/>
              </a:ext>
            </a:extLst>
          </p:cNvPr>
          <p:cNvSpPr/>
          <p:nvPr/>
        </p:nvSpPr>
        <p:spPr bwMode="auto">
          <a:xfrm>
            <a:off x="5433767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지급유형       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BD09CC2-FB44-A595-F20D-19BC2E087870}"/>
              </a:ext>
            </a:extLst>
          </p:cNvPr>
          <p:cNvSpPr/>
          <p:nvPr/>
        </p:nvSpPr>
        <p:spPr bwMode="auto">
          <a:xfrm>
            <a:off x="6566163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지급상태       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55EF03F-4B2B-FBA4-D1B6-3752DB429F24}"/>
              </a:ext>
            </a:extLst>
          </p:cNvPr>
          <p:cNvSpPr/>
          <p:nvPr/>
        </p:nvSpPr>
        <p:spPr bwMode="auto">
          <a:xfrm>
            <a:off x="3910407" y="250160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1E2499A-7602-E232-3FD3-F900EB385650}"/>
              </a:ext>
            </a:extLst>
          </p:cNvPr>
          <p:cNvSpPr/>
          <p:nvPr/>
        </p:nvSpPr>
        <p:spPr bwMode="auto">
          <a:xfrm>
            <a:off x="5337388" y="250160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735B3D2-DAD4-108F-3332-A5270A7B5DBB}"/>
              </a:ext>
            </a:extLst>
          </p:cNvPr>
          <p:cNvSpPr/>
          <p:nvPr/>
        </p:nvSpPr>
        <p:spPr bwMode="auto">
          <a:xfrm>
            <a:off x="6486161" y="2501605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7128C5C-544C-1417-5546-850E7D9E0B15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BDB840-D90D-A999-B64B-B1FD29A78FC6}"/>
              </a:ext>
            </a:extLst>
          </p:cNvPr>
          <p:cNvSpPr/>
          <p:nvPr/>
        </p:nvSpPr>
        <p:spPr bwMode="auto">
          <a:xfrm>
            <a:off x="7054678" y="2501605"/>
            <a:ext cx="562821" cy="245391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3EE965-DEDA-F3A8-362C-3F49EECD4EE4}"/>
              </a:ext>
            </a:extLst>
          </p:cNvPr>
          <p:cNvSpPr/>
          <p:nvPr/>
        </p:nvSpPr>
        <p:spPr bwMode="auto">
          <a:xfrm>
            <a:off x="1826119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F62AEC-682B-236D-B4EE-8FC62AA7D585}"/>
              </a:ext>
            </a:extLst>
          </p:cNvPr>
          <p:cNvSpPr/>
          <p:nvPr/>
        </p:nvSpPr>
        <p:spPr bwMode="auto">
          <a:xfrm>
            <a:off x="2704282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FE8B508F-1161-CFFE-8AC8-7AAD8A44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976116"/>
              </p:ext>
            </p:extLst>
          </p:nvPr>
        </p:nvGraphicFramePr>
        <p:xfrm>
          <a:off x="1799598" y="3717030"/>
          <a:ext cx="5839173" cy="1584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7970">
                  <a:extLst>
                    <a:ext uri="{9D8B030D-6E8A-4147-A177-3AD203B41FA5}">
                      <a16:colId xmlns:a16="http://schemas.microsoft.com/office/drawing/2014/main" val="284497008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18551211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7182440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75873705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41774918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3548275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88783699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16138405"/>
                    </a:ext>
                  </a:extLst>
                </a:gridCol>
                <a:gridCol w="750683">
                  <a:extLst>
                    <a:ext uri="{9D8B030D-6E8A-4147-A177-3AD203B41FA5}">
                      <a16:colId xmlns:a16="http://schemas.microsoft.com/office/drawing/2014/main" val="4198615946"/>
                    </a:ext>
                  </a:extLst>
                </a:gridCol>
              </a:tblGrid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완료일자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유형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대상자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45261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Korpay01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14:00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가맹점정산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2829389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14:00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640554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일반지급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088778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가맹점지급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4792235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수수료지급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지급예정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7811143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6A30E00A-79D0-BCE6-760F-9446C3740E09}"/>
              </a:ext>
            </a:extLst>
          </p:cNvPr>
          <p:cNvGraphicFramePr>
            <a:graphicFrameLocks noGrp="1"/>
          </p:cNvGraphicFramePr>
          <p:nvPr/>
        </p:nvGraphicFramePr>
        <p:xfrm>
          <a:off x="1790809" y="5301213"/>
          <a:ext cx="5839176" cy="1224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027">
                  <a:extLst>
                    <a:ext uri="{9D8B030D-6E8A-4147-A177-3AD203B41FA5}">
                      <a16:colId xmlns:a16="http://schemas.microsoft.com/office/drawing/2014/main" val="271265697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901469509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098567681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08502208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3591355394"/>
                    </a:ext>
                  </a:extLst>
                </a:gridCol>
                <a:gridCol w="1071987">
                  <a:extLst>
                    <a:ext uri="{9D8B030D-6E8A-4147-A177-3AD203B41FA5}">
                      <a16:colId xmlns:a16="http://schemas.microsoft.com/office/drawing/2014/main" val="427629846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2152703815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val="1742208782"/>
                    </a:ext>
                  </a:extLst>
                </a:gridCol>
              </a:tblGrid>
              <a:tr h="3497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대행수수료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출금계좌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11996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국민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341420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7808102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외환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501816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우리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쿠콘</a:t>
                      </a:r>
                      <a:r>
                        <a:rPr lang="en-US" altLang="ko-KR" sz="700" u="none" strike="noStrike" dirty="0">
                          <a:effectLst/>
                        </a:rPr>
                        <a:t>_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코페이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위루트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코페이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1016478"/>
                  </a:ext>
                </a:extLst>
              </a:tr>
              <a:tr h="1748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5,000,000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새마을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코페이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1470505"/>
                  </a:ext>
                </a:extLst>
              </a:tr>
            </a:tbl>
          </a:graphicData>
        </a:graphic>
      </p:graphicFrame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4B57353-1BDC-5C79-DE5C-9A572C3E7662}"/>
              </a:ext>
            </a:extLst>
          </p:cNvPr>
          <p:cNvCxnSpPr>
            <a:cxnSpLocks/>
          </p:cNvCxnSpPr>
          <p:nvPr/>
        </p:nvCxnSpPr>
        <p:spPr bwMode="auto">
          <a:xfrm>
            <a:off x="1723915" y="364502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7E7D7E1E-DD93-E551-BBB3-35DC6A52CEB4}"/>
              </a:ext>
            </a:extLst>
          </p:cNvPr>
          <p:cNvSpPr/>
          <p:nvPr/>
        </p:nvSpPr>
        <p:spPr bwMode="auto">
          <a:xfrm>
            <a:off x="3800398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지급등록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5BC0C03D-8007-1FD9-970B-F46A3E46183F}"/>
              </a:ext>
            </a:extLst>
          </p:cNvPr>
          <p:cNvSpPr/>
          <p:nvPr/>
        </p:nvSpPr>
        <p:spPr bwMode="auto">
          <a:xfrm>
            <a:off x="4604483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97E7AE39-8993-F267-5C6F-5150ADB79603}"/>
              </a:ext>
            </a:extLst>
          </p:cNvPr>
          <p:cNvSpPr/>
          <p:nvPr/>
        </p:nvSpPr>
        <p:spPr bwMode="auto">
          <a:xfrm>
            <a:off x="5911820" y="2501605"/>
            <a:ext cx="550801" cy="24539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5BB94F6-39EF-A507-1EC1-7C3ECAFA5AF3}"/>
              </a:ext>
            </a:extLst>
          </p:cNvPr>
          <p:cNvSpPr/>
          <p:nvPr/>
        </p:nvSpPr>
        <p:spPr bwMode="auto">
          <a:xfrm>
            <a:off x="5698635" y="2934275"/>
            <a:ext cx="107146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지급대행 수수료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D6EEC6DF-7888-0D27-B4D6-519B0027960E}"/>
              </a:ext>
            </a:extLst>
          </p:cNvPr>
          <p:cNvSpPr/>
          <p:nvPr/>
        </p:nvSpPr>
        <p:spPr bwMode="auto">
          <a:xfrm>
            <a:off x="6655391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CC61D0B-A171-3069-C6FA-3732DE4DFBB1}"/>
              </a:ext>
            </a:extLst>
          </p:cNvPr>
          <p:cNvSpPr/>
          <p:nvPr/>
        </p:nvSpPr>
        <p:spPr bwMode="auto">
          <a:xfrm>
            <a:off x="5538827" y="3284984"/>
            <a:ext cx="121434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0CC5208-B852-714A-3EC2-BC76ED5BC81C}"/>
              </a:ext>
            </a:extLst>
          </p:cNvPr>
          <p:cNvSpPr/>
          <p:nvPr/>
        </p:nvSpPr>
        <p:spPr bwMode="auto">
          <a:xfrm>
            <a:off x="6634740" y="328918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2A0301D-3C2E-DFC9-775F-0D4B4A490E11}"/>
              </a:ext>
            </a:extLst>
          </p:cNvPr>
          <p:cNvSpPr/>
          <p:nvPr/>
        </p:nvSpPr>
        <p:spPr bwMode="auto">
          <a:xfrm>
            <a:off x="6390723" y="2463250"/>
            <a:ext cx="751480" cy="32059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D23FD6-8BB9-1B08-A6B7-B16CAF4C2F05}"/>
              </a:ext>
            </a:extLst>
          </p:cNvPr>
          <p:cNvSpPr txBox="1"/>
          <p:nvPr/>
        </p:nvSpPr>
        <p:spPr>
          <a:xfrm>
            <a:off x="6528615" y="2529201"/>
            <a:ext cx="79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/>
              <a:t>👆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8B1644-45B6-0CA5-F45C-56095BE74456}"/>
              </a:ext>
            </a:extLst>
          </p:cNvPr>
          <p:cNvSpPr/>
          <p:nvPr/>
        </p:nvSpPr>
        <p:spPr bwMode="auto">
          <a:xfrm>
            <a:off x="8444272" y="1253404"/>
            <a:ext cx="446588" cy="194055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래픽 19" descr="화살표 원 단색으로 채워진">
            <a:extLst>
              <a:ext uri="{FF2B5EF4-FFF2-40B4-BE49-F238E27FC236}">
                <a16:creationId xmlns:a16="http://schemas.microsoft.com/office/drawing/2014/main" id="{0CFAA1DF-4E0F-D7F9-5819-2BF938417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0476" y="3294627"/>
            <a:ext cx="241847" cy="2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895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81A8-CA22-B193-4553-77EFFCC9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AFDDB3-49E0-20F8-B23D-48EA380CB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975921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등록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대량건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버튼을 통해 내 컴퓨터 드라이브에서 파일 업로드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최초 </a:t>
                      </a:r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등록시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                            버튼을 통해 샘플 다운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*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업로드 할 파일의 확장자는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파일이어야 합니다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건수에 따라 처리시간이 상이합니다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문의사항은 영업담당자에게 문의 바랍니다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F1152FF9-E42A-724B-0D50-D06A187CC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등록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대량건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팝업창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5C1C11F-6CA4-746A-322D-58F87FED4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CFDE7C-233F-8C94-537F-D9CF5AECC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F410E27-28E2-E9A5-FA87-DED52B002179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1CBD46B-DB5B-45CE-8CF3-1AFBE4B9F755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16A61C4-BD80-5AAD-C601-2C44238E2AB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08DE67-EFE6-1B3F-E988-8F62FEE2C556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36902-EFB7-D82C-4325-9CBBD776060A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CB5490-5407-1C06-F739-31E5DB686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07030F-6989-712C-50FA-6768A2143203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944B70-A5AC-8171-ECA6-EE04731A4D70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49FA9-3522-1A30-9C93-F5C4DB737E74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44702A-EBAF-58D1-1EA9-52E3C1F9BA50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7C6319-69FD-633B-542F-17B9D3BEAD86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E124E-528B-D01E-6F15-C6E51906E7B5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10FCC1-BD07-61DC-0B67-6C3BEC6FE6DB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954124-F183-3CC8-3B36-FF3FD89E3A86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29AF97-127D-7548-D57C-3F07D99F0153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0A631F-024D-C6DB-5F56-0ED9CA86FC92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6CCDB1-5D74-0EF7-6B9E-739C72B154F4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FB6E4E-6566-411E-9B4C-70E8DC9E05BB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074EF1-D12F-DBA2-8BFE-0E5A71DC6BFB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5398E2-4FF1-33E8-2D28-E5A932C22F1C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9043DEB-D592-C543-3C2F-0BBA771C434F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등록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DC9163-43A5-6E3E-19B2-934A0F7EEB6B}"/>
              </a:ext>
            </a:extLst>
          </p:cNvPr>
          <p:cNvSpPr/>
          <p:nvPr/>
        </p:nvSpPr>
        <p:spPr bwMode="auto">
          <a:xfrm>
            <a:off x="70833" y="3150092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5A0167-1293-003B-400B-489EB31C0118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EC122E-EE51-8832-D71B-B1EA15AC6CEF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21F2C6-8776-AA33-AC78-C52AADEC3162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B67BDC-187A-169E-C28C-0DAC9F644677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A46230-AB8A-AFAB-FFC7-9B09110861E2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2B7F67-E9CB-20C4-332C-6A172301374F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E939AB-8515-892F-DC5D-5684E7AA3551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0F101D-0E1D-E0E2-01B0-44E4D228384B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2A63B2-E026-390B-A60B-C91DB0BA88A0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046EB-B19E-B946-0149-70FE4F47C01C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04D5C-0DEC-45A4-4904-2CC5F3E138E3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34F336-DD99-6EA7-83E7-3C44690D9205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DB99554-D371-5E1D-CAD1-9C71E39912CB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등록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E52A35-F759-C1E7-BD63-DAE02FB1E913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E75D1A-B9D0-B858-0A92-A531D07A6BAB}"/>
              </a:ext>
            </a:extLst>
          </p:cNvPr>
          <p:cNvSpPr/>
          <p:nvPr/>
        </p:nvSpPr>
        <p:spPr bwMode="auto">
          <a:xfrm>
            <a:off x="2009907" y="2421061"/>
            <a:ext cx="4590149" cy="2520107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12E223C-295D-08E6-BC6F-7FD9603C7F5A}"/>
              </a:ext>
            </a:extLst>
          </p:cNvPr>
          <p:cNvSpPr/>
          <p:nvPr/>
        </p:nvSpPr>
        <p:spPr bwMode="auto">
          <a:xfrm>
            <a:off x="2133938" y="2520566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대량 등록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72C1985-2609-DE41-E0A7-02B029155662}"/>
              </a:ext>
            </a:extLst>
          </p:cNvPr>
          <p:cNvSpPr/>
          <p:nvPr/>
        </p:nvSpPr>
        <p:spPr bwMode="auto">
          <a:xfrm>
            <a:off x="3056707" y="2946412"/>
            <a:ext cx="2152425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endParaRPr lang="en-US" altLang="ko-KR" sz="1000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DDD325B-1D09-7680-CA39-E0AC854E6206}"/>
              </a:ext>
            </a:extLst>
          </p:cNvPr>
          <p:cNvCxnSpPr>
            <a:cxnSpLocks/>
          </p:cNvCxnSpPr>
          <p:nvPr/>
        </p:nvCxnSpPr>
        <p:spPr bwMode="auto">
          <a:xfrm>
            <a:off x="2053301" y="2864775"/>
            <a:ext cx="4546755" cy="1022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8B7F355-2D39-BD92-7A3E-716809691735}"/>
              </a:ext>
            </a:extLst>
          </p:cNvPr>
          <p:cNvSpPr/>
          <p:nvPr/>
        </p:nvSpPr>
        <p:spPr bwMode="auto">
          <a:xfrm>
            <a:off x="2139574" y="2943652"/>
            <a:ext cx="853524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첨부파일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2E3D8F1-D399-D6F5-E295-33DA906B868D}"/>
              </a:ext>
            </a:extLst>
          </p:cNvPr>
          <p:cNvSpPr/>
          <p:nvPr/>
        </p:nvSpPr>
        <p:spPr bwMode="auto">
          <a:xfrm>
            <a:off x="5887017" y="2949839"/>
            <a:ext cx="562821" cy="22826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4F04336-088D-3360-B81C-11A1D0010B08}"/>
              </a:ext>
            </a:extLst>
          </p:cNvPr>
          <p:cNvSpPr/>
          <p:nvPr/>
        </p:nvSpPr>
        <p:spPr bwMode="auto">
          <a:xfrm>
            <a:off x="5272674" y="2951165"/>
            <a:ext cx="550801" cy="226934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BC6B87E-1192-D403-5125-95577DBB8105}"/>
              </a:ext>
            </a:extLst>
          </p:cNvPr>
          <p:cNvSpPr/>
          <p:nvPr/>
        </p:nvSpPr>
        <p:spPr bwMode="auto">
          <a:xfrm>
            <a:off x="2133938" y="3235299"/>
            <a:ext cx="1513790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Sample Download(Click)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0" name="그래픽 59" descr="다운로드 단색으로 채워진">
            <a:extLst>
              <a:ext uri="{FF2B5EF4-FFF2-40B4-BE49-F238E27FC236}">
                <a16:creationId xmlns:a16="http://schemas.microsoft.com/office/drawing/2014/main" id="{34663C64-1FF8-1630-552B-7836CEF6F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5721" y="3275653"/>
            <a:ext cx="240064" cy="187277"/>
          </a:xfrm>
          <a:prstGeom prst="rect">
            <a:avLst/>
          </a:prstGeom>
        </p:spPr>
      </p:pic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4DA257A-72F7-B3B0-62DB-8E4E3DCE7DA7}"/>
              </a:ext>
            </a:extLst>
          </p:cNvPr>
          <p:cNvCxnSpPr>
            <a:cxnSpLocks/>
          </p:cNvCxnSpPr>
          <p:nvPr/>
        </p:nvCxnSpPr>
        <p:spPr bwMode="auto">
          <a:xfrm>
            <a:off x="2031603" y="3648165"/>
            <a:ext cx="4546755" cy="1022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B2D903C-1D8B-B8FC-A9BB-E0529EE62A02}"/>
              </a:ext>
            </a:extLst>
          </p:cNvPr>
          <p:cNvSpPr/>
          <p:nvPr/>
        </p:nvSpPr>
        <p:spPr bwMode="auto">
          <a:xfrm>
            <a:off x="2158679" y="3770603"/>
            <a:ext cx="715067" cy="218924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안내사항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B8D2831E-6DB9-E04A-3425-671B1B83C064}"/>
              </a:ext>
            </a:extLst>
          </p:cNvPr>
          <p:cNvSpPr/>
          <p:nvPr/>
        </p:nvSpPr>
        <p:spPr bwMode="auto">
          <a:xfrm>
            <a:off x="2158679" y="4098614"/>
            <a:ext cx="4291159" cy="66787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>
              <a:spcBef>
                <a:spcPct val="50000"/>
              </a:spcBef>
              <a:buAutoNum type="arabicPeriod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업로드 할 파일의 확장자는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파일이어야 합니다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spcBef>
                <a:spcPct val="50000"/>
              </a:spcBef>
              <a:buAutoNum type="arabicPeriod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건수에 따라 처리시간이 상이합니다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spcBef>
                <a:spcPct val="50000"/>
              </a:spcBef>
              <a:buAutoNum type="arabicPeriod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문의사항은 영업담당자에게 문의 바랍니다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68" name="그래픽 67" descr="닫기 단색으로 채워진">
            <a:extLst>
              <a:ext uri="{FF2B5EF4-FFF2-40B4-BE49-F238E27FC236}">
                <a16:creationId xmlns:a16="http://schemas.microsoft.com/office/drawing/2014/main" id="{8B9E7871-FF7E-9A3A-5EF5-DC8582BDDB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2167" y="2461592"/>
            <a:ext cx="214543" cy="214543"/>
          </a:xfrm>
          <a:prstGeom prst="rect">
            <a:avLst/>
          </a:prstGeom>
        </p:spPr>
      </p:pic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F4C0D12-EFA2-95AD-1746-5692F3A0C6DC}"/>
              </a:ext>
            </a:extLst>
          </p:cNvPr>
          <p:cNvSpPr/>
          <p:nvPr/>
        </p:nvSpPr>
        <p:spPr bwMode="auto">
          <a:xfrm>
            <a:off x="8429327" y="1271446"/>
            <a:ext cx="469969" cy="150115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8CABD22-183E-2B85-FDC4-1925BE6B58A5}"/>
              </a:ext>
            </a:extLst>
          </p:cNvPr>
          <p:cNvSpPr/>
          <p:nvPr/>
        </p:nvSpPr>
        <p:spPr bwMode="auto">
          <a:xfrm>
            <a:off x="9164997" y="1466932"/>
            <a:ext cx="1539515" cy="150115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Sample Download(Click)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212F3C0A-5757-0BFE-5E6E-CA562AC89A70}"/>
              </a:ext>
            </a:extLst>
          </p:cNvPr>
          <p:cNvSpPr/>
          <p:nvPr/>
        </p:nvSpPr>
        <p:spPr bwMode="auto">
          <a:xfrm>
            <a:off x="8410951" y="1869917"/>
            <a:ext cx="738660" cy="150115"/>
          </a:xfrm>
          <a:prstGeom prst="roundRect">
            <a:avLst/>
          </a:prstGeom>
          <a:solidFill>
            <a:srgbClr val="FF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안내사항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295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F609-57DE-F9E3-5BF1-02D7B51E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B8F1B2F-87C5-1966-5362-397DA213A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5622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조회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검색어를 통해 지급이체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744311B3-E69B-7F9C-EBD8-381707F25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조회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03FBC0-D572-F5AC-DFFC-0909874EE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1D89D98-7167-97CC-69DC-D97F9771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B9918EF-6D6F-4D56-A6CA-563FB2AF73B5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B8830F6-9EA1-8887-0593-E145A664D69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DC59195-A23F-06F6-E12D-2CD121623C09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258477-5B8A-8228-9AA0-5124D2ED38A4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E2B6A-96CF-928A-FA1F-F1430F2C4DFC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0B9E4D-CAAA-26D4-45A7-451F6D08A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8850AC-9681-5844-755C-BF86CBBAAF0E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6ACEB-C77B-9912-CF70-EEC5F1B91C23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6EB0D-38A1-EE86-BDAA-2B2065E1417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D70D1-D441-AFBA-1346-C74887A53391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D7334-3E5C-1B7F-35C5-AD6E44B029FD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D4ACA0-C68B-6D6B-8FF3-05E248B8E029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B6715D-E7CD-7AB9-D5D6-AECC00665C49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A51432-4873-8220-6387-A7CFFB63CB08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FE3FBA-6A67-1532-C689-FE07B1F2C17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7BF5C3-29A5-3F08-F305-97DF24940289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FB9015-71B6-2043-7D6B-EDF778FD709F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EB0C60-7105-1612-33AD-C2112E178551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8C2228-E124-FAF1-72FA-458B10A26DCA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0F8DAE3-BDC5-3EDE-0C23-9F160B2F00DB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04194E3-7CEA-3C10-49D9-99A5137A27FD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조회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4A0571-58AF-A9A4-0764-C1A9E80ACA56}"/>
              </a:ext>
            </a:extLst>
          </p:cNvPr>
          <p:cNvSpPr/>
          <p:nvPr/>
        </p:nvSpPr>
        <p:spPr bwMode="auto">
          <a:xfrm>
            <a:off x="70833" y="342900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C02B97-8EE9-37D5-3832-C2B7E7EEBCB3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16093C-A001-B786-5152-D483F3BEB5DB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429890-4B07-B570-56C5-5177E2108A8A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9DAF95-4935-10F8-5CDF-43C28A9C1BEC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7EC25B-780C-2200-37DD-B2794B6FED5F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2E39F4-8343-330B-D916-449B636BFECA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E05282B-D794-D98C-8E0E-DC837EA2B4C9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53C3E8-E74B-ACC2-7B23-663C55DE35F7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35D8260-E434-08F8-D048-D1C49803B16B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BB367-2C19-07AE-4BA0-D118053AFB18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CD34A-9FE5-E5DE-DBD5-CAC6B686892D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56A3D5-1C57-558C-CC8D-8574756F8FBB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50DF80B-17B0-ED21-AB2E-3EB0C67EEF4F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조회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F357FE-13EF-E8A3-9420-8EBF8E8B8389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D743794-C36F-407E-657D-E0AFC58B03C8}"/>
              </a:ext>
            </a:extLst>
          </p:cNvPr>
          <p:cNvSpPr/>
          <p:nvPr/>
        </p:nvSpPr>
        <p:spPr bwMode="auto">
          <a:xfrm>
            <a:off x="3099709" y="2195324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88DEA70-21B3-BBC5-15CC-97A6809C09D9}"/>
              </a:ext>
            </a:extLst>
          </p:cNvPr>
          <p:cNvSpPr/>
          <p:nvPr/>
        </p:nvSpPr>
        <p:spPr bwMode="auto">
          <a:xfrm>
            <a:off x="1792845" y="2194352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      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606968C-1EA1-F1D6-BCD7-790D1F17E9AD}"/>
              </a:ext>
            </a:extLst>
          </p:cNvPr>
          <p:cNvSpPr/>
          <p:nvPr/>
        </p:nvSpPr>
        <p:spPr bwMode="auto">
          <a:xfrm>
            <a:off x="5433767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지급유형       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530313E-2448-F932-675B-27DFEE641A63}"/>
              </a:ext>
            </a:extLst>
          </p:cNvPr>
          <p:cNvSpPr/>
          <p:nvPr/>
        </p:nvSpPr>
        <p:spPr bwMode="auto">
          <a:xfrm>
            <a:off x="6566163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지급상태       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675E0B0-357D-5229-8E1D-E57F625CDB14}"/>
              </a:ext>
            </a:extLst>
          </p:cNvPr>
          <p:cNvSpPr/>
          <p:nvPr/>
        </p:nvSpPr>
        <p:spPr bwMode="auto">
          <a:xfrm>
            <a:off x="5064575" y="250160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6A3C1D7-CC90-1217-08BB-04C0AD9D382C}"/>
              </a:ext>
            </a:extLst>
          </p:cNvPr>
          <p:cNvSpPr/>
          <p:nvPr/>
        </p:nvSpPr>
        <p:spPr bwMode="auto">
          <a:xfrm>
            <a:off x="6491556" y="250160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3707CEA-DCFA-0115-3454-33D2D2A5B8A3}"/>
              </a:ext>
            </a:extLst>
          </p:cNvPr>
          <p:cNvSpPr/>
          <p:nvPr/>
        </p:nvSpPr>
        <p:spPr bwMode="auto">
          <a:xfrm>
            <a:off x="7074785" y="2501605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46CEEED-A2AD-C023-EEB7-C3722E216473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3104DC1-E0D0-BE6E-47A6-004B0291F032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6EBE73-0D05-2149-E3A7-67EAD3EB20AE}"/>
              </a:ext>
            </a:extLst>
          </p:cNvPr>
          <p:cNvSpPr/>
          <p:nvPr/>
        </p:nvSpPr>
        <p:spPr bwMode="auto">
          <a:xfrm>
            <a:off x="1826119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7F9B4F7-8F00-86FA-6096-713BC4EF7E47}"/>
              </a:ext>
            </a:extLst>
          </p:cNvPr>
          <p:cNvSpPr/>
          <p:nvPr/>
        </p:nvSpPr>
        <p:spPr bwMode="auto">
          <a:xfrm>
            <a:off x="2704282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59DECEE-BBC3-34D5-34BC-85E965814CE0}"/>
              </a:ext>
            </a:extLst>
          </p:cNvPr>
          <p:cNvCxnSpPr>
            <a:cxnSpLocks/>
          </p:cNvCxnSpPr>
          <p:nvPr/>
        </p:nvCxnSpPr>
        <p:spPr bwMode="auto">
          <a:xfrm>
            <a:off x="1723915" y="3921085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17E4B36-C39B-75BC-4C6F-90237DC33672}"/>
              </a:ext>
            </a:extLst>
          </p:cNvPr>
          <p:cNvSpPr/>
          <p:nvPr/>
        </p:nvSpPr>
        <p:spPr bwMode="auto">
          <a:xfrm>
            <a:off x="3800398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40A0811-A6E4-6C14-147E-0FD6C6722479}"/>
              </a:ext>
            </a:extLst>
          </p:cNvPr>
          <p:cNvSpPr/>
          <p:nvPr/>
        </p:nvSpPr>
        <p:spPr bwMode="auto">
          <a:xfrm>
            <a:off x="4604483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DB5F67-8531-92DF-DF82-3E17123EA047}"/>
              </a:ext>
            </a:extLst>
          </p:cNvPr>
          <p:cNvSpPr/>
          <p:nvPr/>
        </p:nvSpPr>
        <p:spPr bwMode="auto">
          <a:xfrm>
            <a:off x="5698635" y="2934275"/>
            <a:ext cx="107146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지급대행 수수료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6B2E045-7B6C-EE01-BCD5-0273A62A8BBD}"/>
              </a:ext>
            </a:extLst>
          </p:cNvPr>
          <p:cNvSpPr/>
          <p:nvPr/>
        </p:nvSpPr>
        <p:spPr bwMode="auto">
          <a:xfrm>
            <a:off x="6655391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E4078E3-52E5-6A35-4195-A83BFFC2CB97}"/>
              </a:ext>
            </a:extLst>
          </p:cNvPr>
          <p:cNvSpPr/>
          <p:nvPr/>
        </p:nvSpPr>
        <p:spPr bwMode="auto">
          <a:xfrm>
            <a:off x="5538827" y="3636164"/>
            <a:ext cx="121434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97B25A6-2021-ABDA-B3FD-E42914226695}"/>
              </a:ext>
            </a:extLst>
          </p:cNvPr>
          <p:cNvSpPr/>
          <p:nvPr/>
        </p:nvSpPr>
        <p:spPr bwMode="auto">
          <a:xfrm>
            <a:off x="6634740" y="364036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pic>
        <p:nvPicPr>
          <p:cNvPr id="46" name="그래픽 45" descr="화살표 원 단색으로 채워진">
            <a:extLst>
              <a:ext uri="{FF2B5EF4-FFF2-40B4-BE49-F238E27FC236}">
                <a16:creationId xmlns:a16="http://schemas.microsoft.com/office/drawing/2014/main" id="{F77DB34A-F423-A2A4-78D5-2FFD50FB3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0806" y="3635693"/>
            <a:ext cx="241847" cy="241847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C8F44F5-777C-6262-0FBB-F45EF1842F26}"/>
              </a:ext>
            </a:extLst>
          </p:cNvPr>
          <p:cNvSpPr/>
          <p:nvPr/>
        </p:nvSpPr>
        <p:spPr bwMode="auto">
          <a:xfrm>
            <a:off x="1826119" y="327963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지급완료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321AE87-4B86-5192-2755-5AD4DB69FC56}"/>
              </a:ext>
            </a:extLst>
          </p:cNvPr>
          <p:cNvSpPr/>
          <p:nvPr/>
        </p:nvSpPr>
        <p:spPr bwMode="auto">
          <a:xfrm>
            <a:off x="2686554" y="329420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90,000,000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D7CA34C-7D1F-3E83-2D45-E78B14177E7D}"/>
              </a:ext>
            </a:extLst>
          </p:cNvPr>
          <p:cNvSpPr/>
          <p:nvPr/>
        </p:nvSpPr>
        <p:spPr bwMode="auto">
          <a:xfrm>
            <a:off x="3800398" y="329862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지급완료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6E9865F-AE96-9EEB-2EFD-4603E8B2C568}"/>
              </a:ext>
            </a:extLst>
          </p:cNvPr>
          <p:cNvSpPr/>
          <p:nvPr/>
        </p:nvSpPr>
        <p:spPr bwMode="auto">
          <a:xfrm>
            <a:off x="4594814" y="332116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0FDC045-D406-39CA-06C8-B3534F8D49FA}"/>
              </a:ext>
            </a:extLst>
          </p:cNvPr>
          <p:cNvSpPr/>
          <p:nvPr/>
        </p:nvSpPr>
        <p:spPr bwMode="auto">
          <a:xfrm>
            <a:off x="1826119" y="359986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지급실패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F2DD1CE-EDF5-B4E8-BA47-28FE287633EB}"/>
              </a:ext>
            </a:extLst>
          </p:cNvPr>
          <p:cNvSpPr/>
          <p:nvPr/>
        </p:nvSpPr>
        <p:spPr bwMode="auto">
          <a:xfrm>
            <a:off x="2694403" y="361085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10,000,000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D976B54-9E08-F48B-837F-3728B3CF2952}"/>
              </a:ext>
            </a:extLst>
          </p:cNvPr>
          <p:cNvSpPr/>
          <p:nvPr/>
        </p:nvSpPr>
        <p:spPr bwMode="auto">
          <a:xfrm>
            <a:off x="3784882" y="3625228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지급실패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57642EF-92F6-F231-2D55-08E56B3D3258}"/>
              </a:ext>
            </a:extLst>
          </p:cNvPr>
          <p:cNvSpPr/>
          <p:nvPr/>
        </p:nvSpPr>
        <p:spPr bwMode="auto">
          <a:xfrm>
            <a:off x="4594814" y="363199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39061C71-B7EF-C72B-7B83-0326C25E1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08059"/>
              </p:ext>
            </p:extLst>
          </p:nvPr>
        </p:nvGraphicFramePr>
        <p:xfrm>
          <a:off x="1780077" y="3961937"/>
          <a:ext cx="5906133" cy="1243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237">
                  <a:extLst>
                    <a:ext uri="{9D8B030D-6E8A-4147-A177-3AD203B41FA5}">
                      <a16:colId xmlns:a16="http://schemas.microsoft.com/office/drawing/2014/main" val="98337900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242066477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433424232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81530936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3100054455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3597955788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17163687"/>
                    </a:ext>
                  </a:extLst>
                </a:gridCol>
                <a:gridCol w="730376">
                  <a:extLst>
                    <a:ext uri="{9D8B030D-6E8A-4147-A177-3AD203B41FA5}">
                      <a16:colId xmlns:a16="http://schemas.microsoft.com/office/drawing/2014/main" val="952220091"/>
                    </a:ext>
                  </a:extLst>
                </a:gridCol>
                <a:gridCol w="582098">
                  <a:extLst>
                    <a:ext uri="{9D8B030D-6E8A-4147-A177-3AD203B41FA5}">
                      <a16:colId xmlns:a16="http://schemas.microsoft.com/office/drawing/2014/main" val="2193049936"/>
                    </a:ext>
                  </a:extLst>
                </a:gridCol>
              </a:tblGrid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완료일자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유형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지급대상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대상자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471949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Korpay01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지급실패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693035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지급완료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4921167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지급완료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2791608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지급실패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866900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지급보류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7395850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1A6831CC-FC32-F083-C3EB-F6AF2DBFC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985416"/>
              </p:ext>
            </p:extLst>
          </p:nvPr>
        </p:nvGraphicFramePr>
        <p:xfrm>
          <a:off x="1801221" y="5217229"/>
          <a:ext cx="5915195" cy="1337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745">
                  <a:extLst>
                    <a:ext uri="{9D8B030D-6E8A-4147-A177-3AD203B41FA5}">
                      <a16:colId xmlns:a16="http://schemas.microsoft.com/office/drawing/2014/main" val="2185673893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207660803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096848791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173336464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447483367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4187253501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079387475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740072945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260937259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348756842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964532149"/>
                    </a:ext>
                  </a:extLst>
                </a:gridCol>
              </a:tblGrid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실패금액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실패사유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대행수수료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출금자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8147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 불일치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국민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쿠콘</a:t>
                      </a:r>
                      <a:r>
                        <a:rPr lang="en-US" altLang="ko-KR" sz="700" u="none" strike="noStrike" dirty="0">
                          <a:effectLst/>
                        </a:rPr>
                        <a:t>_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코페이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위루트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7190189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5549076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외환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8089839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기타오류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우리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1675651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보류요청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새마을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1809651"/>
                  </a:ext>
                </a:extLst>
              </a:tr>
            </a:tbl>
          </a:graphicData>
        </a:graphic>
      </p:graphicFrame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F309E5F-10B7-E532-4CF3-A1F624C942C2}"/>
              </a:ext>
            </a:extLst>
          </p:cNvPr>
          <p:cNvSpPr/>
          <p:nvPr/>
        </p:nvSpPr>
        <p:spPr bwMode="auto">
          <a:xfrm>
            <a:off x="7206728" y="6160230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F5604DE2-FECD-4B27-4259-667485092611}"/>
              </a:ext>
            </a:extLst>
          </p:cNvPr>
          <p:cNvSpPr/>
          <p:nvPr/>
        </p:nvSpPr>
        <p:spPr bwMode="auto">
          <a:xfrm>
            <a:off x="7206728" y="5470577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AD548ED-6FEF-EE4A-6A8E-41160CF046AF}"/>
              </a:ext>
            </a:extLst>
          </p:cNvPr>
          <p:cNvSpPr/>
          <p:nvPr/>
        </p:nvSpPr>
        <p:spPr bwMode="auto">
          <a:xfrm>
            <a:off x="7206728" y="6394609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5542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7C0D-79C3-ED12-F3AF-55FA76B8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2333009-09E5-A4B1-84E0-B3ABDF511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345199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지급이체 조회 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900" b="1" u="sng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재지급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Column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內 상태 값에서              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클릭시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단건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등록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계좌 불일치 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정보 불일치에 대해서는 가맹점 정보변경을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선진행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이후                버튼을 통해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재요청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진행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            버튼을 통해 지급이체 조회 내역 다운로드 가능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8B649B7A-011E-EDB6-8FB9-DDFE50ABA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지급이체 조회 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재지급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131E1EA-F0D8-4C4E-28B8-4DD9880D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F08732D-DCEF-282A-CB28-59064786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B7A09C2-B421-F751-1F4E-2225A8A4F1EB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3B97D3C-D7A0-0B92-9546-7EAB80BEEAF0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62F940D-DCBA-962D-D003-038C01940596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DD3A3B-D6E2-AC4A-0F2B-9D53A3787F7C}"/>
              </a:ext>
            </a:extLst>
          </p:cNvPr>
          <p:cNvSpPr txBox="1"/>
          <p:nvPr/>
        </p:nvSpPr>
        <p:spPr>
          <a:xfrm>
            <a:off x="2053301" y="1328072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등록 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AA2B1-A996-F4E4-0666-CA108C2449BD}"/>
              </a:ext>
            </a:extLst>
          </p:cNvPr>
          <p:cNvSpPr txBox="1"/>
          <p:nvPr/>
        </p:nvSpPr>
        <p:spPr>
          <a:xfrm>
            <a:off x="3221615" y="1330089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목록 ⓧ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A69DC8-4B4D-8604-4865-5A9AFE02A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C62E51-1EE0-7285-466C-E67D957D4449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F6C24-BFD3-BD73-7AEC-5DF2BDC92D0C}"/>
              </a:ext>
            </a:extLst>
          </p:cNvPr>
          <p:cNvSpPr txBox="1"/>
          <p:nvPr/>
        </p:nvSpPr>
        <p:spPr>
          <a:xfrm>
            <a:off x="4389929" y="1330088"/>
            <a:ext cx="1126984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등록 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4BB94-1ED5-CA7B-0E7F-EB6F94391854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70FC4-3766-8502-065C-6F9F5D0A8B24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CFCC9-E4C0-5EC4-C7CB-E4677DF950C2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66B45A-7089-44ED-E464-192A51CF9AAF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74E010-D7EE-ECC8-C2A7-6677F704033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B8B8A-8E21-44AF-03A8-5AAEF6FD45FA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346E5B-B72A-C3E0-E4FB-EC653C60DD76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4DF268-8EFD-EB70-4FED-715FEA3C1AF3}"/>
              </a:ext>
            </a:extLst>
          </p:cNvPr>
          <p:cNvSpPr txBox="1"/>
          <p:nvPr/>
        </p:nvSpPr>
        <p:spPr>
          <a:xfrm>
            <a:off x="119336" y="215311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E39395-231A-1723-2427-01718AB2C680}"/>
              </a:ext>
            </a:extLst>
          </p:cNvPr>
          <p:cNvSpPr txBox="1"/>
          <p:nvPr/>
        </p:nvSpPr>
        <p:spPr>
          <a:xfrm>
            <a:off x="407268" y="223240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77EA79-3328-DF5E-643C-0AF2AFDE2E3D}"/>
              </a:ext>
            </a:extLst>
          </p:cNvPr>
          <p:cNvSpPr txBox="1"/>
          <p:nvPr/>
        </p:nvSpPr>
        <p:spPr>
          <a:xfrm>
            <a:off x="132572" y="248390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7F64E3-41AE-8310-45B7-FDE8F5E31ECA}"/>
              </a:ext>
            </a:extLst>
          </p:cNvPr>
          <p:cNvSpPr txBox="1"/>
          <p:nvPr/>
        </p:nvSpPr>
        <p:spPr>
          <a:xfrm>
            <a:off x="420504" y="253957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CB5153-7AA7-1584-8BDE-F59815114D6E}"/>
              </a:ext>
            </a:extLst>
          </p:cNvPr>
          <p:cNvSpPr txBox="1"/>
          <p:nvPr/>
        </p:nvSpPr>
        <p:spPr>
          <a:xfrm>
            <a:off x="1006272" y="222222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4D5BA0-3D58-B2B3-5117-A4FA7E959136}"/>
              </a:ext>
            </a:extLst>
          </p:cNvPr>
          <p:cNvSpPr txBox="1"/>
          <p:nvPr/>
        </p:nvSpPr>
        <p:spPr>
          <a:xfrm>
            <a:off x="5576151" y="1328694"/>
            <a:ext cx="120632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 조회 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22D1BE-F169-A967-3CDE-32CA4F24873A}"/>
              </a:ext>
            </a:extLst>
          </p:cNvPr>
          <p:cNvSpPr/>
          <p:nvPr/>
        </p:nvSpPr>
        <p:spPr bwMode="auto">
          <a:xfrm>
            <a:off x="70833" y="3429000"/>
            <a:ext cx="1589540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E16666-D2A3-DDE8-914A-2B8F0BAAE1D1}"/>
              </a:ext>
            </a:extLst>
          </p:cNvPr>
          <p:cNvSpPr txBox="1"/>
          <p:nvPr/>
        </p:nvSpPr>
        <p:spPr>
          <a:xfrm>
            <a:off x="413903" y="403293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BDAF08-C1FD-B1FE-D2D8-2F87A7469483}"/>
              </a:ext>
            </a:extLst>
          </p:cNvPr>
          <p:cNvSpPr txBox="1"/>
          <p:nvPr/>
        </p:nvSpPr>
        <p:spPr>
          <a:xfrm>
            <a:off x="125871" y="3986764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B5AD9C-F2F2-42E8-0965-A2EAA9836643}"/>
              </a:ext>
            </a:extLst>
          </p:cNvPr>
          <p:cNvSpPr txBox="1"/>
          <p:nvPr/>
        </p:nvSpPr>
        <p:spPr>
          <a:xfrm>
            <a:off x="859002" y="402018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C07042-F3FB-B749-5E06-E2302487541D}"/>
              </a:ext>
            </a:extLst>
          </p:cNvPr>
          <p:cNvSpPr txBox="1"/>
          <p:nvPr/>
        </p:nvSpPr>
        <p:spPr>
          <a:xfrm>
            <a:off x="122911" y="365230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D07154-BCFE-AE64-5447-C41691431FAC}"/>
              </a:ext>
            </a:extLst>
          </p:cNvPr>
          <p:cNvSpPr txBox="1"/>
          <p:nvPr/>
        </p:nvSpPr>
        <p:spPr>
          <a:xfrm>
            <a:off x="410843" y="373158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990736-AD5D-CEE5-78E2-3DB1A9114043}"/>
              </a:ext>
            </a:extLst>
          </p:cNvPr>
          <p:cNvSpPr txBox="1"/>
          <p:nvPr/>
        </p:nvSpPr>
        <p:spPr>
          <a:xfrm>
            <a:off x="875835" y="374180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6D0341F-7151-F30D-16FD-8AEEE854DAED}"/>
              </a:ext>
            </a:extLst>
          </p:cNvPr>
          <p:cNvSpPr txBox="1"/>
          <p:nvPr/>
        </p:nvSpPr>
        <p:spPr>
          <a:xfrm>
            <a:off x="407368" y="2864775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C252FC-6179-8B2B-8A9A-1AE9AF095474}"/>
              </a:ext>
            </a:extLst>
          </p:cNvPr>
          <p:cNvSpPr txBox="1"/>
          <p:nvPr/>
        </p:nvSpPr>
        <p:spPr>
          <a:xfrm>
            <a:off x="862407" y="2874995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396649B-8323-4FA9-44A9-7A471ECAEE84}"/>
              </a:ext>
            </a:extLst>
          </p:cNvPr>
          <p:cNvSpPr txBox="1"/>
          <p:nvPr/>
        </p:nvSpPr>
        <p:spPr>
          <a:xfrm>
            <a:off x="142389" y="280892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4285D-8330-7109-8782-A4F522992A31}"/>
              </a:ext>
            </a:extLst>
          </p:cNvPr>
          <p:cNvSpPr txBox="1"/>
          <p:nvPr/>
        </p:nvSpPr>
        <p:spPr>
          <a:xfrm>
            <a:off x="865603" y="253692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9C21A-39CB-6822-3EAA-9122C4B442E7}"/>
              </a:ext>
            </a:extLst>
          </p:cNvPr>
          <p:cNvSpPr txBox="1"/>
          <p:nvPr/>
        </p:nvSpPr>
        <p:spPr>
          <a:xfrm>
            <a:off x="307081" y="3157401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D28E0-07E7-4B65-26C0-2262BE96FDD6}"/>
              </a:ext>
            </a:extLst>
          </p:cNvPr>
          <p:cNvSpPr txBox="1"/>
          <p:nvPr/>
        </p:nvSpPr>
        <p:spPr>
          <a:xfrm>
            <a:off x="307081" y="3438742"/>
            <a:ext cx="120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🏧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지급이체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0D9666-920F-C928-543A-03BADC1358CF}"/>
              </a:ext>
            </a:extLst>
          </p:cNvPr>
          <p:cNvSpPr/>
          <p:nvPr/>
        </p:nvSpPr>
        <p:spPr bwMode="auto">
          <a:xfrm>
            <a:off x="1703512" y="1834119"/>
            <a:ext cx="1054804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지급이체 조회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9BCA0B-B2AD-65BD-62E4-F5368E0EB103}"/>
              </a:ext>
            </a:extLst>
          </p:cNvPr>
          <p:cNvSpPr/>
          <p:nvPr/>
        </p:nvSpPr>
        <p:spPr bwMode="auto">
          <a:xfrm>
            <a:off x="1723915" y="2136711"/>
            <a:ext cx="5992501" cy="4450702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57797FE-6143-C659-A54B-6826EC72566A}"/>
              </a:ext>
            </a:extLst>
          </p:cNvPr>
          <p:cNvSpPr/>
          <p:nvPr/>
        </p:nvSpPr>
        <p:spPr bwMode="auto">
          <a:xfrm>
            <a:off x="3099709" y="2195324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E6AE77-5037-B764-F301-A369B21B9023}"/>
              </a:ext>
            </a:extLst>
          </p:cNvPr>
          <p:cNvSpPr/>
          <p:nvPr/>
        </p:nvSpPr>
        <p:spPr bwMode="auto">
          <a:xfrm>
            <a:off x="1792845" y="2194352"/>
            <a:ext cx="124875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지급예정일자      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AFC9E3-89A7-2CAA-B067-7D12AF8F6CD7}"/>
              </a:ext>
            </a:extLst>
          </p:cNvPr>
          <p:cNvSpPr/>
          <p:nvPr/>
        </p:nvSpPr>
        <p:spPr bwMode="auto">
          <a:xfrm>
            <a:off x="5433767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지급유형       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B7EAE4D-C9B0-652E-A7A7-51C625A7444E}"/>
              </a:ext>
            </a:extLst>
          </p:cNvPr>
          <p:cNvSpPr/>
          <p:nvPr/>
        </p:nvSpPr>
        <p:spPr bwMode="auto">
          <a:xfrm>
            <a:off x="6566163" y="2194352"/>
            <a:ext cx="1072605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지급상태       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1EDE3FE-8B0B-3706-DF78-BFE4E177EC2D}"/>
              </a:ext>
            </a:extLst>
          </p:cNvPr>
          <p:cNvSpPr/>
          <p:nvPr/>
        </p:nvSpPr>
        <p:spPr bwMode="auto">
          <a:xfrm>
            <a:off x="5064575" y="2501605"/>
            <a:ext cx="137271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40850D-8835-0209-18B3-3C78DBFCC9A6}"/>
              </a:ext>
            </a:extLst>
          </p:cNvPr>
          <p:cNvSpPr/>
          <p:nvPr/>
        </p:nvSpPr>
        <p:spPr bwMode="auto">
          <a:xfrm>
            <a:off x="6491556" y="2501605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EB07EBF-2CA1-726A-44FA-629A93733B82}"/>
              </a:ext>
            </a:extLst>
          </p:cNvPr>
          <p:cNvSpPr/>
          <p:nvPr/>
        </p:nvSpPr>
        <p:spPr bwMode="auto">
          <a:xfrm>
            <a:off x="7074785" y="2501605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633C6AA-029D-CE81-C614-0EF324B81D92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7318AA2-B001-F089-8A39-65229E888F64}"/>
              </a:ext>
            </a:extLst>
          </p:cNvPr>
          <p:cNvCxnSpPr>
            <a:cxnSpLocks/>
          </p:cNvCxnSpPr>
          <p:nvPr/>
        </p:nvCxnSpPr>
        <p:spPr bwMode="auto">
          <a:xfrm>
            <a:off x="1720930" y="2859062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47086C-78BB-25F1-D3A4-CC6BC7A04E4C}"/>
              </a:ext>
            </a:extLst>
          </p:cNvPr>
          <p:cNvSpPr/>
          <p:nvPr/>
        </p:nvSpPr>
        <p:spPr bwMode="auto">
          <a:xfrm>
            <a:off x="1826119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909696E-65D8-8AFE-FECA-89BB0BB26CE1}"/>
              </a:ext>
            </a:extLst>
          </p:cNvPr>
          <p:cNvSpPr/>
          <p:nvPr/>
        </p:nvSpPr>
        <p:spPr bwMode="auto">
          <a:xfrm>
            <a:off x="2704282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AE1B87-3550-94A8-5A18-118F6F10B6EB}"/>
              </a:ext>
            </a:extLst>
          </p:cNvPr>
          <p:cNvCxnSpPr>
            <a:cxnSpLocks/>
          </p:cNvCxnSpPr>
          <p:nvPr/>
        </p:nvCxnSpPr>
        <p:spPr bwMode="auto">
          <a:xfrm>
            <a:off x="1723915" y="3921085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EF3CF0C-CDB4-32B6-1E68-4B302328B996}"/>
              </a:ext>
            </a:extLst>
          </p:cNvPr>
          <p:cNvSpPr/>
          <p:nvPr/>
        </p:nvSpPr>
        <p:spPr bwMode="auto">
          <a:xfrm>
            <a:off x="3800398" y="293427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지급예정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137C44E-FC53-C5DE-DBB9-85F3B45E5668}"/>
              </a:ext>
            </a:extLst>
          </p:cNvPr>
          <p:cNvSpPr/>
          <p:nvPr/>
        </p:nvSpPr>
        <p:spPr bwMode="auto">
          <a:xfrm>
            <a:off x="4604483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06E0FB-329D-AAA1-4A74-46E42C646F82}"/>
              </a:ext>
            </a:extLst>
          </p:cNvPr>
          <p:cNvSpPr/>
          <p:nvPr/>
        </p:nvSpPr>
        <p:spPr bwMode="auto">
          <a:xfrm>
            <a:off x="5698635" y="2934275"/>
            <a:ext cx="107146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지급대행 수수료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970ED27-16D1-EA54-D62D-F2F881D39A24}"/>
              </a:ext>
            </a:extLst>
          </p:cNvPr>
          <p:cNvSpPr/>
          <p:nvPr/>
        </p:nvSpPr>
        <p:spPr bwMode="auto">
          <a:xfrm>
            <a:off x="6655391" y="293847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7B0EA03-3BEE-1CE3-7551-D18E48BD1624}"/>
              </a:ext>
            </a:extLst>
          </p:cNvPr>
          <p:cNvSpPr/>
          <p:nvPr/>
        </p:nvSpPr>
        <p:spPr bwMode="auto">
          <a:xfrm>
            <a:off x="5538827" y="3636164"/>
            <a:ext cx="121434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가상계좌 잔액조회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ACF21EA-AA96-CECD-B0DC-E997B67C546F}"/>
              </a:ext>
            </a:extLst>
          </p:cNvPr>
          <p:cNvSpPr/>
          <p:nvPr/>
        </p:nvSpPr>
        <p:spPr bwMode="auto">
          <a:xfrm>
            <a:off x="6634740" y="364036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100,000,000</a:t>
            </a:r>
          </a:p>
        </p:txBody>
      </p:sp>
      <p:pic>
        <p:nvPicPr>
          <p:cNvPr id="46" name="그래픽 45" descr="화살표 원 단색으로 채워진">
            <a:extLst>
              <a:ext uri="{FF2B5EF4-FFF2-40B4-BE49-F238E27FC236}">
                <a16:creationId xmlns:a16="http://schemas.microsoft.com/office/drawing/2014/main" id="{04D14239-5BE2-366D-4192-1B2A8D5DB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0806" y="3635693"/>
            <a:ext cx="241847" cy="241847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3592869-B1D2-69F6-F5BE-B61FCDB6C2B8}"/>
              </a:ext>
            </a:extLst>
          </p:cNvPr>
          <p:cNvSpPr/>
          <p:nvPr/>
        </p:nvSpPr>
        <p:spPr bwMode="auto">
          <a:xfrm>
            <a:off x="1826119" y="327963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지급완료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DDFB573-1E82-6B82-C4B6-365E673AA4DD}"/>
              </a:ext>
            </a:extLst>
          </p:cNvPr>
          <p:cNvSpPr/>
          <p:nvPr/>
        </p:nvSpPr>
        <p:spPr bwMode="auto">
          <a:xfrm>
            <a:off x="2686554" y="329420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90,000,000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C99D8E7-980B-50E9-8492-46A7EC6454F8}"/>
              </a:ext>
            </a:extLst>
          </p:cNvPr>
          <p:cNvSpPr/>
          <p:nvPr/>
        </p:nvSpPr>
        <p:spPr bwMode="auto">
          <a:xfrm>
            <a:off x="3800398" y="329862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지급완료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E69D649-6824-02C8-601E-15FB35FE22EF}"/>
              </a:ext>
            </a:extLst>
          </p:cNvPr>
          <p:cNvSpPr/>
          <p:nvPr/>
        </p:nvSpPr>
        <p:spPr bwMode="auto">
          <a:xfrm>
            <a:off x="4594814" y="3321163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91D590D-9341-71BC-A307-6E7426ECC9EC}"/>
              </a:ext>
            </a:extLst>
          </p:cNvPr>
          <p:cNvSpPr/>
          <p:nvPr/>
        </p:nvSpPr>
        <p:spPr bwMode="auto">
          <a:xfrm>
            <a:off x="1826119" y="359986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지급실패 금액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CFDA211-3704-0364-BF06-1BC9ED647A81}"/>
              </a:ext>
            </a:extLst>
          </p:cNvPr>
          <p:cNvSpPr/>
          <p:nvPr/>
        </p:nvSpPr>
        <p:spPr bwMode="auto">
          <a:xfrm>
            <a:off x="2694403" y="3610851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10,000,000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D9E2E6A-9C35-5466-367F-32E678CF352A}"/>
              </a:ext>
            </a:extLst>
          </p:cNvPr>
          <p:cNvSpPr/>
          <p:nvPr/>
        </p:nvSpPr>
        <p:spPr bwMode="auto">
          <a:xfrm>
            <a:off x="3784882" y="3625228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지급실패 건수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FEF870C-3741-5B78-5EB5-081724C4F8DC}"/>
              </a:ext>
            </a:extLst>
          </p:cNvPr>
          <p:cNvSpPr/>
          <p:nvPr/>
        </p:nvSpPr>
        <p:spPr bwMode="auto">
          <a:xfrm>
            <a:off x="4594814" y="3631992"/>
            <a:ext cx="987461" cy="23444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378E6F98-51E3-ACC7-5700-8D7536B2F5D4}"/>
              </a:ext>
            </a:extLst>
          </p:cNvPr>
          <p:cNvGraphicFramePr>
            <a:graphicFrameLocks noGrp="1"/>
          </p:cNvGraphicFramePr>
          <p:nvPr/>
        </p:nvGraphicFramePr>
        <p:xfrm>
          <a:off x="1780077" y="3961937"/>
          <a:ext cx="5906133" cy="1243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237">
                  <a:extLst>
                    <a:ext uri="{9D8B030D-6E8A-4147-A177-3AD203B41FA5}">
                      <a16:colId xmlns:a16="http://schemas.microsoft.com/office/drawing/2014/main" val="98337900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242066477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433424232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815309367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3100054455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3597955788"/>
                    </a:ext>
                  </a:extLst>
                </a:gridCol>
                <a:gridCol w="656237">
                  <a:extLst>
                    <a:ext uri="{9D8B030D-6E8A-4147-A177-3AD203B41FA5}">
                      <a16:colId xmlns:a16="http://schemas.microsoft.com/office/drawing/2014/main" val="117163687"/>
                    </a:ext>
                  </a:extLst>
                </a:gridCol>
                <a:gridCol w="730376">
                  <a:extLst>
                    <a:ext uri="{9D8B030D-6E8A-4147-A177-3AD203B41FA5}">
                      <a16:colId xmlns:a16="http://schemas.microsoft.com/office/drawing/2014/main" val="952220091"/>
                    </a:ext>
                  </a:extLst>
                </a:gridCol>
                <a:gridCol w="582098">
                  <a:extLst>
                    <a:ext uri="{9D8B030D-6E8A-4147-A177-3AD203B41FA5}">
                      <a16:colId xmlns:a16="http://schemas.microsoft.com/office/drawing/2014/main" val="2193049936"/>
                    </a:ext>
                  </a:extLst>
                </a:gridCol>
              </a:tblGrid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No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예정시각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완료일자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유형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지급대상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사업자번호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대상자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471949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Korpay01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지급실패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123-12-12345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693035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지급완료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4921167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지급완료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2791608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지급실패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866900"/>
                  </a:ext>
                </a:extLst>
              </a:tr>
              <a:tr h="204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Korpay05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2026-01-20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14:00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2026-01-20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가맹점정산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지급보류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123-12-12349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신경준</a:t>
                      </a:r>
                      <a:r>
                        <a:rPr lang="en-US" sz="700" u="none" strike="noStrike" dirty="0">
                          <a:effectLst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7395850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8C15CE61-CEA1-45C9-4FED-D723BF40AAF7}"/>
              </a:ext>
            </a:extLst>
          </p:cNvPr>
          <p:cNvGraphicFramePr>
            <a:graphicFrameLocks noGrp="1"/>
          </p:cNvGraphicFramePr>
          <p:nvPr/>
        </p:nvGraphicFramePr>
        <p:xfrm>
          <a:off x="1801221" y="5217229"/>
          <a:ext cx="5915195" cy="1337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745">
                  <a:extLst>
                    <a:ext uri="{9D8B030D-6E8A-4147-A177-3AD203B41FA5}">
                      <a16:colId xmlns:a16="http://schemas.microsoft.com/office/drawing/2014/main" val="2185673893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207660803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096848791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173336464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447483367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4187253501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079387475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740072945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3260937259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1348756842"/>
                    </a:ext>
                  </a:extLst>
                </a:gridCol>
                <a:gridCol w="537745">
                  <a:extLst>
                    <a:ext uri="{9D8B030D-6E8A-4147-A177-3AD203B41FA5}">
                      <a16:colId xmlns:a16="http://schemas.microsoft.com/office/drawing/2014/main" val="964532149"/>
                    </a:ext>
                  </a:extLst>
                </a:gridCol>
              </a:tblGrid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실패금액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  <a:endParaRPr lang="en-US" altLang="ko-KR" sz="700" u="none" strike="noStrike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실패사유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대행수수료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은행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지급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출금계좌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출금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예금주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출금자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8147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계좌 불일치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국민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 err="1">
                          <a:effectLst/>
                        </a:rPr>
                        <a:t>쿠콘</a:t>
                      </a:r>
                      <a:r>
                        <a:rPr lang="en-US" altLang="ko-KR" sz="700" u="none" strike="noStrike" dirty="0">
                          <a:effectLst/>
                        </a:rPr>
                        <a:t>_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코페이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위루트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weloute01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7190189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5549076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3,000,000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외환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-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8089839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4,000,000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기타오류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우리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1675651"/>
                  </a:ext>
                </a:extLst>
              </a:tr>
              <a:tr h="1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5,000,000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보류요청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1,000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새마을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123-45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신경준</a:t>
                      </a:r>
                      <a:r>
                        <a:rPr lang="en-US" sz="700" u="none" strike="noStrike">
                          <a:effectLst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쿠콘</a:t>
                      </a:r>
                      <a:r>
                        <a:rPr lang="en-US" altLang="ko-KR" sz="700" u="none" strike="noStrike">
                          <a:effectLst/>
                        </a:rPr>
                        <a:t>_</a:t>
                      </a: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r>
                        <a:rPr lang="en-US" altLang="ko-KR" sz="700" u="none" strike="noStrike">
                          <a:effectLst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</a:rPr>
                        <a:t>위루트</a:t>
                      </a:r>
                      <a:r>
                        <a:rPr lang="en-US" altLang="ko-KR" sz="700" u="none" strike="noStrike">
                          <a:effectLst/>
                        </a:rPr>
                        <a:t>)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코페이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weloute01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1809651"/>
                  </a:ext>
                </a:extLst>
              </a:tr>
            </a:tbl>
          </a:graphicData>
        </a:graphic>
      </p:graphicFrame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D4A1BF5-4412-766F-AD01-59AA98B1827D}"/>
              </a:ext>
            </a:extLst>
          </p:cNvPr>
          <p:cNvSpPr/>
          <p:nvPr/>
        </p:nvSpPr>
        <p:spPr bwMode="auto">
          <a:xfrm>
            <a:off x="7206728" y="6160230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50F4BB3-17C4-EDCE-0D1A-293782436064}"/>
              </a:ext>
            </a:extLst>
          </p:cNvPr>
          <p:cNvSpPr/>
          <p:nvPr/>
        </p:nvSpPr>
        <p:spPr bwMode="auto">
          <a:xfrm>
            <a:off x="7206728" y="5470577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36C96761-27D2-B83E-7E0A-AC79026C7602}"/>
              </a:ext>
            </a:extLst>
          </p:cNvPr>
          <p:cNvSpPr/>
          <p:nvPr/>
        </p:nvSpPr>
        <p:spPr bwMode="auto">
          <a:xfrm>
            <a:off x="7206728" y="6394609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69EB79E-D3DA-35DD-DBC1-24D1F58D3D7B}"/>
              </a:ext>
            </a:extLst>
          </p:cNvPr>
          <p:cNvSpPr/>
          <p:nvPr/>
        </p:nvSpPr>
        <p:spPr bwMode="auto">
          <a:xfrm>
            <a:off x="9767775" y="1263689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C310DBB-D9A4-85B0-FA4A-3338DC55E3C2}"/>
              </a:ext>
            </a:extLst>
          </p:cNvPr>
          <p:cNvSpPr/>
          <p:nvPr/>
        </p:nvSpPr>
        <p:spPr bwMode="auto">
          <a:xfrm>
            <a:off x="8799134" y="1677668"/>
            <a:ext cx="487903" cy="150630"/>
          </a:xfrm>
          <a:prstGeom prst="round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7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재지급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77071AA-049F-F35A-CA2D-DF2BC9EBC568}"/>
              </a:ext>
            </a:extLst>
          </p:cNvPr>
          <p:cNvSpPr/>
          <p:nvPr/>
        </p:nvSpPr>
        <p:spPr bwMode="auto">
          <a:xfrm>
            <a:off x="8492285" y="1880743"/>
            <a:ext cx="478364" cy="15063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265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8397C-B529-A93D-8D68-9DB123F8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68C790-3B98-5FCB-7341-14E229462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089956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MMS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유사한 방식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사업자번호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대리점코드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가맹점코드 등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승인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전취소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후취소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부분취소 등 취소 상태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카드사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8099B39-1319-2958-3DC9-CEBD63381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결제관리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결제내역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6E221D-586C-73F0-2757-41790CFB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59698A-C4EF-72D3-8A45-AC8F6FC7E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0093759-4AF0-923F-4B02-F55D58442CF0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970841D-8BD1-F0DD-1508-CC59CB3CACE4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577828-8244-ED26-BC23-8DAF88D15D28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3CCB2E-CD60-6C94-E333-4145D2F5B39C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16A9D3-6F34-61CE-1E3F-00BBE1DF7ED2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5EA544-C258-3A55-6E96-E59154832EC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811C6B-6B8C-9950-1365-EF63555DD4B8}"/>
              </a:ext>
            </a:extLst>
          </p:cNvPr>
          <p:cNvSpPr txBox="1"/>
          <p:nvPr/>
        </p:nvSpPr>
        <p:spPr>
          <a:xfrm>
            <a:off x="420504" y="397922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23BE28-A7D4-0B63-A9F3-467CCDBCB2C0}"/>
              </a:ext>
            </a:extLst>
          </p:cNvPr>
          <p:cNvSpPr txBox="1"/>
          <p:nvPr/>
        </p:nvSpPr>
        <p:spPr>
          <a:xfrm>
            <a:off x="132472" y="3933056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9A7F02-4B0E-52A3-ABBE-E331DFC73D9E}"/>
              </a:ext>
            </a:extLst>
          </p:cNvPr>
          <p:cNvSpPr txBox="1"/>
          <p:nvPr/>
        </p:nvSpPr>
        <p:spPr>
          <a:xfrm>
            <a:off x="874312" y="396647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10DAF6-22B6-C5B9-6C1C-6BB6E8058D83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C4C251-D63E-5F95-2E25-99FAF18E41E0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78EBF4-4EE7-C245-A366-F9C2D557CFF8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96672A-2082-6AA7-E6AB-E39C0668D36D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E67352-02B3-6835-D549-7D47C55786EB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F1B745-3A63-7335-229E-4BB93AA56FDD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910C68-45A6-94B1-1D37-448FB53651D7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99468C-10F0-281D-8A26-DE67BA7CE92B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BC57FA-C858-A040-5BA9-2DC25E6EE951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EA2E09D-CAB5-477B-CBB0-0EE3D1E33B1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1E4EDED-17EB-2C7E-B702-EB15EF9D86A6}"/>
              </a:ext>
            </a:extLst>
          </p:cNvPr>
          <p:cNvSpPr txBox="1"/>
          <p:nvPr/>
        </p:nvSpPr>
        <p:spPr>
          <a:xfrm>
            <a:off x="129512" y="316546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FF9DAB8-7321-C76D-38B1-BAAFB78BCE59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4DD19-E87E-B999-0392-F0A9CCD94377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427F36-3CC6-CBB3-5BA2-88E5872AE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E60794-10AD-BF9C-FE2D-F22350DBFDEC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DA97F4-54D7-CDAB-F8EE-BA3522E93731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597D8-0669-C35D-669B-8E0774C05A28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39C9C3-8CFD-04FF-FD0E-BE1FAA6D82ED}"/>
              </a:ext>
            </a:extLst>
          </p:cNvPr>
          <p:cNvSpPr txBox="1"/>
          <p:nvPr/>
        </p:nvSpPr>
        <p:spPr>
          <a:xfrm>
            <a:off x="862407" y="323285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4FED8C-DB93-0BC2-8592-5211D70EA0DC}"/>
              </a:ext>
            </a:extLst>
          </p:cNvPr>
          <p:cNvSpPr txBox="1"/>
          <p:nvPr/>
        </p:nvSpPr>
        <p:spPr>
          <a:xfrm>
            <a:off x="218952" y="3447730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💳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결제내역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AEAFB-C1D2-1D54-18F4-9ED8DBD8ABD4}"/>
              </a:ext>
            </a:extLst>
          </p:cNvPr>
          <p:cNvSpPr txBox="1"/>
          <p:nvPr/>
        </p:nvSpPr>
        <p:spPr>
          <a:xfrm>
            <a:off x="218952" y="3683091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❓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실패내역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1DF1F6-15AB-0D1C-6E38-5D151091CE8A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787D9E9-025D-BB4B-5FE5-02E29FFF2E54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결제내역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D2007C5-5DCE-874F-A96D-94C58866F9C5}"/>
              </a:ext>
            </a:extLst>
          </p:cNvPr>
          <p:cNvSpPr/>
          <p:nvPr/>
        </p:nvSpPr>
        <p:spPr bwMode="auto">
          <a:xfrm>
            <a:off x="1703512" y="2159733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3F5EB27-C646-ED4F-2A63-83C55B7D6575}"/>
              </a:ext>
            </a:extLst>
          </p:cNvPr>
          <p:cNvSpPr/>
          <p:nvPr/>
        </p:nvSpPr>
        <p:spPr bwMode="auto">
          <a:xfrm>
            <a:off x="2515060" y="2152969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D74B7EA-A183-390A-4AA3-29544268422B}"/>
              </a:ext>
            </a:extLst>
          </p:cNvPr>
          <p:cNvSpPr/>
          <p:nvPr/>
        </p:nvSpPr>
        <p:spPr bwMode="auto">
          <a:xfrm>
            <a:off x="3755585" y="2148951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3C0F806-2186-C258-688D-9BDC18C53560}"/>
              </a:ext>
            </a:extLst>
          </p:cNvPr>
          <p:cNvSpPr/>
          <p:nvPr/>
        </p:nvSpPr>
        <p:spPr bwMode="auto">
          <a:xfrm>
            <a:off x="4567133" y="2142187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882B71A-F941-5DD4-4AAC-B9B3460954B3}"/>
              </a:ext>
            </a:extLst>
          </p:cNvPr>
          <p:cNvSpPr/>
          <p:nvPr/>
        </p:nvSpPr>
        <p:spPr bwMode="auto">
          <a:xfrm>
            <a:off x="5859839" y="2149494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422D9BD-E699-E7FF-7691-8125B03555A7}"/>
              </a:ext>
            </a:extLst>
          </p:cNvPr>
          <p:cNvSpPr/>
          <p:nvPr/>
        </p:nvSpPr>
        <p:spPr bwMode="auto">
          <a:xfrm>
            <a:off x="6671387" y="2142730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2DE4AD5-1643-6E8C-5758-6B604F558C01}"/>
              </a:ext>
            </a:extLst>
          </p:cNvPr>
          <p:cNvSpPr/>
          <p:nvPr/>
        </p:nvSpPr>
        <p:spPr bwMode="auto">
          <a:xfrm>
            <a:off x="3755585" y="2485779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959A467-A3C6-C85C-8202-3D323E5FB119}"/>
              </a:ext>
            </a:extLst>
          </p:cNvPr>
          <p:cNvSpPr/>
          <p:nvPr/>
        </p:nvSpPr>
        <p:spPr bwMode="auto">
          <a:xfrm>
            <a:off x="4567133" y="247901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77B0C8-AD6C-2EED-A4E7-8F3776C667D8}"/>
              </a:ext>
            </a:extLst>
          </p:cNvPr>
          <p:cNvSpPr/>
          <p:nvPr/>
        </p:nvSpPr>
        <p:spPr bwMode="auto">
          <a:xfrm>
            <a:off x="5859839" y="2486322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6BFABB8-769A-E78D-0D83-B5EF2B1E8234}"/>
              </a:ext>
            </a:extLst>
          </p:cNvPr>
          <p:cNvSpPr/>
          <p:nvPr/>
        </p:nvSpPr>
        <p:spPr bwMode="auto">
          <a:xfrm>
            <a:off x="6671387" y="2479558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70891F5-9934-6D82-78F4-679C2BCB9415}"/>
              </a:ext>
            </a:extLst>
          </p:cNvPr>
          <p:cNvSpPr/>
          <p:nvPr/>
        </p:nvSpPr>
        <p:spPr bwMode="auto">
          <a:xfrm>
            <a:off x="3245079" y="2931015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F8AF367-AD03-6D0E-9521-C0AD2D519AE9}"/>
              </a:ext>
            </a:extLst>
          </p:cNvPr>
          <p:cNvSpPr/>
          <p:nvPr/>
        </p:nvSpPr>
        <p:spPr bwMode="auto">
          <a:xfrm>
            <a:off x="2404815" y="2931015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결제일자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6454D6-A646-860C-685B-8BEEBC2F8EB1}"/>
              </a:ext>
            </a:extLst>
          </p:cNvPr>
          <p:cNvSpPr/>
          <p:nvPr/>
        </p:nvSpPr>
        <p:spPr bwMode="auto">
          <a:xfrm>
            <a:off x="5617563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F6AEBDE-040B-4E5E-AF53-D74A2DDB38DB}"/>
              </a:ext>
            </a:extLst>
          </p:cNvPr>
          <p:cNvSpPr/>
          <p:nvPr/>
        </p:nvSpPr>
        <p:spPr bwMode="auto">
          <a:xfrm>
            <a:off x="6145234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E5703CE-EF22-712B-2C26-698ABEFD5693}"/>
              </a:ext>
            </a:extLst>
          </p:cNvPr>
          <p:cNvSpPr/>
          <p:nvPr/>
        </p:nvSpPr>
        <p:spPr bwMode="auto">
          <a:xfrm>
            <a:off x="6670809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E08FB67-AD0C-BCAE-7E70-1045C1DC68F2}"/>
              </a:ext>
            </a:extLst>
          </p:cNvPr>
          <p:cNvSpPr/>
          <p:nvPr/>
        </p:nvSpPr>
        <p:spPr bwMode="auto">
          <a:xfrm>
            <a:off x="7194777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872F44A-077B-4F4F-9DC0-9D7E90FD4A05}"/>
              </a:ext>
            </a:extLst>
          </p:cNvPr>
          <p:cNvSpPr/>
          <p:nvPr/>
        </p:nvSpPr>
        <p:spPr bwMode="auto">
          <a:xfrm>
            <a:off x="5568951" y="3324764"/>
            <a:ext cx="103721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선택하세요   ▼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7295AB7-C419-3A6F-1722-A6EF85D602B4}"/>
              </a:ext>
            </a:extLst>
          </p:cNvPr>
          <p:cNvSpPr/>
          <p:nvPr/>
        </p:nvSpPr>
        <p:spPr bwMode="auto">
          <a:xfrm>
            <a:off x="6671387" y="331123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506FFC9-DA62-099C-8F00-227E04D945D8}"/>
              </a:ext>
            </a:extLst>
          </p:cNvPr>
          <p:cNvSpPr/>
          <p:nvPr/>
        </p:nvSpPr>
        <p:spPr bwMode="auto">
          <a:xfrm>
            <a:off x="1751318" y="3653283"/>
            <a:ext cx="55963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카드사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F76281F-1C76-ACA4-DEB2-F4082669D11C}"/>
              </a:ext>
            </a:extLst>
          </p:cNvPr>
          <p:cNvSpPr/>
          <p:nvPr/>
        </p:nvSpPr>
        <p:spPr bwMode="auto">
          <a:xfrm>
            <a:off x="2351585" y="3671395"/>
            <a:ext cx="641514" cy="21544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92E620A7-AE91-46AD-DC5D-3901D566096C}"/>
              </a:ext>
            </a:extLst>
          </p:cNvPr>
          <p:cNvSpPr/>
          <p:nvPr/>
        </p:nvSpPr>
        <p:spPr bwMode="auto">
          <a:xfrm>
            <a:off x="3089288" y="3671395"/>
            <a:ext cx="551787" cy="215448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상태  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9E15815-6863-A564-8434-A3D4B6F0B31C}"/>
              </a:ext>
            </a:extLst>
          </p:cNvPr>
          <p:cNvSpPr/>
          <p:nvPr/>
        </p:nvSpPr>
        <p:spPr bwMode="auto">
          <a:xfrm>
            <a:off x="3696964" y="3671395"/>
            <a:ext cx="789065" cy="21544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F1D8142-2CDA-7D23-2189-60D26F084F9B}"/>
              </a:ext>
            </a:extLst>
          </p:cNvPr>
          <p:cNvSpPr/>
          <p:nvPr/>
        </p:nvSpPr>
        <p:spPr bwMode="auto">
          <a:xfrm>
            <a:off x="4565170" y="3653540"/>
            <a:ext cx="653497" cy="23330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CAT_ID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DBF08B92-1B86-EBB6-E530-32DBDFC100BA}"/>
              </a:ext>
            </a:extLst>
          </p:cNvPr>
          <p:cNvSpPr/>
          <p:nvPr/>
        </p:nvSpPr>
        <p:spPr bwMode="auto">
          <a:xfrm>
            <a:off x="5259897" y="3653283"/>
            <a:ext cx="900775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CA26F9B-3497-650E-D9D7-1889BFE381F9}"/>
              </a:ext>
            </a:extLst>
          </p:cNvPr>
          <p:cNvSpPr/>
          <p:nvPr/>
        </p:nvSpPr>
        <p:spPr bwMode="auto">
          <a:xfrm>
            <a:off x="6239468" y="3635104"/>
            <a:ext cx="684193" cy="23330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승인번호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899D7BC-AB4C-327F-4224-9C5026627A98}"/>
              </a:ext>
            </a:extLst>
          </p:cNvPr>
          <p:cNvSpPr/>
          <p:nvPr/>
        </p:nvSpPr>
        <p:spPr bwMode="auto">
          <a:xfrm>
            <a:off x="6964891" y="3634847"/>
            <a:ext cx="69263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8184AAA-6549-241C-767D-DE8ED4D77C70}"/>
              </a:ext>
            </a:extLst>
          </p:cNvPr>
          <p:cNvCxnSpPr>
            <a:cxnSpLocks/>
          </p:cNvCxnSpPr>
          <p:nvPr/>
        </p:nvCxnSpPr>
        <p:spPr bwMode="auto">
          <a:xfrm>
            <a:off x="1725609" y="3961198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A1FEDE8-7AC7-AB99-8C01-48CF62E9D7E6}"/>
              </a:ext>
            </a:extLst>
          </p:cNvPr>
          <p:cNvSpPr/>
          <p:nvPr/>
        </p:nvSpPr>
        <p:spPr bwMode="auto">
          <a:xfrm>
            <a:off x="1751318" y="4099877"/>
            <a:ext cx="967264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거래내역 합계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17B2502-2E4B-067F-77AB-8E3BAA74322D}"/>
              </a:ext>
            </a:extLst>
          </p:cNvPr>
          <p:cNvSpPr/>
          <p:nvPr/>
        </p:nvSpPr>
        <p:spPr bwMode="auto">
          <a:xfrm>
            <a:off x="1752991" y="4418939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승인건수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45AA3685-BAE1-2071-8B04-78270B6BFB39}"/>
              </a:ext>
            </a:extLst>
          </p:cNvPr>
          <p:cNvSpPr/>
          <p:nvPr/>
        </p:nvSpPr>
        <p:spPr bwMode="auto">
          <a:xfrm>
            <a:off x="1751318" y="4732480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3FD934F-247A-04F6-5F18-E8AC5A7668D3}"/>
              </a:ext>
            </a:extLst>
          </p:cNvPr>
          <p:cNvSpPr/>
          <p:nvPr/>
        </p:nvSpPr>
        <p:spPr bwMode="auto">
          <a:xfrm>
            <a:off x="6893485" y="4419822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금액합계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FAEE604-B8A8-93C9-55AA-199799100ADA}"/>
              </a:ext>
            </a:extLst>
          </p:cNvPr>
          <p:cNvSpPr/>
          <p:nvPr/>
        </p:nvSpPr>
        <p:spPr bwMode="auto">
          <a:xfrm>
            <a:off x="6891812" y="4733363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E03795E7-0B2C-166C-29C0-C434FD3D4B68}"/>
              </a:ext>
            </a:extLst>
          </p:cNvPr>
          <p:cNvSpPr/>
          <p:nvPr/>
        </p:nvSpPr>
        <p:spPr bwMode="auto">
          <a:xfrm>
            <a:off x="3793417" y="4418939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취소건수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79924F9A-9189-AFB6-53F3-83B2C16D118B}"/>
              </a:ext>
            </a:extLst>
          </p:cNvPr>
          <p:cNvSpPr/>
          <p:nvPr/>
        </p:nvSpPr>
        <p:spPr bwMode="auto">
          <a:xfrm>
            <a:off x="3791744" y="4732480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C36A838D-924E-CC57-C758-785857081C4B}"/>
              </a:ext>
            </a:extLst>
          </p:cNvPr>
          <p:cNvSpPr/>
          <p:nvPr/>
        </p:nvSpPr>
        <p:spPr bwMode="auto">
          <a:xfrm>
            <a:off x="2785305" y="4418939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승인금액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209602D-A5ED-60B5-7EF8-5E9E76E822A2}"/>
              </a:ext>
            </a:extLst>
          </p:cNvPr>
          <p:cNvSpPr/>
          <p:nvPr/>
        </p:nvSpPr>
        <p:spPr bwMode="auto">
          <a:xfrm>
            <a:off x="2783632" y="4732480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B30D02A7-AF0D-BE08-E191-5B5F0CC2D5E5}"/>
              </a:ext>
            </a:extLst>
          </p:cNvPr>
          <p:cNvSpPr/>
          <p:nvPr/>
        </p:nvSpPr>
        <p:spPr bwMode="auto">
          <a:xfrm>
            <a:off x="4873537" y="4418939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취소금액</a:t>
            </a: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2B2A8AF-320E-2DCA-64C4-E8AE919176A8}"/>
              </a:ext>
            </a:extLst>
          </p:cNvPr>
          <p:cNvSpPr/>
          <p:nvPr/>
        </p:nvSpPr>
        <p:spPr bwMode="auto">
          <a:xfrm>
            <a:off x="4871864" y="4732480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1CDDEC7-15FF-F546-76FE-3FEEFCB2EA6A}"/>
              </a:ext>
            </a:extLst>
          </p:cNvPr>
          <p:cNvSpPr/>
          <p:nvPr/>
        </p:nvSpPr>
        <p:spPr bwMode="auto">
          <a:xfrm>
            <a:off x="5861171" y="4425508"/>
            <a:ext cx="762069" cy="253148"/>
          </a:xfrm>
          <a:prstGeom prst="roundRect">
            <a:avLst/>
          </a:prstGeom>
          <a:solidFill>
            <a:srgbClr val="8585FF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건수합계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21F29DE-AA58-C6A7-BD31-881C22FBF62E}"/>
              </a:ext>
            </a:extLst>
          </p:cNvPr>
          <p:cNvSpPr/>
          <p:nvPr/>
        </p:nvSpPr>
        <p:spPr bwMode="auto">
          <a:xfrm>
            <a:off x="5859498" y="4739049"/>
            <a:ext cx="763742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BDA7601-2062-6920-5887-FDBE923A6433}"/>
              </a:ext>
            </a:extLst>
          </p:cNvPr>
          <p:cNvCxnSpPr>
            <a:cxnSpLocks/>
          </p:cNvCxnSpPr>
          <p:nvPr/>
        </p:nvCxnSpPr>
        <p:spPr bwMode="auto">
          <a:xfrm>
            <a:off x="1687490" y="5085184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A208EE-4D26-68DD-9BD0-18D21A8D4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846845"/>
              </p:ext>
            </p:extLst>
          </p:nvPr>
        </p:nvGraphicFramePr>
        <p:xfrm>
          <a:off x="1687490" y="5145623"/>
          <a:ext cx="5968061" cy="657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551">
                  <a:extLst>
                    <a:ext uri="{9D8B030D-6E8A-4147-A177-3AD203B41FA5}">
                      <a16:colId xmlns:a16="http://schemas.microsoft.com/office/drawing/2014/main" val="517293588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2681362857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989141635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2858422594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4212264594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1425589317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1509242774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2950822543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3320478111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270123912"/>
                    </a:ext>
                  </a:extLst>
                </a:gridCol>
                <a:gridCol w="542551">
                  <a:extLst>
                    <a:ext uri="{9D8B030D-6E8A-4147-A177-3AD203B41FA5}">
                      <a16:colId xmlns:a16="http://schemas.microsoft.com/office/drawing/2014/main" val="423181177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결제일자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결제시간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취소일자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취소시간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대리점코드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가맹점코드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가맹점명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 결제금액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승인번호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카드번호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카드사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2675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395234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886872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1029DA0-B57A-459C-6BA2-DCEA63EA8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636093"/>
              </p:ext>
            </p:extLst>
          </p:nvPr>
        </p:nvGraphicFramePr>
        <p:xfrm>
          <a:off x="1703512" y="5879368"/>
          <a:ext cx="5952045" cy="657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095">
                  <a:extLst>
                    <a:ext uri="{9D8B030D-6E8A-4147-A177-3AD203B41FA5}">
                      <a16:colId xmlns:a16="http://schemas.microsoft.com/office/drawing/2014/main" val="1774054527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1190800385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3304142391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2419051856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1133263339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530521804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1447021706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1660245328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3497794624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2933666536"/>
                    </a:ext>
                  </a:extLst>
                </a:gridCol>
                <a:gridCol w="541095">
                  <a:extLst>
                    <a:ext uri="{9D8B030D-6E8A-4147-A177-3AD203B41FA5}">
                      <a16:colId xmlns:a16="http://schemas.microsoft.com/office/drawing/2014/main" val="272644146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할부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대리점명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에이전시명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딜러명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셀러명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벤더명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결제코드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상품명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상태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영수증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비고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35275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644377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981168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10BFB18-DE3F-3B54-B283-941C5F17A5DC}"/>
              </a:ext>
            </a:extLst>
          </p:cNvPr>
          <p:cNvSpPr/>
          <p:nvPr/>
        </p:nvSpPr>
        <p:spPr bwMode="auto">
          <a:xfrm>
            <a:off x="70833" y="3429000"/>
            <a:ext cx="1548996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F13911-CEBF-21DE-EA26-E32EB71E3F36}"/>
              </a:ext>
            </a:extLst>
          </p:cNvPr>
          <p:cNvSpPr/>
          <p:nvPr/>
        </p:nvSpPr>
        <p:spPr bwMode="auto">
          <a:xfrm>
            <a:off x="8439769" y="1684923"/>
            <a:ext cx="1008112" cy="16661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선택하세요   ▼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9168B4-F2AC-D236-94DA-DB4A36040C06}"/>
              </a:ext>
            </a:extLst>
          </p:cNvPr>
          <p:cNvSpPr/>
          <p:nvPr/>
        </p:nvSpPr>
        <p:spPr bwMode="auto">
          <a:xfrm>
            <a:off x="8442906" y="2287103"/>
            <a:ext cx="561108" cy="175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상태 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07B9F21-7562-0E8E-3427-05C14B697F19}"/>
              </a:ext>
            </a:extLst>
          </p:cNvPr>
          <p:cNvSpPr/>
          <p:nvPr/>
        </p:nvSpPr>
        <p:spPr bwMode="auto">
          <a:xfrm>
            <a:off x="8451622" y="2716822"/>
            <a:ext cx="601391" cy="14238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카드사</a:t>
            </a:r>
          </a:p>
        </p:txBody>
      </p:sp>
    </p:spTree>
    <p:extLst>
      <p:ext uri="{BB962C8B-B14F-4D97-AF65-F5344CB8AC3E}">
        <p14:creationId xmlns:p14="http://schemas.microsoft.com/office/powerpoint/2010/main" val="3914670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0256-307B-4963-0BA7-9CE91EDC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CA6019-4172-7551-5816-6BAAD48D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041304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실패내역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MMS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유사한 방식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사업자번호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에이전시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딜러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대리점코드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가맹점코드 등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승인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전취소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후취소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부분취소 등 취소 상태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카드사 확인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3B73A0A2-DB84-6139-029A-71AABE6F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결제관리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실패내역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F9B937D-7921-3F11-2E43-591C6D28D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A795021-4DDC-6A10-1B2D-25497018F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C1C3AA6-2794-1BDF-8336-757407D56811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8B432D6-4092-4E7D-F3E7-387BC4073572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A5202D-6B5F-C5D4-D22B-9E199C848161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BE43B-12CC-B6CF-AC5F-29C76A91E8D6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4B02FD-8FC5-7AD2-B05A-B82660127E04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2996E4-557C-AE26-9676-6482ED366DF0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B711B7-36E2-C477-1DB1-19B2497A44EB}"/>
              </a:ext>
            </a:extLst>
          </p:cNvPr>
          <p:cNvSpPr txBox="1"/>
          <p:nvPr/>
        </p:nvSpPr>
        <p:spPr>
          <a:xfrm>
            <a:off x="420504" y="3979223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5B244A-EF78-329A-E944-B060BFD04F44}"/>
              </a:ext>
            </a:extLst>
          </p:cNvPr>
          <p:cNvSpPr txBox="1"/>
          <p:nvPr/>
        </p:nvSpPr>
        <p:spPr>
          <a:xfrm>
            <a:off x="132472" y="3933056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58C145-B759-F0AD-BAEA-B9DE1B10F7E6}"/>
              </a:ext>
            </a:extLst>
          </p:cNvPr>
          <p:cNvSpPr txBox="1"/>
          <p:nvPr/>
        </p:nvSpPr>
        <p:spPr>
          <a:xfrm>
            <a:off x="874312" y="3966479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F78CCE-F71E-2F24-592B-9A906B8B82E8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DA92F6-EE85-A691-57BB-D3E9C1DBE780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2C0A93-FFBD-48E1-4E68-C3677A2AC095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862AB0-9ECE-398C-9405-534D74FFE244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0E88E2-27D4-C439-D00B-4132512EE526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4E93A5-A1FF-AAEF-77DE-987F4D7EA631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723D19-4E09-F6BE-FC7E-63F831EE58F9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36FB9B-1BE9-B73B-C2AC-BA0161F6C218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D684A9-C2F3-D162-D1D7-B9B7BA8B1178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66A813C-7063-BACD-9C0D-E737DEC9E891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BF03D51-FD34-0C1C-B191-D2778459248E}"/>
              </a:ext>
            </a:extLst>
          </p:cNvPr>
          <p:cNvSpPr txBox="1"/>
          <p:nvPr/>
        </p:nvSpPr>
        <p:spPr>
          <a:xfrm>
            <a:off x="129512" y="3165461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4F3BFB-1688-D526-AA8D-E4F1C9AB38D6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D1196-3E18-1BB7-2E65-39CF19BF933F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035DE2-2813-8890-9BB6-ED3106863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99B6A9-016D-0282-CAC1-BE940BE8B7B2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A9049-A115-E0A8-1CAA-71016E5E8F60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ACB89D-C958-1D45-D94C-DC6BB47A9417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1C1458-1EA9-76CC-C27B-EAE250A59351}"/>
              </a:ext>
            </a:extLst>
          </p:cNvPr>
          <p:cNvSpPr txBox="1"/>
          <p:nvPr/>
        </p:nvSpPr>
        <p:spPr>
          <a:xfrm>
            <a:off x="862407" y="3232852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AB25C-7FE3-9AB6-FE43-A8B48C2E1BB8}"/>
              </a:ext>
            </a:extLst>
          </p:cNvPr>
          <p:cNvSpPr txBox="1"/>
          <p:nvPr/>
        </p:nvSpPr>
        <p:spPr>
          <a:xfrm>
            <a:off x="218952" y="3447730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💳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결제내역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63077-C118-10EA-5625-BDB3983057CA}"/>
              </a:ext>
            </a:extLst>
          </p:cNvPr>
          <p:cNvSpPr txBox="1"/>
          <p:nvPr/>
        </p:nvSpPr>
        <p:spPr>
          <a:xfrm>
            <a:off x="218952" y="3683091"/>
            <a:ext cx="1341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❓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실패내역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0728C06-C41A-1762-EA87-3B128E04FA54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D272169-3C30-C67F-4BC4-DC417C35EBC5}"/>
              </a:ext>
            </a:extLst>
          </p:cNvPr>
          <p:cNvSpPr/>
          <p:nvPr/>
        </p:nvSpPr>
        <p:spPr bwMode="auto">
          <a:xfrm>
            <a:off x="1703512" y="1834119"/>
            <a:ext cx="751580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실패내역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BCF722A-27C9-783B-DD1A-21BC69359464}"/>
              </a:ext>
            </a:extLst>
          </p:cNvPr>
          <p:cNvSpPr/>
          <p:nvPr/>
        </p:nvSpPr>
        <p:spPr bwMode="auto">
          <a:xfrm>
            <a:off x="1703512" y="2159733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1359108-6F2A-C9B3-EC0A-A423C2D55109}"/>
              </a:ext>
            </a:extLst>
          </p:cNvPr>
          <p:cNvSpPr/>
          <p:nvPr/>
        </p:nvSpPr>
        <p:spPr bwMode="auto">
          <a:xfrm>
            <a:off x="2515060" y="2152969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41771A-31F5-3F9B-3A88-6EB29885FBF3}"/>
              </a:ext>
            </a:extLst>
          </p:cNvPr>
          <p:cNvSpPr/>
          <p:nvPr/>
        </p:nvSpPr>
        <p:spPr bwMode="auto">
          <a:xfrm>
            <a:off x="3755585" y="2148951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에이전시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07C6A49-DF3D-54DE-3FE2-5A3B8017D2BC}"/>
              </a:ext>
            </a:extLst>
          </p:cNvPr>
          <p:cNvSpPr/>
          <p:nvPr/>
        </p:nvSpPr>
        <p:spPr bwMode="auto">
          <a:xfrm>
            <a:off x="4567133" y="2142187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4CD271A-863B-528A-DE90-DCCCA3BC6A13}"/>
              </a:ext>
            </a:extLst>
          </p:cNvPr>
          <p:cNvSpPr/>
          <p:nvPr/>
        </p:nvSpPr>
        <p:spPr bwMode="auto">
          <a:xfrm>
            <a:off x="5859839" y="2149494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딜러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D6A9FC5-875C-50AD-A66F-4B88B89A3086}"/>
              </a:ext>
            </a:extLst>
          </p:cNvPr>
          <p:cNvSpPr/>
          <p:nvPr/>
        </p:nvSpPr>
        <p:spPr bwMode="auto">
          <a:xfrm>
            <a:off x="6671387" y="2142730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07A193F-D007-D476-4DE8-66970E78917F}"/>
              </a:ext>
            </a:extLst>
          </p:cNvPr>
          <p:cNvSpPr/>
          <p:nvPr/>
        </p:nvSpPr>
        <p:spPr bwMode="auto">
          <a:xfrm>
            <a:off x="3755585" y="2485779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셀러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D4F43B4-3D7E-D271-9028-8E2F7E63D22E}"/>
              </a:ext>
            </a:extLst>
          </p:cNvPr>
          <p:cNvSpPr/>
          <p:nvPr/>
        </p:nvSpPr>
        <p:spPr bwMode="auto">
          <a:xfrm>
            <a:off x="4567133" y="2479015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E8A8420-B44B-28DE-ECDC-598665B61F48}"/>
              </a:ext>
            </a:extLst>
          </p:cNvPr>
          <p:cNvSpPr/>
          <p:nvPr/>
        </p:nvSpPr>
        <p:spPr bwMode="auto">
          <a:xfrm>
            <a:off x="5859839" y="2486322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벤더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B035F5AF-AF98-5D91-C7A8-7FFB1D42021D}"/>
              </a:ext>
            </a:extLst>
          </p:cNvPr>
          <p:cNvSpPr/>
          <p:nvPr/>
        </p:nvSpPr>
        <p:spPr bwMode="auto">
          <a:xfrm>
            <a:off x="6671387" y="2479558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55EABB4-CD90-E928-12B4-7FEC6C082929}"/>
              </a:ext>
            </a:extLst>
          </p:cNvPr>
          <p:cNvSpPr/>
          <p:nvPr/>
        </p:nvSpPr>
        <p:spPr bwMode="auto">
          <a:xfrm>
            <a:off x="3245079" y="2931015"/>
            <a:ext cx="2278548" cy="234446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             ~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🗓️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03F546BE-6D6D-59B4-95CC-C1A09DE8329B}"/>
              </a:ext>
            </a:extLst>
          </p:cNvPr>
          <p:cNvSpPr/>
          <p:nvPr/>
        </p:nvSpPr>
        <p:spPr bwMode="auto">
          <a:xfrm>
            <a:off x="2404815" y="2931015"/>
            <a:ext cx="746328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결제일자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F72D33A-E73B-F099-26A0-9CD4839377AA}"/>
              </a:ext>
            </a:extLst>
          </p:cNvPr>
          <p:cNvSpPr/>
          <p:nvPr/>
        </p:nvSpPr>
        <p:spPr bwMode="auto">
          <a:xfrm>
            <a:off x="5617563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9D00FB1-A870-F172-2AB8-A942A3C01C96}"/>
              </a:ext>
            </a:extLst>
          </p:cNvPr>
          <p:cNvSpPr/>
          <p:nvPr/>
        </p:nvSpPr>
        <p:spPr bwMode="auto">
          <a:xfrm>
            <a:off x="6145234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D8C9D74-0A1E-43CE-7887-AED1B4692FCA}"/>
              </a:ext>
            </a:extLst>
          </p:cNvPr>
          <p:cNvSpPr/>
          <p:nvPr/>
        </p:nvSpPr>
        <p:spPr bwMode="auto">
          <a:xfrm>
            <a:off x="6670809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83F7DB18-FF98-4926-B0A1-FF34BCDC6935}"/>
              </a:ext>
            </a:extLst>
          </p:cNvPr>
          <p:cNvSpPr/>
          <p:nvPr/>
        </p:nvSpPr>
        <p:spPr bwMode="auto">
          <a:xfrm>
            <a:off x="7194777" y="2937584"/>
            <a:ext cx="469377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10ECCDC-AB46-DDF8-FA68-C470B1D72B14}"/>
              </a:ext>
            </a:extLst>
          </p:cNvPr>
          <p:cNvSpPr/>
          <p:nvPr/>
        </p:nvSpPr>
        <p:spPr bwMode="auto">
          <a:xfrm>
            <a:off x="5568951" y="3324764"/>
            <a:ext cx="1037216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선택하세요   ▼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D07FF4BE-BAD8-AA31-36F1-67E47439761B}"/>
              </a:ext>
            </a:extLst>
          </p:cNvPr>
          <p:cNvSpPr/>
          <p:nvPr/>
        </p:nvSpPr>
        <p:spPr bwMode="auto">
          <a:xfrm>
            <a:off x="6671387" y="3311236"/>
            <a:ext cx="999458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20D73C7-B377-CA21-0731-C0BFD8F72E31}"/>
              </a:ext>
            </a:extLst>
          </p:cNvPr>
          <p:cNvSpPr/>
          <p:nvPr/>
        </p:nvSpPr>
        <p:spPr bwMode="auto">
          <a:xfrm>
            <a:off x="1751318" y="3653283"/>
            <a:ext cx="559631" cy="23444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카드사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588E610-C8D5-42B8-0721-BD3F86AA4222}"/>
              </a:ext>
            </a:extLst>
          </p:cNvPr>
          <p:cNvSpPr/>
          <p:nvPr/>
        </p:nvSpPr>
        <p:spPr bwMode="auto">
          <a:xfrm>
            <a:off x="2351585" y="3671395"/>
            <a:ext cx="641514" cy="21544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F94B07BB-51EB-FE24-6760-36A15F871EFF}"/>
              </a:ext>
            </a:extLst>
          </p:cNvPr>
          <p:cNvSpPr/>
          <p:nvPr/>
        </p:nvSpPr>
        <p:spPr bwMode="auto">
          <a:xfrm>
            <a:off x="3089288" y="3671395"/>
            <a:ext cx="551787" cy="215448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상태  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433E103E-3C51-3CFD-CFE1-D0AB47D39296}"/>
              </a:ext>
            </a:extLst>
          </p:cNvPr>
          <p:cNvSpPr/>
          <p:nvPr/>
        </p:nvSpPr>
        <p:spPr bwMode="auto">
          <a:xfrm>
            <a:off x="3696964" y="3671395"/>
            <a:ext cx="789065" cy="215448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1FB05F1-49E9-E500-347F-77A89872CF7D}"/>
              </a:ext>
            </a:extLst>
          </p:cNvPr>
          <p:cNvSpPr/>
          <p:nvPr/>
        </p:nvSpPr>
        <p:spPr bwMode="auto">
          <a:xfrm>
            <a:off x="4565170" y="3653540"/>
            <a:ext cx="653497" cy="23330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CAT_ID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ACB6153-F512-AC57-0DAA-1418377CD85B}"/>
              </a:ext>
            </a:extLst>
          </p:cNvPr>
          <p:cNvSpPr/>
          <p:nvPr/>
        </p:nvSpPr>
        <p:spPr bwMode="auto">
          <a:xfrm>
            <a:off x="5259897" y="3653283"/>
            <a:ext cx="900775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0B31B3B-1340-5E68-65D1-F77AD6B2EC51}"/>
              </a:ext>
            </a:extLst>
          </p:cNvPr>
          <p:cNvSpPr/>
          <p:nvPr/>
        </p:nvSpPr>
        <p:spPr bwMode="auto">
          <a:xfrm>
            <a:off x="6239468" y="3635104"/>
            <a:ext cx="684193" cy="23330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승인번호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18A5546-65EB-F5AC-9B61-12799355FE54}"/>
              </a:ext>
            </a:extLst>
          </p:cNvPr>
          <p:cNvSpPr/>
          <p:nvPr/>
        </p:nvSpPr>
        <p:spPr bwMode="auto">
          <a:xfrm>
            <a:off x="6964891" y="3634847"/>
            <a:ext cx="69263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19301349-8239-A020-C53D-4B613E634197}"/>
              </a:ext>
            </a:extLst>
          </p:cNvPr>
          <p:cNvCxnSpPr>
            <a:cxnSpLocks/>
          </p:cNvCxnSpPr>
          <p:nvPr/>
        </p:nvCxnSpPr>
        <p:spPr bwMode="auto">
          <a:xfrm>
            <a:off x="1725609" y="3961198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79AC52-5EA1-D8A9-1A39-42843DEB084C}"/>
              </a:ext>
            </a:extLst>
          </p:cNvPr>
          <p:cNvSpPr/>
          <p:nvPr/>
        </p:nvSpPr>
        <p:spPr bwMode="auto">
          <a:xfrm>
            <a:off x="70833" y="3664282"/>
            <a:ext cx="1548996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D1E47DB-AC18-974E-670D-78C47E9A0553}"/>
              </a:ext>
            </a:extLst>
          </p:cNvPr>
          <p:cNvSpPr/>
          <p:nvPr/>
        </p:nvSpPr>
        <p:spPr bwMode="auto">
          <a:xfrm>
            <a:off x="8439769" y="1684923"/>
            <a:ext cx="1008112" cy="16661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선택하세요   ▼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29B2637-3E64-A528-428B-4B9E435DFB09}"/>
              </a:ext>
            </a:extLst>
          </p:cNvPr>
          <p:cNvSpPr/>
          <p:nvPr/>
        </p:nvSpPr>
        <p:spPr bwMode="auto">
          <a:xfrm>
            <a:off x="8442906" y="2287103"/>
            <a:ext cx="561108" cy="175539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상태 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06CE71-2F90-E487-3661-6B6B158E6EB5}"/>
              </a:ext>
            </a:extLst>
          </p:cNvPr>
          <p:cNvSpPr/>
          <p:nvPr/>
        </p:nvSpPr>
        <p:spPr bwMode="auto">
          <a:xfrm>
            <a:off x="8451622" y="2716822"/>
            <a:ext cx="601391" cy="142386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카드사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1149B58-72C0-F00C-4434-2D22709B0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60222"/>
              </p:ext>
            </p:extLst>
          </p:nvPr>
        </p:nvGraphicFramePr>
        <p:xfrm>
          <a:off x="1725609" y="4110041"/>
          <a:ext cx="6017245" cy="24408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865">
                  <a:extLst>
                    <a:ext uri="{9D8B030D-6E8A-4147-A177-3AD203B41FA5}">
                      <a16:colId xmlns:a16="http://schemas.microsoft.com/office/drawing/2014/main" val="4104810123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594369706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3275867105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1028795907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2052490896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121106545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3891985022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2333547857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1783424808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3298154219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3866788439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4241809198"/>
                    </a:ext>
                  </a:extLst>
                </a:gridCol>
                <a:gridCol w="462865">
                  <a:extLst>
                    <a:ext uri="{9D8B030D-6E8A-4147-A177-3AD203B41FA5}">
                      <a16:colId xmlns:a16="http://schemas.microsoft.com/office/drawing/2014/main" val="3708377232"/>
                    </a:ext>
                  </a:extLst>
                </a:gridCol>
              </a:tblGrid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결제일자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결제시간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가맹점명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구매자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결제금액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오류내용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오류코드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카드번호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카드사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할부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카드종류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결제유형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CAT_ID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89449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8378015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77143238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371183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96823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4128133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5863034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4985504"/>
                  </a:ext>
                </a:extLst>
              </a:tr>
              <a:tr h="271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ppleMyungjo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275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228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7F58-06AA-DF56-B30C-11018953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C100E6-64D8-0995-23EF-B0F7E9B7C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526998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이용 대상자에게 공지사항 및 기본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FAQ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버튼을 통해 공지사항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FAQ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변경 후 조회 가능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6911AD7C-C819-5604-89B2-1409487BC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운영관리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공지사항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772CB83-FD1A-BF2D-0EAC-214199733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878C80F-965F-A70A-A42C-6AD4B827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D1A946D-77E6-43AC-CBC7-36C81CC9DE95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43559BA-491E-C795-1308-B06F59C6CC44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C843D53-CC81-D9F1-775A-64999F38EC6D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D18FB6-36E7-7A8B-58DA-3E69682017B6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F78FA5-37B5-87B0-665E-250C4D3ECA5A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C07955-7FD1-CDED-03D3-0F33BEA737A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737A78-650C-D4E2-C694-C68327A21ADC}"/>
              </a:ext>
            </a:extLst>
          </p:cNvPr>
          <p:cNvSpPr txBox="1"/>
          <p:nvPr/>
        </p:nvSpPr>
        <p:spPr>
          <a:xfrm>
            <a:off x="420504" y="352743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1347BF-030F-4B1E-D353-3EEFCB6BB1DD}"/>
              </a:ext>
            </a:extLst>
          </p:cNvPr>
          <p:cNvSpPr txBox="1"/>
          <p:nvPr/>
        </p:nvSpPr>
        <p:spPr>
          <a:xfrm>
            <a:off x="132472" y="3481263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168AE6-2CEC-731F-11F5-2FA4CFEBED3C}"/>
              </a:ext>
            </a:extLst>
          </p:cNvPr>
          <p:cNvSpPr txBox="1"/>
          <p:nvPr/>
        </p:nvSpPr>
        <p:spPr>
          <a:xfrm>
            <a:off x="874312" y="351468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C1E665-28CA-E007-B7A8-2C7FA3AF1081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3AED79-AAAE-DB36-746F-DB26F4D09265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C0BDC6-A16E-0C8A-D8E8-DB8FCB19C18C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BF2883-7055-0B6D-A49E-DF317B789DE6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F080B8-A23B-F7B4-D5A4-A2242D0FFBD3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AACE0E-65A0-B584-8A55-3E9DCB1C3321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E6ADA2-9572-AB99-96F0-658BD3E90080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C64E77-B1B6-740C-1F53-754796B4E9FE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43A40E-6686-D809-8E35-0058A009D092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A469B6C-9CE4-230F-B1E3-D47F6355283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BA25CB35-607E-4DF2-99A7-2195ED6C39BD}"/>
              </a:ext>
            </a:extLst>
          </p:cNvPr>
          <p:cNvSpPr txBox="1"/>
          <p:nvPr/>
        </p:nvSpPr>
        <p:spPr>
          <a:xfrm>
            <a:off x="129512" y="314679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001981-6813-C2BA-DE23-1BBAB7F457F5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8529A0-B8D1-26A8-D160-BD7C014BEBCF}"/>
              </a:ext>
            </a:extLst>
          </p:cNvPr>
          <p:cNvSpPr txBox="1"/>
          <p:nvPr/>
        </p:nvSpPr>
        <p:spPr>
          <a:xfrm>
            <a:off x="873727" y="323630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A85B3-B18E-7A7A-0A95-A8802F5EC2D1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FBF4E4-5170-E82D-132C-131F034A1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EF9EF8-D39E-5B45-865A-92CB0227E1D6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9276D-161B-50B1-4C60-03B1A25CC540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51C8CB-3E5A-44AA-D1C2-358D29EA7AB5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D3766-4982-AFA4-0BEB-F2AA5BE8D635}"/>
              </a:ext>
            </a:extLst>
          </p:cNvPr>
          <p:cNvSpPr txBox="1"/>
          <p:nvPr/>
        </p:nvSpPr>
        <p:spPr>
          <a:xfrm>
            <a:off x="292362" y="3789040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📢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공지사항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A6594-D5CF-1749-65B6-F7509D53D1EF}"/>
              </a:ext>
            </a:extLst>
          </p:cNvPr>
          <p:cNvSpPr txBox="1"/>
          <p:nvPr/>
        </p:nvSpPr>
        <p:spPr>
          <a:xfrm>
            <a:off x="295413" y="4000579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👥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계정관리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85B02-7815-5F08-9041-5EC66BD60998}"/>
              </a:ext>
            </a:extLst>
          </p:cNvPr>
          <p:cNvSpPr txBox="1"/>
          <p:nvPr/>
        </p:nvSpPr>
        <p:spPr>
          <a:xfrm>
            <a:off x="321540" y="4234056"/>
            <a:ext cx="1393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환경설정</a:t>
            </a:r>
          </a:p>
        </p:txBody>
      </p:sp>
      <p:pic>
        <p:nvPicPr>
          <p:cNvPr id="29" name="그래픽 28" descr="단일 톱니바퀴 단색으로 채워진">
            <a:extLst>
              <a:ext uri="{FF2B5EF4-FFF2-40B4-BE49-F238E27FC236}">
                <a16:creationId xmlns:a16="http://schemas.microsoft.com/office/drawing/2014/main" id="{52D55B77-5784-A636-A95C-9F7CEF0C8D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092" y="4278713"/>
            <a:ext cx="172064" cy="172064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C3A62E-22FF-9D10-2E92-2B0BACF44C9F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46F7D2-3457-4E94-B4E3-ADCFADD7680B}"/>
              </a:ext>
            </a:extLst>
          </p:cNvPr>
          <p:cNvSpPr/>
          <p:nvPr/>
        </p:nvSpPr>
        <p:spPr bwMode="auto">
          <a:xfrm>
            <a:off x="30479" y="3768249"/>
            <a:ext cx="1548996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CF214C9-7CC1-9285-5988-1227E1BF7E28}"/>
              </a:ext>
            </a:extLst>
          </p:cNvPr>
          <p:cNvSpPr/>
          <p:nvPr/>
        </p:nvSpPr>
        <p:spPr bwMode="auto">
          <a:xfrm>
            <a:off x="1716528" y="1844322"/>
            <a:ext cx="791082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099C18F-9031-22A4-F704-E35721180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301876"/>
              </p:ext>
            </p:extLst>
          </p:nvPr>
        </p:nvGraphicFramePr>
        <p:xfrm>
          <a:off x="1725546" y="2643460"/>
          <a:ext cx="5965818" cy="39130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054">
                  <a:extLst>
                    <a:ext uri="{9D8B030D-6E8A-4147-A177-3AD203B41FA5}">
                      <a16:colId xmlns:a16="http://schemas.microsoft.com/office/drawing/2014/main" val="22293719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77926567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4238297568"/>
                    </a:ext>
                  </a:extLst>
                </a:gridCol>
              </a:tblGrid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구분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제목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작성일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881182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맑은 고딕" panose="020B0503020000020004" pitchFamily="50" charset="-127"/>
                        </a:rPr>
                        <a:t>공지사항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5527235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u="none" strike="noStrike" dirty="0">
                          <a:effectLst/>
                        </a:rPr>
                        <a:t>FAQ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3941013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7048036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082875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7412926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7173583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9155442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3149895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1876331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959631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81428891"/>
                  </a:ext>
                </a:extLst>
              </a:tr>
              <a:tr h="30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0223451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DC8CD94-22FD-32A7-346F-89D80812D400}"/>
              </a:ext>
            </a:extLst>
          </p:cNvPr>
          <p:cNvSpPr/>
          <p:nvPr/>
        </p:nvSpPr>
        <p:spPr bwMode="auto">
          <a:xfrm>
            <a:off x="5131631" y="2109850"/>
            <a:ext cx="1831397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1CEEB5E-1A6F-7102-682F-9608D4B515ED}"/>
              </a:ext>
            </a:extLst>
          </p:cNvPr>
          <p:cNvSpPr/>
          <p:nvPr/>
        </p:nvSpPr>
        <p:spPr bwMode="auto">
          <a:xfrm>
            <a:off x="7060370" y="2109850"/>
            <a:ext cx="550800" cy="245391"/>
          </a:xfrm>
          <a:prstGeom prst="roundRect">
            <a:avLst/>
          </a:prstGeom>
          <a:solidFill>
            <a:schemeClr val="tx1"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회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D11A55D-A57F-B80C-4E76-AED726E86D8C}"/>
              </a:ext>
            </a:extLst>
          </p:cNvPr>
          <p:cNvCxnSpPr>
            <a:cxnSpLocks/>
          </p:cNvCxnSpPr>
          <p:nvPr/>
        </p:nvCxnSpPr>
        <p:spPr bwMode="auto">
          <a:xfrm>
            <a:off x="1714702" y="2473973"/>
            <a:ext cx="597666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CB8210E-3141-079F-CD54-3FE3A480A8D5}"/>
              </a:ext>
            </a:extLst>
          </p:cNvPr>
          <p:cNvSpPr/>
          <p:nvPr/>
        </p:nvSpPr>
        <p:spPr bwMode="auto">
          <a:xfrm>
            <a:off x="4079776" y="2126113"/>
            <a:ext cx="898309" cy="229128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  ▼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1ECF05F-4145-8607-C5B4-51BA61D24D3D}"/>
              </a:ext>
            </a:extLst>
          </p:cNvPr>
          <p:cNvSpPr/>
          <p:nvPr/>
        </p:nvSpPr>
        <p:spPr bwMode="auto">
          <a:xfrm>
            <a:off x="8460114" y="1488515"/>
            <a:ext cx="878363" cy="129828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 ▼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80888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77949-CFB3-CAF3-3A86-691C929A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21C29B-2E90-3182-C497-B8DB619DA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44251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총판 이용자 계정 생성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C988A9AB-51A5-756E-4703-9824466C4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운영관리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계정관리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63F9799-0D11-8409-B5DC-CF989653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1AAC1D2-8A5A-DE12-C294-0AB1A46AD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31479DF-110B-471E-BC43-69045A597D9B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A59B606-99A1-7C8D-D172-B98B349781DD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C4410A-C3E7-5130-C518-C558D724D923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36DA6A-DB01-C130-A2C7-3B15641EE8B8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4936F1-2612-01F6-1CA9-6D1E5DC94004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4D7BA5-DD1A-CFCF-CDE2-D7FD34D1EEFD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201C1C-F1B6-E1C1-4E67-ED22D2A1916C}"/>
              </a:ext>
            </a:extLst>
          </p:cNvPr>
          <p:cNvSpPr txBox="1"/>
          <p:nvPr/>
        </p:nvSpPr>
        <p:spPr>
          <a:xfrm>
            <a:off x="420504" y="352743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0325E8-D5B0-276E-F812-7D401B85D15F}"/>
              </a:ext>
            </a:extLst>
          </p:cNvPr>
          <p:cNvSpPr txBox="1"/>
          <p:nvPr/>
        </p:nvSpPr>
        <p:spPr>
          <a:xfrm>
            <a:off x="132472" y="3481263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BDC85D-7792-39A1-1F38-521B6B739B31}"/>
              </a:ext>
            </a:extLst>
          </p:cNvPr>
          <p:cNvSpPr txBox="1"/>
          <p:nvPr/>
        </p:nvSpPr>
        <p:spPr>
          <a:xfrm>
            <a:off x="874312" y="351468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E91891-F916-7176-F30C-C7F97BAF74CE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C12BD0-1D14-4A7B-860D-3B903691D5A8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2852C4-0B24-343B-CB1C-CC5014AE67A4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D690E6-9A2D-6C97-6E4B-5984AE3D2935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F8C7D3-ED8D-F0D9-5500-50A47D83DBA2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ACA5D6-A1CB-A8C8-78FE-16B62B276A6C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233620-F5AF-F6A6-FDFE-8F6BBF13ABC6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24FA99-901E-A189-74DA-577D7835892F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0402B3-1905-C1FF-7AA6-76AF139B378D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479D7D0-E171-E312-E5C0-694036BBEE20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9A9CA73-E7F0-6F14-E5AB-5B5E8C425B8A}"/>
              </a:ext>
            </a:extLst>
          </p:cNvPr>
          <p:cNvSpPr txBox="1"/>
          <p:nvPr/>
        </p:nvSpPr>
        <p:spPr>
          <a:xfrm>
            <a:off x="129512" y="314679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7EE7201-B4FF-3195-145F-FB2E2A8F2C7F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04AA92-63D9-A63F-DFFA-60E577EB7FAA}"/>
              </a:ext>
            </a:extLst>
          </p:cNvPr>
          <p:cNvSpPr txBox="1"/>
          <p:nvPr/>
        </p:nvSpPr>
        <p:spPr>
          <a:xfrm>
            <a:off x="873727" y="323630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49A1C-9BB9-04EE-D49C-8206D232EFEB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계정관리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FE90B0-51B7-5D84-CEBA-DD25FCA55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3C6DB0-1E26-C06C-2F71-E09D34BCAE3C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7BCDD2-0184-354A-0E24-A992584818FE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A4BCB0-074B-F705-BECB-F12F9838E1D0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389B55-80D2-0E33-0F01-3B01B4CCB62A}"/>
              </a:ext>
            </a:extLst>
          </p:cNvPr>
          <p:cNvSpPr txBox="1"/>
          <p:nvPr/>
        </p:nvSpPr>
        <p:spPr>
          <a:xfrm>
            <a:off x="292362" y="3789040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📢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공지사항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3A4BF0-DEFC-631C-A42F-67FC34BC7D23}"/>
              </a:ext>
            </a:extLst>
          </p:cNvPr>
          <p:cNvSpPr txBox="1"/>
          <p:nvPr/>
        </p:nvSpPr>
        <p:spPr>
          <a:xfrm>
            <a:off x="295413" y="4000579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👥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계정관리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87DD0-09F6-91DA-68D8-3B9569A7C90E}"/>
              </a:ext>
            </a:extLst>
          </p:cNvPr>
          <p:cNvSpPr txBox="1"/>
          <p:nvPr/>
        </p:nvSpPr>
        <p:spPr>
          <a:xfrm>
            <a:off x="321540" y="4234056"/>
            <a:ext cx="1393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환경설정</a:t>
            </a:r>
          </a:p>
        </p:txBody>
      </p:sp>
      <p:pic>
        <p:nvPicPr>
          <p:cNvPr id="29" name="그래픽 28" descr="단일 톱니바퀴 단색으로 채워진">
            <a:extLst>
              <a:ext uri="{FF2B5EF4-FFF2-40B4-BE49-F238E27FC236}">
                <a16:creationId xmlns:a16="http://schemas.microsoft.com/office/drawing/2014/main" id="{1D3D16D2-6D2B-9985-E671-8C3C2CBEBA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092" y="4278713"/>
            <a:ext cx="172064" cy="172064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16999B-0390-0D97-617D-629FBADE816D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C83813-3B69-EBE3-5329-655F2A7F74F6}"/>
              </a:ext>
            </a:extLst>
          </p:cNvPr>
          <p:cNvSpPr/>
          <p:nvPr/>
        </p:nvSpPr>
        <p:spPr bwMode="auto">
          <a:xfrm>
            <a:off x="30479" y="4005064"/>
            <a:ext cx="1548996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B973345-5DED-126D-0499-054351E117A1}"/>
              </a:ext>
            </a:extLst>
          </p:cNvPr>
          <p:cNvSpPr/>
          <p:nvPr/>
        </p:nvSpPr>
        <p:spPr bwMode="auto">
          <a:xfrm>
            <a:off x="1716528" y="1844322"/>
            <a:ext cx="791082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계정관리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53A4CA-0F5D-DF4A-5767-4BC44E6FC5B4}"/>
              </a:ext>
            </a:extLst>
          </p:cNvPr>
          <p:cNvSpPr/>
          <p:nvPr/>
        </p:nvSpPr>
        <p:spPr bwMode="auto">
          <a:xfrm>
            <a:off x="2626766" y="2265107"/>
            <a:ext cx="4029138" cy="3756181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A65EBB-6D6B-A1AC-8BB8-D8924EEC2B5D}"/>
              </a:ext>
            </a:extLst>
          </p:cNvPr>
          <p:cNvSpPr/>
          <p:nvPr/>
        </p:nvSpPr>
        <p:spPr bwMode="auto">
          <a:xfrm>
            <a:off x="2790210" y="2359739"/>
            <a:ext cx="874105" cy="245793"/>
          </a:xfrm>
          <a:prstGeom prst="roundRect">
            <a:avLst/>
          </a:prstGeom>
          <a:solidFill>
            <a:schemeClr val="accent1">
              <a:lumMod val="90000"/>
              <a:alpha val="7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계정생성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828BD1-19FA-E7D2-E236-1FEF0DE5B496}"/>
              </a:ext>
            </a:extLst>
          </p:cNvPr>
          <p:cNvSpPr/>
          <p:nvPr/>
        </p:nvSpPr>
        <p:spPr bwMode="auto">
          <a:xfrm>
            <a:off x="3227262" y="2866464"/>
            <a:ext cx="561716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DDB2D3-05B2-7721-0828-8BF49857DEDD}"/>
              </a:ext>
            </a:extLst>
          </p:cNvPr>
          <p:cNvSpPr/>
          <p:nvPr/>
        </p:nvSpPr>
        <p:spPr bwMode="auto">
          <a:xfrm>
            <a:off x="3224646" y="3284984"/>
            <a:ext cx="561716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28B45CC-C0BD-6206-5618-CA1B34DACC81}"/>
              </a:ext>
            </a:extLst>
          </p:cNvPr>
          <p:cNvSpPr/>
          <p:nvPr/>
        </p:nvSpPr>
        <p:spPr bwMode="auto">
          <a:xfrm>
            <a:off x="4070565" y="2852936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3000487-ED28-6753-224B-CD15641253AF}"/>
              </a:ext>
            </a:extLst>
          </p:cNvPr>
          <p:cNvSpPr/>
          <p:nvPr/>
        </p:nvSpPr>
        <p:spPr bwMode="auto">
          <a:xfrm>
            <a:off x="4070565" y="3279456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</a:t>
            </a: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547568-024E-6F6B-57C2-A3EDAF1B12D9}"/>
              </a:ext>
            </a:extLst>
          </p:cNvPr>
          <p:cNvSpPr/>
          <p:nvPr/>
        </p:nvSpPr>
        <p:spPr bwMode="auto">
          <a:xfrm>
            <a:off x="4069009" y="4141142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1B54D2-06E0-1FB7-B873-FFDDF5CBEA94}"/>
              </a:ext>
            </a:extLst>
          </p:cNvPr>
          <p:cNvSpPr/>
          <p:nvPr/>
        </p:nvSpPr>
        <p:spPr bwMode="auto">
          <a:xfrm>
            <a:off x="3224646" y="4142984"/>
            <a:ext cx="561716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31ECF03-E1B1-022E-048A-4A30068869BE}"/>
              </a:ext>
            </a:extLst>
          </p:cNvPr>
          <p:cNvSpPr/>
          <p:nvPr/>
        </p:nvSpPr>
        <p:spPr bwMode="auto">
          <a:xfrm>
            <a:off x="4076785" y="3700679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</a:t>
            </a:r>
            <a:r>
              <a:rPr lang="en-US" altLang="ko-KR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F574192-86D2-3F8A-6E8C-CA4419DACB65}"/>
              </a:ext>
            </a:extLst>
          </p:cNvPr>
          <p:cNvSpPr/>
          <p:nvPr/>
        </p:nvSpPr>
        <p:spPr bwMode="auto">
          <a:xfrm>
            <a:off x="4069009" y="4585333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46A327E-B758-EA1E-5850-1AFC77D42FD9}"/>
              </a:ext>
            </a:extLst>
          </p:cNvPr>
          <p:cNvSpPr/>
          <p:nvPr/>
        </p:nvSpPr>
        <p:spPr bwMode="auto">
          <a:xfrm>
            <a:off x="3224646" y="4598861"/>
            <a:ext cx="561716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연락처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4482548-303B-4A05-5CF9-9A87320C33C4}"/>
              </a:ext>
            </a:extLst>
          </p:cNvPr>
          <p:cNvSpPr/>
          <p:nvPr/>
        </p:nvSpPr>
        <p:spPr bwMode="auto">
          <a:xfrm>
            <a:off x="3224646" y="5065911"/>
            <a:ext cx="561716" cy="234446"/>
          </a:xfrm>
          <a:prstGeom prst="roundRect">
            <a:avLst/>
          </a:prstGeom>
          <a:noFill/>
          <a:ln w="15875" cap="flat" cmpd="sng" algn="ctr">
            <a:solidFill>
              <a:srgbClr val="2121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이메일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3FD00FA-3670-A280-380E-CB2358361262}"/>
              </a:ext>
            </a:extLst>
          </p:cNvPr>
          <p:cNvSpPr/>
          <p:nvPr/>
        </p:nvSpPr>
        <p:spPr bwMode="auto">
          <a:xfrm>
            <a:off x="4070564" y="5045457"/>
            <a:ext cx="2169451" cy="247974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DF477D5-4947-BCFF-37A5-E4DE02D7AE41}"/>
              </a:ext>
            </a:extLst>
          </p:cNvPr>
          <p:cNvSpPr/>
          <p:nvPr/>
        </p:nvSpPr>
        <p:spPr bwMode="auto">
          <a:xfrm>
            <a:off x="5726291" y="5517232"/>
            <a:ext cx="550801" cy="245391"/>
          </a:xfrm>
          <a:prstGeom prst="roundRect">
            <a:avLst/>
          </a:prstGeom>
          <a:solidFill>
            <a:srgbClr val="C00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2730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70F2-88C4-4E8A-B9E5-E994EE8E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CCBE01A-88B9-39A7-C089-B2DA3E9F1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815615"/>
              </p:ext>
            </p:extLst>
          </p:nvPr>
        </p:nvGraphicFramePr>
        <p:xfrm>
          <a:off x="7950791" y="981075"/>
          <a:ext cx="4121873" cy="2879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254">
                  <a:extLst>
                    <a:ext uri="{9D8B030D-6E8A-4147-A177-3AD203B41FA5}">
                      <a16:colId xmlns:a16="http://schemas.microsoft.com/office/drawing/2014/main" val="1045439359"/>
                    </a:ext>
                  </a:extLst>
                </a:gridCol>
                <a:gridCol w="3832619">
                  <a:extLst>
                    <a:ext uri="{9D8B030D-6E8A-4147-A177-3AD203B41FA5}">
                      <a16:colId xmlns:a16="http://schemas.microsoft.com/office/drawing/2014/main" val="1428594715"/>
                    </a:ext>
                  </a:extLst>
                </a:gridCol>
              </a:tblGrid>
              <a:tr h="28799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운영관리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</a:t>
                      </a:r>
                      <a:r>
                        <a:rPr lang="en-US" altLang="ko-KR" sz="9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MID, MID-key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및 개발 연동 부분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319021"/>
                  </a:ext>
                </a:extLst>
              </a:tr>
            </a:tbl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7E209DD2-6CFB-6B67-8A74-47C9C9FCE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" y="11068"/>
            <a:ext cx="57324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8. 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운영관리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환경설정</a:t>
            </a:r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4B7171F-73ED-DF74-EA10-05B8C6A4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92696"/>
            <a:ext cx="1533739" cy="428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B819C55-987A-BD58-7DCF-FFF8082F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836712"/>
            <a:ext cx="1562318" cy="29531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1D944E3-A09D-846B-FD37-32162F2F912A}"/>
              </a:ext>
            </a:extLst>
          </p:cNvPr>
          <p:cNvCxnSpPr/>
          <p:nvPr/>
        </p:nvCxnSpPr>
        <p:spPr bwMode="auto">
          <a:xfrm>
            <a:off x="119336" y="1268760"/>
            <a:ext cx="77768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D3071F3-B555-A18A-93E0-81D6B85E5C1F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2938" y="1268760"/>
            <a:ext cx="6558" cy="5458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85F4E75-C37C-70FA-B2F8-D3A4906B251C}"/>
              </a:ext>
            </a:extLst>
          </p:cNvPr>
          <p:cNvSpPr txBox="1"/>
          <p:nvPr/>
        </p:nvSpPr>
        <p:spPr>
          <a:xfrm>
            <a:off x="124488" y="1588802"/>
            <a:ext cx="425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🛎️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9CA993-6990-1AD7-5F3C-7A32D8504F93}"/>
              </a:ext>
            </a:extLst>
          </p:cNvPr>
          <p:cNvSpPr txBox="1"/>
          <p:nvPr/>
        </p:nvSpPr>
        <p:spPr>
          <a:xfrm>
            <a:off x="412520" y="1645871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우대사업자 조회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A74756-7339-4F10-1564-FE1753899B33}"/>
              </a:ext>
            </a:extLst>
          </p:cNvPr>
          <p:cNvSpPr txBox="1"/>
          <p:nvPr/>
        </p:nvSpPr>
        <p:spPr>
          <a:xfrm>
            <a:off x="119336" y="1325830"/>
            <a:ext cx="366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🏦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746D9D-52A5-CB06-F5FC-F491AAEA1D93}"/>
              </a:ext>
            </a:extLst>
          </p:cNvPr>
          <p:cNvSpPr txBox="1"/>
          <p:nvPr/>
        </p:nvSpPr>
        <p:spPr>
          <a:xfrm>
            <a:off x="407368" y="140289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대시보드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FE2A32-9E44-2DDA-33A5-4309411E79FC}"/>
              </a:ext>
            </a:extLst>
          </p:cNvPr>
          <p:cNvSpPr txBox="1"/>
          <p:nvPr/>
        </p:nvSpPr>
        <p:spPr>
          <a:xfrm>
            <a:off x="420504" y="3527430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38359B-270F-5B5A-A027-A9F9C5543A46}"/>
              </a:ext>
            </a:extLst>
          </p:cNvPr>
          <p:cNvSpPr txBox="1"/>
          <p:nvPr/>
        </p:nvSpPr>
        <p:spPr>
          <a:xfrm>
            <a:off x="132472" y="3481263"/>
            <a:ext cx="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F6B349-9BF4-6347-B51A-1D28F23BF95F}"/>
              </a:ext>
            </a:extLst>
          </p:cNvPr>
          <p:cNvSpPr txBox="1"/>
          <p:nvPr/>
        </p:nvSpPr>
        <p:spPr>
          <a:xfrm>
            <a:off x="874312" y="3514686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➖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518870-D2C9-3CAF-C376-0B0CE84705CB}"/>
              </a:ext>
            </a:extLst>
          </p:cNvPr>
          <p:cNvSpPr txBox="1"/>
          <p:nvPr/>
        </p:nvSpPr>
        <p:spPr>
          <a:xfrm>
            <a:off x="125266" y="1852487"/>
            <a:ext cx="346788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🏢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A2103A-91E0-C39D-D7B3-81D77595B33F}"/>
              </a:ext>
            </a:extLst>
          </p:cNvPr>
          <p:cNvSpPr txBox="1"/>
          <p:nvPr/>
        </p:nvSpPr>
        <p:spPr>
          <a:xfrm>
            <a:off x="413198" y="1931776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영업점 관리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839414-47FA-C3D8-055F-0F1B7C832B64}"/>
              </a:ext>
            </a:extLst>
          </p:cNvPr>
          <p:cNvSpPr txBox="1"/>
          <p:nvPr/>
        </p:nvSpPr>
        <p:spPr>
          <a:xfrm>
            <a:off x="994873" y="1920851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0C7743-51C1-32A9-5A8B-49CA0048A9AC}"/>
              </a:ext>
            </a:extLst>
          </p:cNvPr>
          <p:cNvSpPr txBox="1"/>
          <p:nvPr/>
        </p:nvSpPr>
        <p:spPr>
          <a:xfrm>
            <a:off x="119336" y="2179240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👤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0516DE-6A30-8605-2AE7-9E02D6C7A352}"/>
              </a:ext>
            </a:extLst>
          </p:cNvPr>
          <p:cNvSpPr txBox="1"/>
          <p:nvPr/>
        </p:nvSpPr>
        <p:spPr>
          <a:xfrm>
            <a:off x="407268" y="2258529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가맹점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83ECF6-5694-FFAB-E0C0-B159C81A2699}"/>
              </a:ext>
            </a:extLst>
          </p:cNvPr>
          <p:cNvSpPr txBox="1"/>
          <p:nvPr/>
        </p:nvSpPr>
        <p:spPr>
          <a:xfrm>
            <a:off x="988943" y="2247604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359BCE-9539-4DAA-B309-A260F66EAD62}"/>
              </a:ext>
            </a:extLst>
          </p:cNvPr>
          <p:cNvSpPr txBox="1"/>
          <p:nvPr/>
        </p:nvSpPr>
        <p:spPr>
          <a:xfrm>
            <a:off x="132572" y="252624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📋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2C1926-86CF-C636-1A65-A369DFC4C146}"/>
              </a:ext>
            </a:extLst>
          </p:cNvPr>
          <p:cNvSpPr txBox="1"/>
          <p:nvPr/>
        </p:nvSpPr>
        <p:spPr>
          <a:xfrm>
            <a:off x="420504" y="2605532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정산관리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7F1A5D-BFB8-454A-BA7D-78DFAAF62134}"/>
              </a:ext>
            </a:extLst>
          </p:cNvPr>
          <p:cNvSpPr txBox="1"/>
          <p:nvPr/>
        </p:nvSpPr>
        <p:spPr>
          <a:xfrm>
            <a:off x="876787" y="259460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BD71DE7-557B-DA20-C1BC-40725C1B771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2938" y="1633607"/>
            <a:ext cx="6343262" cy="29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34D6235-4178-6106-C48A-E61DADE5CCBD}"/>
              </a:ext>
            </a:extLst>
          </p:cNvPr>
          <p:cNvSpPr txBox="1"/>
          <p:nvPr/>
        </p:nvSpPr>
        <p:spPr>
          <a:xfrm>
            <a:off x="129512" y="3146799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🧮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D601BAF-0842-AB44-2277-035C6A505A6E}"/>
              </a:ext>
            </a:extLst>
          </p:cNvPr>
          <p:cNvSpPr txBox="1"/>
          <p:nvPr/>
        </p:nvSpPr>
        <p:spPr>
          <a:xfrm>
            <a:off x="417444" y="322608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결제관리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6BF824-FB3A-A369-7FFB-3A07C4EC5C7E}"/>
              </a:ext>
            </a:extLst>
          </p:cNvPr>
          <p:cNvSpPr txBox="1"/>
          <p:nvPr/>
        </p:nvSpPr>
        <p:spPr>
          <a:xfrm>
            <a:off x="873727" y="3236308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E4F422-361D-EE43-007A-FADED3AC81CC}"/>
              </a:ext>
            </a:extLst>
          </p:cNvPr>
          <p:cNvSpPr txBox="1"/>
          <p:nvPr/>
        </p:nvSpPr>
        <p:spPr>
          <a:xfrm>
            <a:off x="2063552" y="1328072"/>
            <a:ext cx="946037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환경설정 ⓧ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6E98FB-A45B-E5FC-F964-5D27AEBBB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272" y="1307956"/>
            <a:ext cx="400106" cy="285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C07FDC-B61B-392A-A9FB-6C037ED3A1A6}"/>
              </a:ext>
            </a:extLst>
          </p:cNvPr>
          <p:cNvSpPr txBox="1"/>
          <p:nvPr/>
        </p:nvSpPr>
        <p:spPr>
          <a:xfrm>
            <a:off x="397551" y="2915037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지급이체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BC3983-BC91-58DF-1882-ADF37D088393}"/>
              </a:ext>
            </a:extLst>
          </p:cNvPr>
          <p:cNvSpPr txBox="1"/>
          <p:nvPr/>
        </p:nvSpPr>
        <p:spPr>
          <a:xfrm>
            <a:off x="871252" y="2925257"/>
            <a:ext cx="2813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➕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B5717B-9C65-9767-3175-0D8C1CAA1818}"/>
              </a:ext>
            </a:extLst>
          </p:cNvPr>
          <p:cNvSpPr txBox="1"/>
          <p:nvPr/>
        </p:nvSpPr>
        <p:spPr>
          <a:xfrm>
            <a:off x="132572" y="2859183"/>
            <a:ext cx="346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💸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4C282F-4050-80ED-6EBA-7736BB4C4560}"/>
              </a:ext>
            </a:extLst>
          </p:cNvPr>
          <p:cNvSpPr txBox="1"/>
          <p:nvPr/>
        </p:nvSpPr>
        <p:spPr>
          <a:xfrm>
            <a:off x="292362" y="3789040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📢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공지사항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E4AEA0-1B54-9C2A-2D59-8AE8A025801F}"/>
              </a:ext>
            </a:extLst>
          </p:cNvPr>
          <p:cNvSpPr txBox="1"/>
          <p:nvPr/>
        </p:nvSpPr>
        <p:spPr>
          <a:xfrm>
            <a:off x="295413" y="4000579"/>
            <a:ext cx="1393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👥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계정관리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2CA54C-6295-5384-AF17-003D80437927}"/>
              </a:ext>
            </a:extLst>
          </p:cNvPr>
          <p:cNvSpPr txBox="1"/>
          <p:nvPr/>
        </p:nvSpPr>
        <p:spPr>
          <a:xfrm>
            <a:off x="321540" y="4234056"/>
            <a:ext cx="1393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환경설정</a:t>
            </a:r>
          </a:p>
        </p:txBody>
      </p:sp>
      <p:pic>
        <p:nvPicPr>
          <p:cNvPr id="29" name="그래픽 28" descr="단일 톱니바퀴 단색으로 채워진">
            <a:extLst>
              <a:ext uri="{FF2B5EF4-FFF2-40B4-BE49-F238E27FC236}">
                <a16:creationId xmlns:a16="http://schemas.microsoft.com/office/drawing/2014/main" id="{DA88B1E5-1E51-19E1-90BE-DFC2D1CB9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092" y="4278713"/>
            <a:ext cx="172064" cy="172064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984FFF-6510-67FC-19DD-20F6CD93E16F}"/>
              </a:ext>
            </a:extLst>
          </p:cNvPr>
          <p:cNvSpPr/>
          <p:nvPr/>
        </p:nvSpPr>
        <p:spPr bwMode="auto">
          <a:xfrm>
            <a:off x="1638292" y="1762314"/>
            <a:ext cx="6164042" cy="4907046"/>
          </a:xfrm>
          <a:prstGeom prst="rect">
            <a:avLst/>
          </a:prstGeom>
          <a:noFill/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F8C2C76-D3EB-C318-1C7B-8DEF8958C7A5}"/>
              </a:ext>
            </a:extLst>
          </p:cNvPr>
          <p:cNvSpPr/>
          <p:nvPr/>
        </p:nvSpPr>
        <p:spPr bwMode="auto">
          <a:xfrm>
            <a:off x="30479" y="4221088"/>
            <a:ext cx="1548996" cy="26006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91EA075-0E50-D283-383D-26486BCEAEDE}"/>
              </a:ext>
            </a:extLst>
          </p:cNvPr>
          <p:cNvSpPr/>
          <p:nvPr/>
        </p:nvSpPr>
        <p:spPr bwMode="auto">
          <a:xfrm>
            <a:off x="1716528" y="1844322"/>
            <a:ext cx="791082" cy="245391"/>
          </a:xfrm>
          <a:prstGeom prst="round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2DDEE0-3103-1E66-7094-02441F1890D2}"/>
              </a:ext>
            </a:extLst>
          </p:cNvPr>
          <p:cNvSpPr/>
          <p:nvPr/>
        </p:nvSpPr>
        <p:spPr bwMode="auto">
          <a:xfrm>
            <a:off x="2626766" y="2265107"/>
            <a:ext cx="4029138" cy="375618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MID,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MID-key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연동 및 개발 연동 부분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96821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AppleMyungjo"/>
        <a:cs typeface=""/>
      </a:majorFont>
      <a:minorFont>
        <a:latin typeface="Verdana"/>
        <a:ea typeface="AppleMyungj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맑은 고딕" pitchFamily="50" charset="-127"/>
            <a:ea typeface="맑은 고딕" pitchFamily="50" charset="-127"/>
            <a:sym typeface="Wingdings" pitchFamily="2" charset="2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AppleMyungjo"/>
        <a:cs typeface=""/>
      </a:majorFont>
      <a:minorFont>
        <a:latin typeface="Verdana"/>
        <a:ea typeface="AppleMyungj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맑은 고딕" pitchFamily="50" charset="-127"/>
            <a:ea typeface="맑은 고딕" pitchFamily="50" charset="-127"/>
            <a:sym typeface="Wingdings" pitchFamily="2" charset="2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AppleMyungjo"/>
        <a:cs typeface=""/>
      </a:majorFont>
      <a:minorFont>
        <a:latin typeface="Verdana"/>
        <a:ea typeface="AppleMyungj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맑은 고딕" pitchFamily="50" charset="-127"/>
            <a:ea typeface="맑은 고딕" pitchFamily="50" charset="-127"/>
            <a:sym typeface="Wingdings" pitchFamily="2" charset="2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103692</TotalTime>
  <Words>10188</Words>
  <Application>Microsoft Office PowerPoint</Application>
  <PresentationFormat>와이드스크린</PresentationFormat>
  <Paragraphs>5071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59</vt:i4>
      </vt:variant>
    </vt:vector>
  </HeadingPairs>
  <TitlesOfParts>
    <vt:vector size="71" baseType="lpstr">
      <vt:lpstr>AppleMyungjo</vt:lpstr>
      <vt:lpstr>HY견고딕</vt:lpstr>
      <vt:lpstr>굴림</vt:lpstr>
      <vt:lpstr>돋움</vt:lpstr>
      <vt:lpstr>맑은 고딕</vt:lpstr>
      <vt:lpstr>Arial</vt:lpstr>
      <vt:lpstr>Lucida Sans</vt:lpstr>
      <vt:lpstr>Times</vt:lpstr>
      <vt:lpstr>Verdana</vt:lpstr>
      <vt:lpstr>Blank Presentation</vt:lpstr>
      <vt:lpstr>2_Blank Presentation</vt:lpstr>
      <vt:lpstr>1_Blank Presentation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Joyon Entertainment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R-to 맹주원</dc:title>
  <dc:creator>맹주원</dc:creator>
  <cp:lastModifiedBy>신경준</cp:lastModifiedBy>
  <cp:revision>5978</cp:revision>
  <cp:lastPrinted>2020-08-26T08:23:34Z</cp:lastPrinted>
  <dcterms:created xsi:type="dcterms:W3CDTF">2003-08-20T00:20:01Z</dcterms:created>
  <dcterms:modified xsi:type="dcterms:W3CDTF">2026-01-26T01:27:38Z</dcterms:modified>
</cp:coreProperties>
</file>